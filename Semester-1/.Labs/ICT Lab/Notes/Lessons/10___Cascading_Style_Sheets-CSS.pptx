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embeddedFontLst>
    <p:embeddedFont>
      <p:font typeface="Montserrat" panose="00000500000000000000" pitchFamily="2" charset="0"/>
      <p:regular r:id="rId30"/>
      <p:bold r:id="rId31"/>
      <p:italic r:id="rId32"/>
      <p:boldItalic r:id="rId33"/>
    </p:embeddedFont>
    <p:embeddedFont>
      <p:font typeface="Old Standard TT" panose="020B0604020202020204" charset="0"/>
      <p:regular r:id="rId34"/>
      <p:bold r:id="rId35"/>
      <p:italic r:id="rId36"/>
    </p:embeddedFont>
    <p:embeddedFont>
      <p:font typeface="Oswald" panose="00000500000000000000" pitchFamily="2" charset="0"/>
      <p:regular r:id="rId37"/>
      <p:bold r:id="rId38"/>
    </p:embeddedFont>
    <p:embeddedFont>
      <p:font typeface="Playfair Display" panose="00000500000000000000" pitchFamily="2" charset="0"/>
      <p:regular r:id="rId39"/>
      <p:bold r:id="rId40"/>
      <p:italic r:id="rId41"/>
      <p:boldItalic r:id="rId42"/>
    </p:embeddedFont>
    <p:embeddedFont>
      <p:font typeface="Verdana" panose="020B0604030504040204" pitchFamily="3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iOrwKJgE2yanm7JXDYCoDQm8sM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5BFD244-34C1-490E-A71A-950DC99ED188}">
  <a:tblStyle styleId="{05BFD244-34C1-490E-A71A-950DC99ED18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554" autoAdjust="0"/>
  </p:normalViewPr>
  <p:slideViewPr>
    <p:cSldViewPr snapToGrid="0">
      <p:cViewPr varScale="1">
        <p:scale>
          <a:sx n="85" d="100"/>
          <a:sy n="85" d="100"/>
        </p:scale>
        <p:origin x="162" y="7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 name="Google Shape;5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n" sz="1150">
                <a:solidFill>
                  <a:schemeClr val="dk1"/>
                </a:solidFill>
                <a:highlight>
                  <a:srgbClr val="FFFFFF"/>
                </a:highlight>
                <a:latin typeface="Verdana"/>
                <a:ea typeface="Verdana"/>
                <a:cs typeface="Verdana"/>
                <a:sym typeface="Verdana"/>
              </a:rPr>
              <a:t>CSS selectors are used to "find" (or select) the HTML elements you want to style.</a:t>
            </a:r>
            <a:endParaRPr sz="1150">
              <a:solidFill>
                <a:schemeClr val="dk1"/>
              </a:solidFill>
              <a:highlight>
                <a:srgbClr val="FFFFFF"/>
              </a:highlight>
              <a:latin typeface="Verdana"/>
              <a:ea typeface="Verdana"/>
              <a:cs typeface="Verdana"/>
              <a:sym typeface="Verdana"/>
            </a:endParaRPr>
          </a:p>
          <a:p>
            <a:pPr marL="457200" lvl="0" indent="-301625" algn="l" rtl="0">
              <a:lnSpc>
                <a:spcPct val="115000"/>
              </a:lnSpc>
              <a:spcBef>
                <a:spcPts val="1400"/>
              </a:spcBef>
              <a:spcAft>
                <a:spcPts val="0"/>
              </a:spcAft>
              <a:buClr>
                <a:schemeClr val="dk1"/>
              </a:buClr>
              <a:buSzPts val="1150"/>
              <a:buFont typeface="Verdana"/>
              <a:buChar char="●"/>
            </a:pPr>
            <a:r>
              <a:rPr lang="en" sz="1150">
                <a:solidFill>
                  <a:schemeClr val="dk1"/>
                </a:solidFill>
                <a:highlight>
                  <a:srgbClr val="FFFFFF"/>
                </a:highlight>
                <a:latin typeface="Verdana"/>
                <a:ea typeface="Verdana"/>
                <a:cs typeface="Verdana"/>
                <a:sym typeface="Verdana"/>
              </a:rPr>
              <a:t>Simple selectors (select elements based on name, id, class)</a:t>
            </a:r>
            <a:endParaRPr sz="1150">
              <a:solidFill>
                <a:schemeClr val="dk1"/>
              </a:solidFill>
              <a:highlight>
                <a:srgbClr val="FFFFFF"/>
              </a:highlight>
              <a:latin typeface="Verdana"/>
              <a:ea typeface="Verdana"/>
              <a:cs typeface="Verdana"/>
              <a:sym typeface="Verdana"/>
            </a:endParaRPr>
          </a:p>
          <a:p>
            <a:pPr marL="0" lvl="0" indent="0" algn="l" rtl="0">
              <a:lnSpc>
                <a:spcPct val="115000"/>
              </a:lnSpc>
              <a:spcBef>
                <a:spcPts val="1100"/>
              </a:spcBef>
              <a:spcAft>
                <a:spcPts val="0"/>
              </a:spcAft>
              <a:buSzPts val="1100"/>
              <a:buNone/>
            </a:pPr>
            <a:endParaRPr sz="1150">
              <a:solidFill>
                <a:schemeClr val="dk1"/>
              </a:solidFill>
              <a:highlight>
                <a:srgbClr val="FFFFFF"/>
              </a:highlight>
              <a:latin typeface="Verdana"/>
              <a:ea typeface="Verdana"/>
              <a:cs typeface="Verdana"/>
              <a:sym typeface="Verdana"/>
            </a:endParaRPr>
          </a:p>
          <a:p>
            <a:pPr marL="0" lvl="0" indent="0" algn="l" rtl="0">
              <a:lnSpc>
                <a:spcPct val="100000"/>
              </a:lnSpc>
              <a:spcBef>
                <a:spcPts val="110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sz="1200">
                <a:solidFill>
                  <a:schemeClr val="dk1"/>
                </a:solidFill>
                <a:latin typeface="Playfair Display"/>
                <a:ea typeface="Playfair Display"/>
                <a:cs typeface="Playfair Display"/>
                <a:sym typeface="Playfair Display"/>
              </a:rPr>
              <a:t>The element selector selects HTML elements based on the element name.</a:t>
            </a:r>
            <a:endParaRPr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latin typeface="Playfair Display"/>
                <a:ea typeface="Playfair Display"/>
                <a:cs typeface="Playfair Display"/>
                <a:sym typeface="Playfair Display"/>
              </a:rPr>
              <a:t>The id selector uses the id attribute of an HTML element to select a specific element.</a:t>
            </a:r>
            <a:endParaRPr>
              <a:solidFill>
                <a:schemeClr val="dk1"/>
              </a:solidFill>
              <a:latin typeface="Playfair Display"/>
              <a:ea typeface="Playfair Display"/>
              <a:cs typeface="Playfair Display"/>
              <a:sym typeface="Playfair Display"/>
            </a:endParaRPr>
          </a:p>
          <a:p>
            <a:pPr marL="0" lvl="0" indent="0" algn="l" rtl="0">
              <a:lnSpc>
                <a:spcPct val="100000"/>
              </a:lnSpc>
              <a:spcBef>
                <a:spcPts val="1200"/>
              </a:spcBef>
              <a:spcAft>
                <a:spcPts val="0"/>
              </a:spcAft>
              <a:buClr>
                <a:schemeClr val="dk1"/>
              </a:buClr>
              <a:buSzPts val="1100"/>
              <a:buFont typeface="Arial"/>
              <a:buNone/>
            </a:pPr>
            <a:r>
              <a:rPr lang="en">
                <a:solidFill>
                  <a:schemeClr val="dk1"/>
                </a:solidFill>
                <a:latin typeface="Playfair Display"/>
                <a:ea typeface="Playfair Display"/>
                <a:cs typeface="Playfair Display"/>
                <a:sym typeface="Playfair Display"/>
              </a:rPr>
              <a:t>The id of an element is unique within a page, so the id selector is used to select one unique element!</a:t>
            </a:r>
            <a:endParaRPr>
              <a:solidFill>
                <a:schemeClr val="dk1"/>
              </a:solidFill>
              <a:latin typeface="Playfair Display"/>
              <a:ea typeface="Playfair Display"/>
              <a:cs typeface="Playfair Display"/>
              <a:sym typeface="Playfair Display"/>
            </a:endParaRPr>
          </a:p>
          <a:p>
            <a:pPr marL="0" lvl="0" indent="0" algn="l" rtl="0">
              <a:lnSpc>
                <a:spcPct val="100000"/>
              </a:lnSpc>
              <a:spcBef>
                <a:spcPts val="1400"/>
              </a:spcBef>
              <a:spcAft>
                <a:spcPts val="1400"/>
              </a:spcAft>
              <a:buClr>
                <a:schemeClr val="dk1"/>
              </a:buClr>
              <a:buSzPts val="1100"/>
              <a:buFont typeface="Arial"/>
              <a:buNone/>
            </a:pPr>
            <a:r>
              <a:rPr lang="en">
                <a:solidFill>
                  <a:schemeClr val="dk1"/>
                </a:solidFill>
                <a:latin typeface="Playfair Display"/>
                <a:ea typeface="Playfair Display"/>
                <a:cs typeface="Playfair Display"/>
                <a:sym typeface="Playfair Display"/>
              </a:rPr>
              <a:t>To select an element with a specific id, write a hash (#) character, followed by the id of the element.</a:t>
            </a:r>
            <a:endParaRPr b="1"/>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400"/>
              </a:spcBef>
              <a:spcAft>
                <a:spcPts val="0"/>
              </a:spcAft>
              <a:buClr>
                <a:schemeClr val="dk1"/>
              </a:buClr>
              <a:buSzPts val="1100"/>
              <a:buFont typeface="Arial"/>
              <a:buNone/>
            </a:pPr>
            <a:r>
              <a:rPr lang="en" sz="1150">
                <a:solidFill>
                  <a:schemeClr val="dk1"/>
                </a:solidFill>
                <a:highlight>
                  <a:srgbClr val="FFFFFF"/>
                </a:highlight>
                <a:latin typeface="Playfair Display"/>
                <a:ea typeface="Playfair Display"/>
                <a:cs typeface="Playfair Display"/>
                <a:sym typeface="Playfair Display"/>
              </a:rPr>
              <a:t>The class selector selects HTML elements with a specific class attribute.</a:t>
            </a:r>
            <a:endParaRPr sz="1150">
              <a:solidFill>
                <a:schemeClr val="dk1"/>
              </a:solidFill>
              <a:highlight>
                <a:srgbClr val="FFFFFF"/>
              </a:highlight>
              <a:latin typeface="Playfair Display"/>
              <a:ea typeface="Playfair Display"/>
              <a:cs typeface="Playfair Display"/>
              <a:sym typeface="Playfair Display"/>
            </a:endParaRPr>
          </a:p>
          <a:p>
            <a:pPr marL="0" lvl="0" indent="0" algn="l" rtl="0">
              <a:lnSpc>
                <a:spcPct val="100000"/>
              </a:lnSpc>
              <a:spcBef>
                <a:spcPts val="1400"/>
              </a:spcBef>
              <a:spcAft>
                <a:spcPts val="0"/>
              </a:spcAft>
              <a:buClr>
                <a:schemeClr val="dk1"/>
              </a:buClr>
              <a:buSzPts val="1100"/>
              <a:buFont typeface="Arial"/>
              <a:buNone/>
            </a:pPr>
            <a:r>
              <a:rPr lang="en" sz="1150">
                <a:solidFill>
                  <a:schemeClr val="dk1"/>
                </a:solidFill>
                <a:highlight>
                  <a:srgbClr val="FFFFFF"/>
                </a:highlight>
                <a:latin typeface="Playfair Display"/>
                <a:ea typeface="Playfair Display"/>
                <a:cs typeface="Playfair Display"/>
                <a:sym typeface="Playfair Display"/>
              </a:rPr>
              <a:t>To select elements with a specific class, write a </a:t>
            </a:r>
            <a:r>
              <a:rPr lang="en" sz="1150">
                <a:solidFill>
                  <a:srgbClr val="FF0000"/>
                </a:solidFill>
                <a:highlight>
                  <a:srgbClr val="FFFFFF"/>
                </a:highlight>
                <a:latin typeface="Playfair Display"/>
                <a:ea typeface="Playfair Display"/>
                <a:cs typeface="Playfair Display"/>
                <a:sym typeface="Playfair Display"/>
              </a:rPr>
              <a:t>period (.) </a:t>
            </a:r>
            <a:r>
              <a:rPr lang="en" sz="1150">
                <a:solidFill>
                  <a:schemeClr val="dk1"/>
                </a:solidFill>
                <a:highlight>
                  <a:srgbClr val="FFFFFF"/>
                </a:highlight>
                <a:latin typeface="Playfair Display"/>
                <a:ea typeface="Playfair Display"/>
                <a:cs typeface="Playfair Display"/>
                <a:sym typeface="Playfair Display"/>
              </a:rPr>
              <a:t>character, followed by the class name.</a:t>
            </a:r>
            <a:endParaRPr sz="1150">
              <a:solidFill>
                <a:schemeClr val="dk1"/>
              </a:solidFill>
              <a:highlight>
                <a:srgbClr val="FFFFFF"/>
              </a:highlight>
              <a:latin typeface="Playfair Display"/>
              <a:ea typeface="Playfair Display"/>
              <a:cs typeface="Playfair Display"/>
              <a:sym typeface="Playfair Display"/>
            </a:endParaRPr>
          </a:p>
          <a:p>
            <a:pPr marL="0" lvl="0" indent="0" algn="l" rtl="0">
              <a:lnSpc>
                <a:spcPct val="100000"/>
              </a:lnSpc>
              <a:spcBef>
                <a:spcPts val="1400"/>
              </a:spcBef>
              <a:spcAft>
                <a:spcPts val="0"/>
              </a:spcAft>
              <a:buSzPts val="1100"/>
              <a:buNone/>
            </a:pPr>
            <a:endParaRPr>
              <a:latin typeface="Playfair Display"/>
              <a:ea typeface="Playfair Display"/>
              <a:cs typeface="Playfair Display"/>
              <a:sym typeface="Playfair Display"/>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sz="1400">
                <a:solidFill>
                  <a:schemeClr val="dk1"/>
                </a:solidFill>
                <a:latin typeface="Playfair Display"/>
                <a:ea typeface="Playfair Display"/>
                <a:cs typeface="Playfair Display"/>
                <a:sym typeface="Playfair Display"/>
              </a:rPr>
              <a:t>The grouping selector selects all the HTML elements with the same style definitions.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 name="Google Shape;14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150">
                <a:solidFill>
                  <a:schemeClr val="dk1"/>
                </a:solidFill>
                <a:highlight>
                  <a:srgbClr val="FFFFFF"/>
                </a:highlight>
                <a:latin typeface="Verdana"/>
                <a:ea typeface="Verdana"/>
                <a:cs typeface="Verdana"/>
                <a:sym typeface="Verdana"/>
              </a:rPr>
              <a:t>Tip: Negative values are allowed.</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9"/>
          <p:cNvSpPr/>
          <p:nvPr/>
        </p:nvSpPr>
        <p:spPr>
          <a:xfrm>
            <a:off x="4286250" y="0"/>
            <a:ext cx="72300" cy="51435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9"/>
          <p:cNvSpPr/>
          <p:nvPr/>
        </p:nvSpPr>
        <p:spPr>
          <a:xfrm>
            <a:off x="4358475" y="0"/>
            <a:ext cx="38532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9"/>
          <p:cNvSpPr txBox="1">
            <a:spLocks noGrp="1"/>
          </p:cNvSpPr>
          <p:nvPr>
            <p:ph type="ctrTitle"/>
          </p:nvPr>
        </p:nvSpPr>
        <p:spPr>
          <a:xfrm>
            <a:off x="344250" y="1403850"/>
            <a:ext cx="8455500" cy="2146800"/>
          </a:xfrm>
          <a:prstGeom prst="rect">
            <a:avLst/>
          </a:prstGeom>
          <a:solidFill>
            <a:srgbClr val="FFFFFF"/>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1pPr>
            <a:lvl2pPr lvl="1"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2pPr>
            <a:lvl3pPr lvl="2"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3pPr>
            <a:lvl4pPr lvl="3"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4pPr>
            <a:lvl5pPr lvl="4"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5pPr>
            <a:lvl6pPr lvl="5"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6pPr>
            <a:lvl7pPr lvl="6"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7pPr>
            <a:lvl8pPr lvl="7"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8pPr>
            <a:lvl9pPr lvl="8" algn="ctr">
              <a:lnSpc>
                <a:spcPct val="100000"/>
              </a:lnSpc>
              <a:spcBef>
                <a:spcPts val="0"/>
              </a:spcBef>
              <a:spcAft>
                <a:spcPts val="0"/>
              </a:spcAft>
              <a:buSzPts val="6800"/>
              <a:buFont typeface="Playfair Display"/>
              <a:buNone/>
              <a:defRPr sz="6800" b="1">
                <a:latin typeface="Playfair Display"/>
                <a:ea typeface="Playfair Display"/>
                <a:cs typeface="Playfair Display"/>
                <a:sym typeface="Playfair Display"/>
              </a:defRPr>
            </a:lvl9pPr>
          </a:lstStyle>
          <a:p>
            <a:endParaRPr/>
          </a:p>
        </p:txBody>
      </p:sp>
      <p:sp>
        <p:nvSpPr>
          <p:cNvPr id="13" name="Google Shape;13;p29"/>
          <p:cNvSpPr txBox="1">
            <a:spLocks noGrp="1"/>
          </p:cNvSpPr>
          <p:nvPr>
            <p:ph type="subTitle" idx="1"/>
          </p:nvPr>
        </p:nvSpPr>
        <p:spPr>
          <a:xfrm>
            <a:off x="344250" y="3550650"/>
            <a:ext cx="4910100" cy="577800"/>
          </a:xfrm>
          <a:prstGeom prst="rect">
            <a:avLst/>
          </a:prstGeom>
          <a:solidFill>
            <a:schemeClr val="dk2"/>
          </a:solid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2pPr>
            <a:lvl3pPr lvl="2"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3pPr>
            <a:lvl4pPr lvl="3"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4pPr>
            <a:lvl5pPr lvl="4"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5pPr>
            <a:lvl6pPr lvl="5"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6pPr>
            <a:lvl7pPr lvl="6"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7pPr>
            <a:lvl8pPr lvl="7"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8pPr>
            <a:lvl9pPr lvl="8" algn="l">
              <a:lnSpc>
                <a:spcPct val="100000"/>
              </a:lnSpc>
              <a:spcBef>
                <a:spcPts val="0"/>
              </a:spcBef>
              <a:spcAft>
                <a:spcPts val="0"/>
              </a:spcAft>
              <a:buClr>
                <a:schemeClr val="lt1"/>
              </a:buClr>
              <a:buSzPts val="2400"/>
              <a:buFont typeface="Montserrat"/>
              <a:buNone/>
              <a:defRPr sz="2400" b="1">
                <a:solidFill>
                  <a:schemeClr val="lt1"/>
                </a:solidFill>
                <a:latin typeface="Montserrat"/>
                <a:ea typeface="Montserrat"/>
                <a:cs typeface="Montserrat"/>
                <a:sym typeface="Montserrat"/>
              </a:defRPr>
            </a:lvl9pPr>
          </a:lstStyle>
          <a:p>
            <a:endParaRPr/>
          </a:p>
        </p:txBody>
      </p:sp>
      <p:sp>
        <p:nvSpPr>
          <p:cNvPr id="14" name="Google Shape;14;p29"/>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7" name="Google Shape;17;p30"/>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8" name="Google Shape;18;p30"/>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9"/>
        <p:cNvGrpSpPr/>
        <p:nvPr/>
      </p:nvGrpSpPr>
      <p:grpSpPr>
        <a:xfrm>
          <a:off x="0" y="0"/>
          <a:ext cx="0" cy="0"/>
          <a:chOff x="0" y="0"/>
          <a:chExt cx="0" cy="0"/>
        </a:xfrm>
      </p:grpSpPr>
      <p:sp>
        <p:nvSpPr>
          <p:cNvPr id="20" name="Google Shape;20;p3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1" name="Google Shape;21;p3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2" name="Google Shape;22;p3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4"/>
        </a:solidFill>
        <a:effectLst/>
      </p:bgPr>
    </p:bg>
    <p:spTree>
      <p:nvGrpSpPr>
        <p:cNvPr id="1" name="Shape 23"/>
        <p:cNvGrpSpPr/>
        <p:nvPr/>
      </p:nvGrpSpPr>
      <p:grpSpPr>
        <a:xfrm>
          <a:off x="0" y="0"/>
          <a:ext cx="0" cy="0"/>
          <a:chOff x="0" y="0"/>
          <a:chExt cx="0" cy="0"/>
        </a:xfrm>
      </p:grpSpPr>
      <p:sp>
        <p:nvSpPr>
          <p:cNvPr id="24" name="Google Shape;24;p32"/>
          <p:cNvSpPr/>
          <p:nvPr/>
        </p:nvSpPr>
        <p:spPr>
          <a:xfrm rot="5400000">
            <a:off x="4550700" y="-498600"/>
            <a:ext cx="42600" cy="8455800"/>
          </a:xfrm>
          <a:prstGeom prst="rec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2"/>
          <p:cNvSpPr txBox="1">
            <a:spLocks noGrp="1"/>
          </p:cNvSpPr>
          <p:nvPr>
            <p:ph type="title"/>
          </p:nvPr>
        </p:nvSpPr>
        <p:spPr>
          <a:xfrm>
            <a:off x="344250" y="1403850"/>
            <a:ext cx="8455500" cy="2146800"/>
          </a:xfrm>
          <a:prstGeom prst="rect">
            <a:avLst/>
          </a:prstGeom>
          <a:solidFill>
            <a:srgbClr val="FFFFFF"/>
          </a:solid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1pPr>
            <a:lvl2pPr lvl="1"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2pPr>
            <a:lvl3pPr lvl="2"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3pPr>
            <a:lvl4pPr lvl="3"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4pPr>
            <a:lvl5pPr lvl="4"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5pPr>
            <a:lvl6pPr lvl="5"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6pPr>
            <a:lvl7pPr lvl="6"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7pPr>
            <a:lvl8pPr lvl="7"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8pPr>
            <a:lvl9pPr lvl="8" algn="ctr">
              <a:lnSpc>
                <a:spcPct val="100000"/>
              </a:lnSpc>
              <a:spcBef>
                <a:spcPts val="0"/>
              </a:spcBef>
              <a:spcAft>
                <a:spcPts val="0"/>
              </a:spcAft>
              <a:buSzPts val="4800"/>
              <a:buFont typeface="Playfair Display"/>
              <a:buNone/>
              <a:defRPr sz="4800" b="1">
                <a:latin typeface="Playfair Display"/>
                <a:ea typeface="Playfair Display"/>
                <a:cs typeface="Playfair Display"/>
                <a:sym typeface="Playfair Display"/>
              </a:defRPr>
            </a:lvl9pPr>
          </a:lstStyle>
          <a:p>
            <a:endParaRPr/>
          </a:p>
        </p:txBody>
      </p:sp>
      <p:sp>
        <p:nvSpPr>
          <p:cNvPr id="26" name="Google Shape;26;p32"/>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3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9" name="Google Shape;29;p33"/>
          <p:cNvSpPr txBox="1">
            <a:spLocks noGrp="1"/>
          </p:cNvSpPr>
          <p:nvPr>
            <p:ph type="body" idx="1"/>
          </p:nvPr>
        </p:nvSpPr>
        <p:spPr>
          <a:xfrm>
            <a:off x="311700" y="1234050"/>
            <a:ext cx="3999900" cy="33348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0" name="Google Shape;30;p33"/>
          <p:cNvSpPr txBox="1">
            <a:spLocks noGrp="1"/>
          </p:cNvSpPr>
          <p:nvPr>
            <p:ph type="body" idx="2"/>
          </p:nvPr>
        </p:nvSpPr>
        <p:spPr>
          <a:xfrm>
            <a:off x="4832400" y="1234050"/>
            <a:ext cx="3999900" cy="33348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33"/>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3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4" name="Google Shape;34;p34"/>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35"/>
        <p:cNvGrpSpPr/>
        <p:nvPr/>
      </p:nvGrpSpPr>
      <p:grpSpPr>
        <a:xfrm>
          <a:off x="0" y="0"/>
          <a:ext cx="0" cy="0"/>
          <a:chOff x="0" y="0"/>
          <a:chExt cx="0" cy="0"/>
        </a:xfrm>
      </p:grpSpPr>
      <p:sp>
        <p:nvSpPr>
          <p:cNvPr id="36" name="Google Shape;36;p35"/>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lgn="l">
              <a:lnSpc>
                <a:spcPct val="100000"/>
              </a:lnSpc>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a:endParaRPr/>
          </a:p>
        </p:txBody>
      </p:sp>
      <p:sp>
        <p:nvSpPr>
          <p:cNvPr id="37" name="Google Shape;37;p35"/>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36"/>
          <p:cNvSpPr/>
          <p:nvPr/>
        </p:nvSpPr>
        <p:spPr>
          <a:xfrm>
            <a:off x="4572000" y="-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0" name="Google Shape;40;p36"/>
          <p:cNvCxnSpPr/>
          <p:nvPr/>
        </p:nvCxnSpPr>
        <p:spPr>
          <a:xfrm>
            <a:off x="5029675" y="4495500"/>
            <a:ext cx="468300" cy="0"/>
          </a:xfrm>
          <a:prstGeom prst="straightConnector1">
            <a:avLst/>
          </a:prstGeom>
          <a:noFill/>
          <a:ln w="19050" cap="flat" cmpd="sng">
            <a:solidFill>
              <a:schemeClr val="dk2"/>
            </a:solidFill>
            <a:prstDash val="solid"/>
            <a:round/>
            <a:headEnd type="none" w="sm" len="sm"/>
            <a:tailEnd type="none" w="sm" len="sm"/>
          </a:ln>
        </p:spPr>
      </p:cxnSp>
      <p:sp>
        <p:nvSpPr>
          <p:cNvPr id="41" name="Google Shape;41;p36"/>
          <p:cNvSpPr txBox="1">
            <a:spLocks noGrp="1"/>
          </p:cNvSpPr>
          <p:nvPr>
            <p:ph type="title"/>
          </p:nvPr>
        </p:nvSpPr>
        <p:spPr>
          <a:xfrm>
            <a:off x="265500" y="1081675"/>
            <a:ext cx="4045200" cy="17862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36"/>
          <p:cNvSpPr txBox="1">
            <a:spLocks noGrp="1"/>
          </p:cNvSpPr>
          <p:nvPr>
            <p:ph type="subTitle" idx="1"/>
          </p:nvPr>
        </p:nvSpPr>
        <p:spPr>
          <a:xfrm>
            <a:off x="265500" y="2921401"/>
            <a:ext cx="4045200" cy="13455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36"/>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highlight>
                  <a:schemeClr val="lt1"/>
                </a:highlight>
              </a:defRPr>
            </a:lvl1pPr>
            <a:lvl2pPr marL="914400" lvl="1" indent="-317500" algn="l">
              <a:lnSpc>
                <a:spcPct val="115000"/>
              </a:lnSpc>
              <a:spcBef>
                <a:spcPts val="0"/>
              </a:spcBef>
              <a:spcAft>
                <a:spcPts val="0"/>
              </a:spcAft>
              <a:buSzPts val="1400"/>
              <a:buChar char="○"/>
              <a:defRPr>
                <a:highlight>
                  <a:schemeClr val="lt1"/>
                </a:highlight>
              </a:defRPr>
            </a:lvl2pPr>
            <a:lvl3pPr marL="1371600" lvl="2" indent="-317500" algn="l">
              <a:lnSpc>
                <a:spcPct val="115000"/>
              </a:lnSpc>
              <a:spcBef>
                <a:spcPts val="0"/>
              </a:spcBef>
              <a:spcAft>
                <a:spcPts val="0"/>
              </a:spcAft>
              <a:buSzPts val="1400"/>
              <a:buChar char="■"/>
              <a:defRPr>
                <a:highlight>
                  <a:schemeClr val="lt1"/>
                </a:highlight>
              </a:defRPr>
            </a:lvl3pPr>
            <a:lvl4pPr marL="1828800" lvl="3" indent="-317500" algn="l">
              <a:lnSpc>
                <a:spcPct val="115000"/>
              </a:lnSpc>
              <a:spcBef>
                <a:spcPts val="0"/>
              </a:spcBef>
              <a:spcAft>
                <a:spcPts val="0"/>
              </a:spcAft>
              <a:buSzPts val="1400"/>
              <a:buChar char="●"/>
              <a:defRPr>
                <a:highlight>
                  <a:schemeClr val="lt1"/>
                </a:highlight>
              </a:defRPr>
            </a:lvl4pPr>
            <a:lvl5pPr marL="2286000" lvl="4" indent="-317500" algn="l">
              <a:lnSpc>
                <a:spcPct val="115000"/>
              </a:lnSpc>
              <a:spcBef>
                <a:spcPts val="0"/>
              </a:spcBef>
              <a:spcAft>
                <a:spcPts val="0"/>
              </a:spcAft>
              <a:buSzPts val="1400"/>
              <a:buChar char="○"/>
              <a:defRPr>
                <a:highlight>
                  <a:schemeClr val="lt1"/>
                </a:highlight>
              </a:defRPr>
            </a:lvl5pPr>
            <a:lvl6pPr marL="2743200" lvl="5" indent="-317500" algn="l">
              <a:lnSpc>
                <a:spcPct val="115000"/>
              </a:lnSpc>
              <a:spcBef>
                <a:spcPts val="0"/>
              </a:spcBef>
              <a:spcAft>
                <a:spcPts val="0"/>
              </a:spcAft>
              <a:buSzPts val="1400"/>
              <a:buChar char="■"/>
              <a:defRPr>
                <a:highlight>
                  <a:schemeClr val="lt1"/>
                </a:highlight>
              </a:defRPr>
            </a:lvl6pPr>
            <a:lvl7pPr marL="3200400" lvl="6" indent="-317500" algn="l">
              <a:lnSpc>
                <a:spcPct val="115000"/>
              </a:lnSpc>
              <a:spcBef>
                <a:spcPts val="0"/>
              </a:spcBef>
              <a:spcAft>
                <a:spcPts val="0"/>
              </a:spcAft>
              <a:buSzPts val="1400"/>
              <a:buChar char="●"/>
              <a:defRPr>
                <a:highlight>
                  <a:schemeClr val="lt1"/>
                </a:highlight>
              </a:defRPr>
            </a:lvl7pPr>
            <a:lvl8pPr marL="3657600" lvl="7" indent="-317500" algn="l">
              <a:lnSpc>
                <a:spcPct val="115000"/>
              </a:lnSpc>
              <a:spcBef>
                <a:spcPts val="0"/>
              </a:spcBef>
              <a:spcAft>
                <a:spcPts val="0"/>
              </a:spcAft>
              <a:buSzPts val="1400"/>
              <a:buChar char="○"/>
              <a:defRPr>
                <a:highlight>
                  <a:schemeClr val="lt1"/>
                </a:highlight>
              </a:defRPr>
            </a:lvl8pPr>
            <a:lvl9pPr marL="4114800" lvl="8" indent="-317500" algn="l">
              <a:lnSpc>
                <a:spcPct val="115000"/>
              </a:lnSpc>
              <a:spcBef>
                <a:spcPts val="0"/>
              </a:spcBef>
              <a:spcAft>
                <a:spcPts val="0"/>
              </a:spcAft>
              <a:buSzPts val="1400"/>
              <a:buChar char="■"/>
              <a:defRPr>
                <a:highlight>
                  <a:schemeClr val="lt1"/>
                </a:highlight>
              </a:defRPr>
            </a:lvl9pPr>
          </a:lstStyle>
          <a:p>
            <a:endParaRPr/>
          </a:p>
        </p:txBody>
      </p:sp>
      <p:sp>
        <p:nvSpPr>
          <p:cNvPr id="44" name="Google Shape;44;p36"/>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37"/>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highlight>
                  <a:schemeClr val="dk1"/>
                </a:highlight>
              </a:defRPr>
            </a:lvl1pPr>
          </a:lstStyle>
          <a:p>
            <a:endParaRPr/>
          </a:p>
        </p:txBody>
      </p:sp>
      <p:sp>
        <p:nvSpPr>
          <p:cNvPr id="47" name="Google Shape;47;p37"/>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38"/>
          <p:cNvSpPr txBox="1">
            <a:spLocks noGrp="1"/>
          </p:cNvSpPr>
          <p:nvPr>
            <p:ph type="title" hasCustomPrompt="1"/>
          </p:nvPr>
        </p:nvSpPr>
        <p:spPr>
          <a:xfrm>
            <a:off x="311700" y="999925"/>
            <a:ext cx="8520600" cy="21462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4000"/>
              <a:buFont typeface="Montserrat"/>
              <a:buNone/>
              <a:defRPr sz="14000">
                <a:latin typeface="Montserrat"/>
                <a:ea typeface="Montserrat"/>
                <a:cs typeface="Montserrat"/>
                <a:sym typeface="Montserrat"/>
              </a:defRPr>
            </a:lvl1pPr>
            <a:lvl2pPr lvl="1" algn="ctr">
              <a:lnSpc>
                <a:spcPct val="100000"/>
              </a:lnSpc>
              <a:spcBef>
                <a:spcPts val="0"/>
              </a:spcBef>
              <a:spcAft>
                <a:spcPts val="0"/>
              </a:spcAft>
              <a:buSzPts val="14000"/>
              <a:buFont typeface="Montserrat"/>
              <a:buNone/>
              <a:defRPr sz="14000">
                <a:latin typeface="Montserrat"/>
                <a:ea typeface="Montserrat"/>
                <a:cs typeface="Montserrat"/>
                <a:sym typeface="Montserrat"/>
              </a:defRPr>
            </a:lvl2pPr>
            <a:lvl3pPr lvl="2" algn="ctr">
              <a:lnSpc>
                <a:spcPct val="100000"/>
              </a:lnSpc>
              <a:spcBef>
                <a:spcPts val="0"/>
              </a:spcBef>
              <a:spcAft>
                <a:spcPts val="0"/>
              </a:spcAft>
              <a:buSzPts val="14000"/>
              <a:buFont typeface="Montserrat"/>
              <a:buNone/>
              <a:defRPr sz="14000">
                <a:latin typeface="Montserrat"/>
                <a:ea typeface="Montserrat"/>
                <a:cs typeface="Montserrat"/>
                <a:sym typeface="Montserrat"/>
              </a:defRPr>
            </a:lvl3pPr>
            <a:lvl4pPr lvl="3" algn="ctr">
              <a:lnSpc>
                <a:spcPct val="100000"/>
              </a:lnSpc>
              <a:spcBef>
                <a:spcPts val="0"/>
              </a:spcBef>
              <a:spcAft>
                <a:spcPts val="0"/>
              </a:spcAft>
              <a:buSzPts val="14000"/>
              <a:buFont typeface="Montserrat"/>
              <a:buNone/>
              <a:defRPr sz="14000">
                <a:latin typeface="Montserrat"/>
                <a:ea typeface="Montserrat"/>
                <a:cs typeface="Montserrat"/>
                <a:sym typeface="Montserrat"/>
              </a:defRPr>
            </a:lvl4pPr>
            <a:lvl5pPr lvl="4" algn="ctr">
              <a:lnSpc>
                <a:spcPct val="100000"/>
              </a:lnSpc>
              <a:spcBef>
                <a:spcPts val="0"/>
              </a:spcBef>
              <a:spcAft>
                <a:spcPts val="0"/>
              </a:spcAft>
              <a:buSzPts val="14000"/>
              <a:buFont typeface="Montserrat"/>
              <a:buNone/>
              <a:defRPr sz="14000">
                <a:latin typeface="Montserrat"/>
                <a:ea typeface="Montserrat"/>
                <a:cs typeface="Montserrat"/>
                <a:sym typeface="Montserrat"/>
              </a:defRPr>
            </a:lvl5pPr>
            <a:lvl6pPr lvl="5" algn="ctr">
              <a:lnSpc>
                <a:spcPct val="100000"/>
              </a:lnSpc>
              <a:spcBef>
                <a:spcPts val="0"/>
              </a:spcBef>
              <a:spcAft>
                <a:spcPts val="0"/>
              </a:spcAft>
              <a:buSzPts val="14000"/>
              <a:buFont typeface="Montserrat"/>
              <a:buNone/>
              <a:defRPr sz="14000">
                <a:latin typeface="Montserrat"/>
                <a:ea typeface="Montserrat"/>
                <a:cs typeface="Montserrat"/>
                <a:sym typeface="Montserrat"/>
              </a:defRPr>
            </a:lvl6pPr>
            <a:lvl7pPr lvl="6" algn="ctr">
              <a:lnSpc>
                <a:spcPct val="100000"/>
              </a:lnSpc>
              <a:spcBef>
                <a:spcPts val="0"/>
              </a:spcBef>
              <a:spcAft>
                <a:spcPts val="0"/>
              </a:spcAft>
              <a:buSzPts val="14000"/>
              <a:buFont typeface="Montserrat"/>
              <a:buNone/>
              <a:defRPr sz="14000">
                <a:latin typeface="Montserrat"/>
                <a:ea typeface="Montserrat"/>
                <a:cs typeface="Montserrat"/>
                <a:sym typeface="Montserrat"/>
              </a:defRPr>
            </a:lvl7pPr>
            <a:lvl8pPr lvl="7" algn="ctr">
              <a:lnSpc>
                <a:spcPct val="100000"/>
              </a:lnSpc>
              <a:spcBef>
                <a:spcPts val="0"/>
              </a:spcBef>
              <a:spcAft>
                <a:spcPts val="0"/>
              </a:spcAft>
              <a:buSzPts val="14000"/>
              <a:buFont typeface="Montserrat"/>
              <a:buNone/>
              <a:defRPr sz="14000">
                <a:latin typeface="Montserrat"/>
                <a:ea typeface="Montserrat"/>
                <a:cs typeface="Montserrat"/>
                <a:sym typeface="Montserrat"/>
              </a:defRPr>
            </a:lvl8pPr>
            <a:lvl9pPr lvl="8" algn="ctr">
              <a:lnSpc>
                <a:spcPct val="100000"/>
              </a:lnSpc>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38"/>
          <p:cNvSpPr txBox="1">
            <a:spLocks noGrp="1"/>
          </p:cNvSpPr>
          <p:nvPr>
            <p:ph type="body" idx="1"/>
          </p:nvPr>
        </p:nvSpPr>
        <p:spPr>
          <a:xfrm>
            <a:off x="311700" y="32284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highlight>
                  <a:schemeClr val="dk1"/>
                </a:highlight>
              </a:defRPr>
            </a:lvl1pPr>
            <a:lvl2pPr marL="914400" lvl="1" indent="-317500" algn="ctr">
              <a:lnSpc>
                <a:spcPct val="115000"/>
              </a:lnSpc>
              <a:spcBef>
                <a:spcPts val="0"/>
              </a:spcBef>
              <a:spcAft>
                <a:spcPts val="0"/>
              </a:spcAft>
              <a:buSzPts val="1400"/>
              <a:buChar char="○"/>
              <a:defRPr>
                <a:highlight>
                  <a:schemeClr val="dk1"/>
                </a:highlight>
              </a:defRPr>
            </a:lvl2pPr>
            <a:lvl3pPr marL="1371600" lvl="2" indent="-317500" algn="ctr">
              <a:lnSpc>
                <a:spcPct val="115000"/>
              </a:lnSpc>
              <a:spcBef>
                <a:spcPts val="0"/>
              </a:spcBef>
              <a:spcAft>
                <a:spcPts val="0"/>
              </a:spcAft>
              <a:buSzPts val="1400"/>
              <a:buChar char="■"/>
              <a:defRPr>
                <a:highlight>
                  <a:schemeClr val="dk1"/>
                </a:highlight>
              </a:defRPr>
            </a:lvl3pPr>
            <a:lvl4pPr marL="1828800" lvl="3" indent="-317500" algn="ctr">
              <a:lnSpc>
                <a:spcPct val="115000"/>
              </a:lnSpc>
              <a:spcBef>
                <a:spcPts val="0"/>
              </a:spcBef>
              <a:spcAft>
                <a:spcPts val="0"/>
              </a:spcAft>
              <a:buSzPts val="1400"/>
              <a:buChar char="●"/>
              <a:defRPr>
                <a:highlight>
                  <a:schemeClr val="dk1"/>
                </a:highlight>
              </a:defRPr>
            </a:lvl4pPr>
            <a:lvl5pPr marL="2286000" lvl="4" indent="-317500" algn="ctr">
              <a:lnSpc>
                <a:spcPct val="115000"/>
              </a:lnSpc>
              <a:spcBef>
                <a:spcPts val="0"/>
              </a:spcBef>
              <a:spcAft>
                <a:spcPts val="0"/>
              </a:spcAft>
              <a:buSzPts val="1400"/>
              <a:buChar char="○"/>
              <a:defRPr>
                <a:highlight>
                  <a:schemeClr val="dk1"/>
                </a:highlight>
              </a:defRPr>
            </a:lvl5pPr>
            <a:lvl6pPr marL="2743200" lvl="5" indent="-317500" algn="ctr">
              <a:lnSpc>
                <a:spcPct val="115000"/>
              </a:lnSpc>
              <a:spcBef>
                <a:spcPts val="0"/>
              </a:spcBef>
              <a:spcAft>
                <a:spcPts val="0"/>
              </a:spcAft>
              <a:buSzPts val="1400"/>
              <a:buChar char="■"/>
              <a:defRPr>
                <a:highlight>
                  <a:schemeClr val="dk1"/>
                </a:highlight>
              </a:defRPr>
            </a:lvl6pPr>
            <a:lvl7pPr marL="3200400" lvl="6" indent="-317500" algn="ctr">
              <a:lnSpc>
                <a:spcPct val="115000"/>
              </a:lnSpc>
              <a:spcBef>
                <a:spcPts val="0"/>
              </a:spcBef>
              <a:spcAft>
                <a:spcPts val="0"/>
              </a:spcAft>
              <a:buSzPts val="1400"/>
              <a:buChar char="●"/>
              <a:defRPr>
                <a:highlight>
                  <a:schemeClr val="dk1"/>
                </a:highlight>
              </a:defRPr>
            </a:lvl7pPr>
            <a:lvl8pPr marL="3657600" lvl="7" indent="-317500" algn="ctr">
              <a:lnSpc>
                <a:spcPct val="115000"/>
              </a:lnSpc>
              <a:spcBef>
                <a:spcPts val="0"/>
              </a:spcBef>
              <a:spcAft>
                <a:spcPts val="0"/>
              </a:spcAft>
              <a:buSzPts val="1400"/>
              <a:buChar char="○"/>
              <a:defRPr>
                <a:highlight>
                  <a:schemeClr val="dk1"/>
                </a:highlight>
              </a:defRPr>
            </a:lvl8pPr>
            <a:lvl9pPr marL="4114800" lvl="8" indent="-317500" algn="ctr">
              <a:lnSpc>
                <a:spcPct val="115000"/>
              </a:lnSpc>
              <a:spcBef>
                <a:spcPts val="0"/>
              </a:spcBef>
              <a:spcAft>
                <a:spcPts val="0"/>
              </a:spcAft>
              <a:buSzPts val="1400"/>
              <a:buChar char="■"/>
              <a:defRPr>
                <a:highlight>
                  <a:schemeClr val="dk1"/>
                </a:highlight>
              </a:defRPr>
            </a:lvl9pPr>
          </a:lstStyle>
          <a:p>
            <a:endParaRPr/>
          </a:p>
        </p:txBody>
      </p:sp>
      <p:sp>
        <p:nvSpPr>
          <p:cNvPr id="51" name="Google Shape;51;p38"/>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op">
    <p:bg>
      <p:bgPr>
        <a:solidFill>
          <a:schemeClr val="lt1"/>
        </a:solidFill>
        <a:effectLst/>
      </p:bgPr>
    </p:bg>
    <p:spTree>
      <p:nvGrpSpPr>
        <p:cNvPr id="1" name="Shape 5"/>
        <p:cNvGrpSpPr/>
        <p:nvPr/>
      </p:nvGrpSpPr>
      <p:grpSpPr>
        <a:xfrm>
          <a:off x="0" y="0"/>
          <a:ext cx="0" cy="0"/>
          <a:chOff x="0" y="0"/>
          <a:chExt cx="0" cy="0"/>
        </a:xfrm>
      </p:grpSpPr>
      <p:sp>
        <p:nvSpPr>
          <p:cNvPr id="6" name="Google Shape;6;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1pPr>
            <a:lvl2pPr marR="0" lvl="1" algn="l" rtl="0">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2pPr>
            <a:lvl3pPr marR="0" lvl="2" algn="l" rtl="0">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3pPr>
            <a:lvl4pPr marR="0" lvl="3" algn="l" rtl="0">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4pPr>
            <a:lvl5pPr marR="0" lvl="4" algn="l" rtl="0">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5pPr>
            <a:lvl6pPr marR="0" lvl="5" algn="l" rtl="0">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6pPr>
            <a:lvl7pPr marR="0" lvl="6" algn="l" rtl="0">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7pPr>
            <a:lvl8pPr marR="0" lvl="7" algn="l" rtl="0">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8pPr>
            <a:lvl9pPr marR="0" lvl="8" algn="l" rtl="0">
              <a:lnSpc>
                <a:spcPct val="100000"/>
              </a:lnSpc>
              <a:spcBef>
                <a:spcPts val="0"/>
              </a:spcBef>
              <a:spcAft>
                <a:spcPts val="0"/>
              </a:spcAft>
              <a:buClr>
                <a:schemeClr val="dk2"/>
              </a:buClr>
              <a:buSzPts val="3000"/>
              <a:buFont typeface="Oswald"/>
              <a:buNone/>
              <a:defRPr sz="3000" b="0" i="0" u="none" strike="noStrike" cap="none">
                <a:solidFill>
                  <a:schemeClr val="dk2"/>
                </a:solidFill>
                <a:highlight>
                  <a:schemeClr val="dk1"/>
                </a:highlight>
                <a:latin typeface="Oswald"/>
                <a:ea typeface="Oswald"/>
                <a:cs typeface="Oswald"/>
                <a:sym typeface="Oswald"/>
              </a:defRPr>
            </a:lvl9pPr>
          </a:lstStyle>
          <a:p>
            <a:endParaRPr/>
          </a:p>
        </p:txBody>
      </p:sp>
      <p:sp>
        <p:nvSpPr>
          <p:cNvPr id="7" name="Google Shape;7;p28"/>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Playfair Display"/>
              <a:buChar char="●"/>
              <a:defRPr sz="1800" b="0" i="0" u="none" strike="noStrike" cap="none">
                <a:solidFill>
                  <a:schemeClr val="dk2"/>
                </a:solidFill>
                <a:latin typeface="Playfair Display"/>
                <a:ea typeface="Playfair Display"/>
                <a:cs typeface="Playfair Display"/>
                <a:sym typeface="Playfair Display"/>
              </a:defRPr>
            </a:lvl1pPr>
            <a:lvl2pPr marL="914400" marR="0" lvl="1" indent="-317500" algn="l" rtl="0">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2pPr>
            <a:lvl3pPr marL="1371600" marR="0" lvl="2" indent="-317500" algn="l" rtl="0">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3pPr>
            <a:lvl4pPr marL="1828800" marR="0" lvl="3" indent="-317500" algn="l" rtl="0">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4pPr>
            <a:lvl5pPr marL="2286000" marR="0" lvl="4" indent="-317500" algn="l" rtl="0">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5pPr>
            <a:lvl6pPr marL="2743200" marR="0" lvl="5" indent="-317500" algn="l" rtl="0">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6pPr>
            <a:lvl7pPr marL="3200400" marR="0" lvl="6" indent="-317500" algn="l" rtl="0">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7pPr>
            <a:lvl8pPr marL="3657600" marR="0" lvl="7" indent="-317500" algn="l" rtl="0">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8pPr>
            <a:lvl9pPr marL="4114800" marR="0" lvl="8" indent="-317500" algn="l" rtl="0">
              <a:lnSpc>
                <a:spcPct val="115000"/>
              </a:lnSpc>
              <a:spcBef>
                <a:spcPts val="0"/>
              </a:spcBef>
              <a:spcAft>
                <a:spcPts val="0"/>
              </a:spcAft>
              <a:buClr>
                <a:schemeClr val="dk2"/>
              </a:buClr>
              <a:buSzPts val="1400"/>
              <a:buFont typeface="Playfair Display"/>
              <a:buChar char="■"/>
              <a:defRPr sz="1400" b="0" i="0" u="none" strike="noStrike" cap="none">
                <a:solidFill>
                  <a:schemeClr val="dk2"/>
                </a:solidFill>
                <a:latin typeface="Playfair Display"/>
                <a:ea typeface="Playfair Display"/>
                <a:cs typeface="Playfair Display"/>
                <a:sym typeface="Playfair Display"/>
              </a:defRPr>
            </a:lvl9pPr>
          </a:lstStyle>
          <a:p>
            <a:endParaRPr/>
          </a:p>
        </p:txBody>
      </p:sp>
      <p:sp>
        <p:nvSpPr>
          <p:cNvPr id="8" name="Google Shape;8;p28"/>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Playfair Display"/>
                <a:ea typeface="Playfair Display"/>
                <a:cs typeface="Playfair Display"/>
                <a:sym typeface="Playfair Display"/>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
          <p:cNvSpPr txBox="1">
            <a:spLocks noGrp="1"/>
          </p:cNvSpPr>
          <p:nvPr>
            <p:ph type="ctrTitle"/>
          </p:nvPr>
        </p:nvSpPr>
        <p:spPr>
          <a:xfrm>
            <a:off x="344250" y="1403850"/>
            <a:ext cx="8455500" cy="2146800"/>
          </a:xfrm>
          <a:prstGeom prst="rect">
            <a:avLst/>
          </a:prstGeom>
          <a:solidFill>
            <a:srgbClr val="FFFFFF"/>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6800"/>
              <a:buNone/>
            </a:pPr>
            <a:r>
              <a:rPr lang="en"/>
              <a:t>Introduction to CSS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What is CSS?</a:t>
            </a:r>
            <a:endParaRPr/>
          </a:p>
          <a:p>
            <a:pPr marL="0" lvl="0" indent="0" algn="l" rtl="0">
              <a:lnSpc>
                <a:spcPct val="100000"/>
              </a:lnSpc>
              <a:spcBef>
                <a:spcPts val="0"/>
              </a:spcBef>
              <a:spcAft>
                <a:spcPts val="0"/>
              </a:spcAft>
              <a:buSzPct val="111111"/>
              <a:buNone/>
            </a:pPr>
            <a:endParaRPr/>
          </a:p>
        </p:txBody>
      </p:sp>
      <p:sp>
        <p:nvSpPr>
          <p:cNvPr id="64" name="Google Shape;64;p2"/>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100"/>
              </a:spcBef>
              <a:spcAft>
                <a:spcPts val="0"/>
              </a:spcAft>
              <a:buSzPts val="1800"/>
              <a:buNone/>
            </a:pPr>
            <a:r>
              <a:rPr lang="en"/>
              <a:t>CSS is the language we use to style a Web page.</a:t>
            </a:r>
            <a:endParaRPr/>
          </a:p>
          <a:p>
            <a:pPr marL="457200" lvl="0" indent="-342900" algn="l" rtl="0">
              <a:lnSpc>
                <a:spcPct val="115000"/>
              </a:lnSpc>
              <a:spcBef>
                <a:spcPts val="1100"/>
              </a:spcBef>
              <a:spcAft>
                <a:spcPts val="0"/>
              </a:spcAft>
              <a:buSzPts val="1800"/>
              <a:buChar char="-"/>
            </a:pPr>
            <a:r>
              <a:rPr lang="en"/>
              <a:t>CSS stands for Cascading Style Sheets. </a:t>
            </a:r>
            <a:endParaRPr/>
          </a:p>
          <a:p>
            <a:pPr marL="457200" lvl="0" indent="-342900" algn="l" rtl="0">
              <a:lnSpc>
                <a:spcPct val="115000"/>
              </a:lnSpc>
              <a:spcBef>
                <a:spcPts val="0"/>
              </a:spcBef>
              <a:spcAft>
                <a:spcPts val="0"/>
              </a:spcAft>
              <a:buSzPts val="1800"/>
              <a:buChar char="-"/>
            </a:pPr>
            <a:r>
              <a:rPr lang="en"/>
              <a:t>CSS describes how HTML elements are to be displayed on screen, paper, or in other media.</a:t>
            </a:r>
            <a:endParaRPr/>
          </a:p>
          <a:p>
            <a:pPr marL="457200" lvl="0" indent="-342900" algn="l" rtl="0">
              <a:lnSpc>
                <a:spcPct val="115000"/>
              </a:lnSpc>
              <a:spcBef>
                <a:spcPts val="0"/>
              </a:spcBef>
              <a:spcAft>
                <a:spcPts val="0"/>
              </a:spcAft>
              <a:buSzPts val="1800"/>
              <a:buChar char="-"/>
            </a:pPr>
            <a:r>
              <a:rPr lang="en"/>
              <a:t>CSS saves a lot of work. It can control the layout of multiple web pages all at once.</a:t>
            </a:r>
            <a:endParaRPr/>
          </a:p>
          <a:p>
            <a:pPr marL="457200" lvl="0" indent="-342900" algn="l" rtl="0">
              <a:lnSpc>
                <a:spcPct val="115000"/>
              </a:lnSpc>
              <a:spcBef>
                <a:spcPts val="0"/>
              </a:spcBef>
              <a:spcAft>
                <a:spcPts val="0"/>
              </a:spcAft>
              <a:buSzPts val="1800"/>
              <a:buChar char="-"/>
            </a:pPr>
            <a:r>
              <a:rPr lang="en"/>
              <a:t>External stylesheets are stored in CSS files.</a:t>
            </a:r>
            <a:endParaRPr/>
          </a:p>
          <a:p>
            <a:pPr marL="457200" lvl="0" indent="-342900" algn="l" rtl="0">
              <a:lnSpc>
                <a:spcPct val="115000"/>
              </a:lnSpc>
              <a:spcBef>
                <a:spcPts val="0"/>
              </a:spcBef>
              <a:spcAft>
                <a:spcPts val="0"/>
              </a:spcAft>
              <a:buSzPts val="1800"/>
              <a:buChar char="-"/>
            </a:pPr>
            <a:r>
              <a:rPr lang="en"/>
              <a:t>CSS is used to define styles for your web pages, including the design, layout and variations in display for different devices and screen sizes.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CSS Example </a:t>
            </a:r>
            <a:endParaRPr/>
          </a:p>
        </p:txBody>
      </p:sp>
      <p:sp>
        <p:nvSpPr>
          <p:cNvPr id="70" name="Google Shape;70;p3"/>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a:t>body {</a:t>
            </a:r>
            <a:endParaRPr/>
          </a:p>
          <a:p>
            <a:pPr marL="0" lvl="0" indent="0" algn="l" rtl="0">
              <a:lnSpc>
                <a:spcPct val="100000"/>
              </a:lnSpc>
              <a:spcBef>
                <a:spcPts val="0"/>
              </a:spcBef>
              <a:spcAft>
                <a:spcPts val="0"/>
              </a:spcAft>
              <a:buClr>
                <a:schemeClr val="dk1"/>
              </a:buClr>
              <a:buSzPts val="1100"/>
              <a:buFont typeface="Arial"/>
              <a:buNone/>
            </a:pPr>
            <a:r>
              <a:rPr lang="en"/>
              <a:t> </a:t>
            </a:r>
            <a:r>
              <a:rPr lang="en">
                <a:solidFill>
                  <a:srgbClr val="FF0000"/>
                </a:solidFill>
              </a:rPr>
              <a:t>background-color</a:t>
            </a:r>
            <a:r>
              <a:rPr lang="en"/>
              <a:t>: </a:t>
            </a:r>
            <a:r>
              <a:rPr lang="en">
                <a:solidFill>
                  <a:srgbClr val="0000CD"/>
                </a:solidFill>
              </a:rPr>
              <a:t>lightblue</a:t>
            </a:r>
            <a:r>
              <a:rPr lang="en"/>
              <a:t>;</a:t>
            </a:r>
            <a:endParaRPr/>
          </a:p>
          <a:p>
            <a:pPr marL="0" lvl="0" indent="0" algn="l" rtl="0">
              <a:lnSpc>
                <a:spcPct val="100000"/>
              </a:lnSpc>
              <a:spcBef>
                <a:spcPts val="0"/>
              </a:spcBef>
              <a:spcAft>
                <a:spcPts val="0"/>
              </a:spcAft>
              <a:buClr>
                <a:schemeClr val="dk1"/>
              </a:buClr>
              <a:buSzPts val="1100"/>
              <a:buFont typeface="Arial"/>
              <a:buNone/>
            </a:pPr>
            <a:r>
              <a:rPr lang="en"/>
              <a:t>}</a:t>
            </a:r>
            <a:endParaRPr/>
          </a:p>
          <a:p>
            <a:pPr marL="0" lvl="0" indent="0" algn="l" rtl="0">
              <a:lnSpc>
                <a:spcPct val="100000"/>
              </a:lnSpc>
              <a:spcBef>
                <a:spcPts val="0"/>
              </a:spcBef>
              <a:spcAft>
                <a:spcPts val="0"/>
              </a:spcAft>
              <a:buClr>
                <a:schemeClr val="dk1"/>
              </a:buClr>
              <a:buSzPts val="1100"/>
              <a:buFont typeface="Arial"/>
              <a:buNone/>
            </a:pPr>
            <a:r>
              <a:rPr lang="en"/>
              <a:t>h1 {</a:t>
            </a:r>
            <a:endParaRPr/>
          </a:p>
          <a:p>
            <a:pPr marL="0" lvl="0" indent="0" algn="l" rtl="0">
              <a:lnSpc>
                <a:spcPct val="100000"/>
              </a:lnSpc>
              <a:spcBef>
                <a:spcPts val="0"/>
              </a:spcBef>
              <a:spcAft>
                <a:spcPts val="0"/>
              </a:spcAft>
              <a:buClr>
                <a:schemeClr val="dk1"/>
              </a:buClr>
              <a:buSzPts val="1100"/>
              <a:buFont typeface="Arial"/>
              <a:buNone/>
            </a:pPr>
            <a:r>
              <a:rPr lang="en"/>
              <a:t>  </a:t>
            </a:r>
            <a:r>
              <a:rPr lang="en">
                <a:solidFill>
                  <a:srgbClr val="FF0000"/>
                </a:solidFill>
              </a:rPr>
              <a:t>color</a:t>
            </a:r>
            <a:r>
              <a:rPr lang="en"/>
              <a:t>: </a:t>
            </a:r>
            <a:r>
              <a:rPr lang="en">
                <a:solidFill>
                  <a:srgbClr val="0000CD"/>
                </a:solidFill>
              </a:rPr>
              <a:t>white</a:t>
            </a:r>
            <a:r>
              <a:rPr lang="en"/>
              <a:t>;</a:t>
            </a:r>
            <a:endParaRPr/>
          </a:p>
          <a:p>
            <a:pPr marL="0" lvl="0" indent="0" algn="l" rtl="0">
              <a:lnSpc>
                <a:spcPct val="100000"/>
              </a:lnSpc>
              <a:spcBef>
                <a:spcPts val="0"/>
              </a:spcBef>
              <a:spcAft>
                <a:spcPts val="0"/>
              </a:spcAft>
              <a:buClr>
                <a:schemeClr val="dk1"/>
              </a:buClr>
              <a:buSzPts val="1100"/>
              <a:buFont typeface="Arial"/>
              <a:buNone/>
            </a:pPr>
            <a:r>
              <a:rPr lang="en"/>
              <a:t>  </a:t>
            </a:r>
            <a:r>
              <a:rPr lang="en">
                <a:solidFill>
                  <a:srgbClr val="FF0000"/>
                </a:solidFill>
              </a:rPr>
              <a:t>text-align</a:t>
            </a:r>
            <a:r>
              <a:rPr lang="en"/>
              <a:t>: </a:t>
            </a:r>
            <a:r>
              <a:rPr lang="en">
                <a:solidFill>
                  <a:srgbClr val="0000CD"/>
                </a:solidFill>
              </a:rPr>
              <a:t>center</a:t>
            </a:r>
            <a:r>
              <a:rPr lang="en"/>
              <a:t>;</a:t>
            </a:r>
            <a:endParaRPr/>
          </a:p>
          <a:p>
            <a:pPr marL="0" lvl="0" indent="0" algn="l" rtl="0">
              <a:lnSpc>
                <a:spcPct val="100000"/>
              </a:lnSpc>
              <a:spcBef>
                <a:spcPts val="0"/>
              </a:spcBef>
              <a:spcAft>
                <a:spcPts val="0"/>
              </a:spcAft>
              <a:buClr>
                <a:schemeClr val="dk1"/>
              </a:buClr>
              <a:buSzPts val="1100"/>
              <a:buFont typeface="Arial"/>
              <a:buNone/>
            </a:pPr>
            <a:r>
              <a:rPr lang="en"/>
              <a:t>}</a:t>
            </a:r>
            <a:endParaRPr/>
          </a:p>
          <a:p>
            <a:pPr marL="0" lvl="0" indent="0" algn="l" rtl="0">
              <a:lnSpc>
                <a:spcPct val="100000"/>
              </a:lnSpc>
              <a:spcBef>
                <a:spcPts val="0"/>
              </a:spcBef>
              <a:spcAft>
                <a:spcPts val="0"/>
              </a:spcAft>
              <a:buClr>
                <a:schemeClr val="dk1"/>
              </a:buClr>
              <a:buSzPts val="1100"/>
              <a:buFont typeface="Arial"/>
              <a:buNone/>
            </a:pPr>
            <a:r>
              <a:rPr lang="en"/>
              <a:t>p {</a:t>
            </a:r>
            <a:endParaRPr/>
          </a:p>
          <a:p>
            <a:pPr marL="0" lvl="0" indent="0" algn="l" rtl="0">
              <a:lnSpc>
                <a:spcPct val="100000"/>
              </a:lnSpc>
              <a:spcBef>
                <a:spcPts val="0"/>
              </a:spcBef>
              <a:spcAft>
                <a:spcPts val="0"/>
              </a:spcAft>
              <a:buClr>
                <a:schemeClr val="dk1"/>
              </a:buClr>
              <a:buSzPts val="1100"/>
              <a:buFont typeface="Arial"/>
              <a:buNone/>
            </a:pPr>
            <a:r>
              <a:rPr lang="en"/>
              <a:t>  </a:t>
            </a:r>
            <a:r>
              <a:rPr lang="en">
                <a:solidFill>
                  <a:srgbClr val="FF0000"/>
                </a:solidFill>
              </a:rPr>
              <a:t>font-family</a:t>
            </a:r>
            <a:r>
              <a:rPr lang="en"/>
              <a:t>: </a:t>
            </a:r>
            <a:r>
              <a:rPr lang="en">
                <a:solidFill>
                  <a:srgbClr val="0000CD"/>
                </a:solidFill>
              </a:rPr>
              <a:t>verdana</a:t>
            </a:r>
            <a:r>
              <a:rPr lang="en"/>
              <a:t>;</a:t>
            </a:r>
            <a:endParaRPr/>
          </a:p>
          <a:p>
            <a:pPr marL="0" lvl="0" indent="0" algn="l" rtl="0">
              <a:lnSpc>
                <a:spcPct val="100000"/>
              </a:lnSpc>
              <a:spcBef>
                <a:spcPts val="0"/>
              </a:spcBef>
              <a:spcAft>
                <a:spcPts val="0"/>
              </a:spcAft>
              <a:buClr>
                <a:schemeClr val="dk1"/>
              </a:buClr>
              <a:buSzPts val="1100"/>
              <a:buFont typeface="Arial"/>
              <a:buNone/>
            </a:pPr>
            <a:r>
              <a:rPr lang="en"/>
              <a:t>  </a:t>
            </a:r>
            <a:r>
              <a:rPr lang="en">
                <a:solidFill>
                  <a:srgbClr val="FF0000"/>
                </a:solidFill>
              </a:rPr>
              <a:t>font-size</a:t>
            </a:r>
            <a:r>
              <a:rPr lang="en"/>
              <a:t>: </a:t>
            </a:r>
            <a:r>
              <a:rPr lang="en">
                <a:solidFill>
                  <a:srgbClr val="0000CD"/>
                </a:solidFill>
              </a:rPr>
              <a:t>20px</a:t>
            </a:r>
            <a:r>
              <a:rPr lang="en"/>
              <a:t>;</a:t>
            </a:r>
            <a:endParaRPr/>
          </a:p>
          <a:p>
            <a:pPr marL="0" lvl="0" indent="0" algn="l" rtl="0">
              <a:lnSpc>
                <a:spcPct val="100000"/>
              </a:lnSpc>
              <a:spcBef>
                <a:spcPts val="0"/>
              </a:spcBef>
              <a:spcAft>
                <a:spcPts val="0"/>
              </a:spcAft>
              <a:buSzPts val="1800"/>
              <a:buNone/>
            </a:pPr>
            <a:r>
              <a:rPr lang="en"/>
              <a:t>}</a:t>
            </a:r>
            <a:endParaRPr/>
          </a:p>
        </p:txBody>
      </p:sp>
      <p:sp>
        <p:nvSpPr>
          <p:cNvPr id="71" name="Google Shape;71;p3"/>
          <p:cNvSpPr txBox="1"/>
          <p:nvPr/>
        </p:nvSpPr>
        <p:spPr>
          <a:xfrm>
            <a:off x="2954150" y="2579250"/>
            <a:ext cx="7341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ld Standard TT"/>
              <a:ea typeface="Old Standard TT"/>
              <a:cs typeface="Old Standard TT"/>
              <a:sym typeface="Old Standard T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CSS Solved a Big Problem</a:t>
            </a:r>
            <a:endParaRPr/>
          </a:p>
          <a:p>
            <a:pPr marL="0" lvl="0" indent="0" algn="l" rtl="0">
              <a:lnSpc>
                <a:spcPct val="100000"/>
              </a:lnSpc>
              <a:spcBef>
                <a:spcPts val="0"/>
              </a:spcBef>
              <a:spcAft>
                <a:spcPts val="0"/>
              </a:spcAft>
              <a:buSzPct val="111111"/>
              <a:buNone/>
            </a:pPr>
            <a:endParaRPr/>
          </a:p>
        </p:txBody>
      </p:sp>
      <p:sp>
        <p:nvSpPr>
          <p:cNvPr id="77" name="Google Shape;77;p4"/>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lnSpc>
                <a:spcPct val="115000"/>
              </a:lnSpc>
              <a:spcBef>
                <a:spcPts val="0"/>
              </a:spcBef>
              <a:spcAft>
                <a:spcPts val="0"/>
              </a:spcAft>
              <a:buSzPct val="117647"/>
              <a:buNone/>
            </a:pPr>
            <a:r>
              <a:rPr lang="en"/>
              <a:t>HTML was NEVER intended to contain tags for formatting a web page!</a:t>
            </a:r>
            <a:endParaRPr/>
          </a:p>
          <a:p>
            <a:pPr marL="0" lvl="0" indent="0" algn="l" rtl="0">
              <a:lnSpc>
                <a:spcPct val="115000"/>
              </a:lnSpc>
              <a:spcBef>
                <a:spcPts val="1400"/>
              </a:spcBef>
              <a:spcAft>
                <a:spcPts val="0"/>
              </a:spcAft>
              <a:buClr>
                <a:schemeClr val="dk1"/>
              </a:buClr>
              <a:buSzPct val="61110"/>
              <a:buFont typeface="Arial"/>
              <a:buNone/>
            </a:pPr>
            <a:r>
              <a:rPr lang="en"/>
              <a:t>HTML was created to describe the content of a web page, like:</a:t>
            </a:r>
            <a:endParaRPr/>
          </a:p>
          <a:p>
            <a:pPr marL="0" lvl="0" indent="0" algn="l" rtl="0">
              <a:lnSpc>
                <a:spcPct val="115000"/>
              </a:lnSpc>
              <a:spcBef>
                <a:spcPts val="1400"/>
              </a:spcBef>
              <a:spcAft>
                <a:spcPts val="0"/>
              </a:spcAft>
              <a:buClr>
                <a:schemeClr val="dk1"/>
              </a:buClr>
              <a:buSzPct val="61110"/>
              <a:buFont typeface="Arial"/>
              <a:buNone/>
            </a:pPr>
            <a:r>
              <a:rPr lang="en"/>
              <a:t>&lt;h1&gt;This is a heading&lt;/h1&gt;</a:t>
            </a:r>
            <a:endParaRPr/>
          </a:p>
          <a:p>
            <a:pPr marL="0" lvl="0" indent="0" algn="l" rtl="0">
              <a:lnSpc>
                <a:spcPct val="115000"/>
              </a:lnSpc>
              <a:spcBef>
                <a:spcPts val="1400"/>
              </a:spcBef>
              <a:spcAft>
                <a:spcPts val="0"/>
              </a:spcAft>
              <a:buClr>
                <a:schemeClr val="dk1"/>
              </a:buClr>
              <a:buSzPct val="61110"/>
              <a:buFont typeface="Arial"/>
              <a:buNone/>
            </a:pPr>
            <a:r>
              <a:rPr lang="en"/>
              <a:t>&lt;p&gt;This is a paragraph.&lt;/p&gt;</a:t>
            </a:r>
            <a:endParaRPr/>
          </a:p>
          <a:p>
            <a:pPr marL="0" lvl="0" indent="0" algn="l" rtl="0">
              <a:lnSpc>
                <a:spcPct val="115000"/>
              </a:lnSpc>
              <a:spcBef>
                <a:spcPts val="1400"/>
              </a:spcBef>
              <a:spcAft>
                <a:spcPts val="0"/>
              </a:spcAft>
              <a:buClr>
                <a:schemeClr val="dk1"/>
              </a:buClr>
              <a:buSzPct val="61110"/>
              <a:buFont typeface="Arial"/>
              <a:buNone/>
            </a:pPr>
            <a:r>
              <a:rPr lang="en"/>
              <a:t>When tags like &lt;font&gt;, and color attributes were added to the HTML 3.2 specification, it started a nightmare for web developers. Development of large websites, where fonts and color information were added to every single page, became a long and expensive process.</a:t>
            </a:r>
            <a:endParaRPr/>
          </a:p>
          <a:p>
            <a:pPr marL="0" lvl="0" indent="0" algn="l" rtl="0">
              <a:lnSpc>
                <a:spcPct val="115000"/>
              </a:lnSpc>
              <a:spcBef>
                <a:spcPts val="1400"/>
              </a:spcBef>
              <a:spcAft>
                <a:spcPts val="0"/>
              </a:spcAft>
              <a:buClr>
                <a:schemeClr val="dk1"/>
              </a:buClr>
              <a:buSzPct val="61110"/>
              <a:buFont typeface="Arial"/>
              <a:buNone/>
            </a:pPr>
            <a:r>
              <a:rPr lang="en"/>
              <a:t>To solve this problem, the World Wide Web Consortium (W3C) created CSS.</a:t>
            </a:r>
            <a:endParaRPr/>
          </a:p>
          <a:p>
            <a:pPr marL="0" lvl="0" indent="0" algn="l" rtl="0">
              <a:lnSpc>
                <a:spcPct val="115000"/>
              </a:lnSpc>
              <a:spcBef>
                <a:spcPts val="1400"/>
              </a:spcBef>
              <a:spcAft>
                <a:spcPts val="1400"/>
              </a:spcAft>
              <a:buSzPct val="117647"/>
              <a:buNone/>
            </a:pPr>
            <a:r>
              <a:rPr lang="en"/>
              <a:t>CSS removed the style formatting from the HTML page!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5"/>
          <p:cNvSpPr txBox="1">
            <a:spLocks noGrp="1"/>
          </p:cNvSpPr>
          <p:nvPr>
            <p:ph type="title"/>
          </p:nvPr>
        </p:nvSpPr>
        <p:spPr>
          <a:xfrm>
            <a:off x="311700" y="434875"/>
            <a:ext cx="2808000" cy="696600"/>
          </a:xfrm>
          <a:prstGeom prst="rect">
            <a:avLst/>
          </a:prstGeom>
          <a:noFill/>
          <a:ln>
            <a:noFill/>
          </a:ln>
        </p:spPr>
        <p:txBody>
          <a:bodyPr spcFirstLastPara="1" wrap="square" lIns="91425" tIns="91425" rIns="91425" bIns="91425" anchor="b" anchorCtr="0">
            <a:normAutofit/>
          </a:bodyPr>
          <a:lstStyle/>
          <a:p>
            <a:pPr marL="0" lvl="0" indent="0" algn="l" rtl="0">
              <a:lnSpc>
                <a:spcPct val="100000"/>
              </a:lnSpc>
              <a:spcBef>
                <a:spcPts val="0"/>
              </a:spcBef>
              <a:spcAft>
                <a:spcPts val="0"/>
              </a:spcAft>
              <a:buSzPts val="2400"/>
              <a:buNone/>
            </a:pPr>
            <a:r>
              <a:rPr lang="en" sz="2700"/>
              <a:t>CSS Syntax</a:t>
            </a:r>
            <a:endParaRPr sz="2700"/>
          </a:p>
        </p:txBody>
      </p:sp>
      <p:sp>
        <p:nvSpPr>
          <p:cNvPr id="83" name="Google Shape;83;p5"/>
          <p:cNvSpPr txBox="1">
            <a:spLocks noGrp="1"/>
          </p:cNvSpPr>
          <p:nvPr>
            <p:ph type="body" idx="1"/>
          </p:nvPr>
        </p:nvSpPr>
        <p:spPr>
          <a:xfrm>
            <a:off x="311700" y="1389600"/>
            <a:ext cx="4260300" cy="31794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1400"/>
              </a:spcBef>
              <a:spcAft>
                <a:spcPts val="0"/>
              </a:spcAft>
              <a:buSzPts val="1600"/>
              <a:buAutoNum type="arabicPeriod"/>
            </a:pPr>
            <a:r>
              <a:rPr lang="en" sz="1600"/>
              <a:t>The selector points to the HTML element you want to style.</a:t>
            </a:r>
            <a:endParaRPr sz="1600"/>
          </a:p>
          <a:p>
            <a:pPr marL="457200" lvl="0" indent="-330200" algn="l" rtl="0">
              <a:lnSpc>
                <a:spcPct val="115000"/>
              </a:lnSpc>
              <a:spcBef>
                <a:spcPts val="0"/>
              </a:spcBef>
              <a:spcAft>
                <a:spcPts val="0"/>
              </a:spcAft>
              <a:buSzPts val="1600"/>
              <a:buAutoNum type="arabicPeriod"/>
            </a:pPr>
            <a:r>
              <a:rPr lang="en" sz="1600"/>
              <a:t>The declaration block contains one or more declarations separated by semicolons.</a:t>
            </a:r>
            <a:endParaRPr sz="1600"/>
          </a:p>
          <a:p>
            <a:pPr marL="457200" lvl="0" indent="-330200" algn="l" rtl="0">
              <a:lnSpc>
                <a:spcPct val="115000"/>
              </a:lnSpc>
              <a:spcBef>
                <a:spcPts val="0"/>
              </a:spcBef>
              <a:spcAft>
                <a:spcPts val="0"/>
              </a:spcAft>
              <a:buSzPts val="1600"/>
              <a:buAutoNum type="arabicPeriod"/>
            </a:pPr>
            <a:r>
              <a:rPr lang="en" sz="1600"/>
              <a:t>Each declaration includes a CSS property name and a value, separated by a colon.</a:t>
            </a:r>
            <a:endParaRPr sz="1600"/>
          </a:p>
          <a:p>
            <a:pPr marL="457200" lvl="0" indent="-330200" algn="l" rtl="0">
              <a:lnSpc>
                <a:spcPct val="115000"/>
              </a:lnSpc>
              <a:spcBef>
                <a:spcPts val="0"/>
              </a:spcBef>
              <a:spcAft>
                <a:spcPts val="0"/>
              </a:spcAft>
              <a:buSzPts val="1600"/>
              <a:buAutoNum type="arabicPeriod"/>
            </a:pPr>
            <a:r>
              <a:rPr lang="en" sz="1600"/>
              <a:t>Multiple CSS declarations are separated with semicolons, and declaration blocks are surrounded by curly braces.</a:t>
            </a:r>
            <a:endParaRPr sz="1600"/>
          </a:p>
        </p:txBody>
      </p:sp>
      <p:pic>
        <p:nvPicPr>
          <p:cNvPr id="84" name="Google Shape;84;p5"/>
          <p:cNvPicPr preferRelativeResize="0"/>
          <p:nvPr/>
        </p:nvPicPr>
        <p:blipFill rotWithShape="1">
          <a:blip r:embed="rId3">
            <a:alphaModFix/>
          </a:blip>
          <a:srcRect/>
          <a:stretch/>
        </p:blipFill>
        <p:spPr>
          <a:xfrm>
            <a:off x="4918157" y="2156509"/>
            <a:ext cx="3970927" cy="830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6"/>
          <p:cNvSpPr txBox="1">
            <a:spLocks noGrp="1"/>
          </p:cNvSpPr>
          <p:nvPr>
            <p:ph type="title"/>
          </p:nvPr>
        </p:nvSpPr>
        <p:spPr>
          <a:xfrm>
            <a:off x="344250" y="1403850"/>
            <a:ext cx="8455500" cy="2146800"/>
          </a:xfrm>
          <a:prstGeom prst="rect">
            <a:avLst/>
          </a:prstGeom>
          <a:solidFill>
            <a:srgbClr val="FFFFFF"/>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800"/>
              <a:buNone/>
            </a:pPr>
            <a:r>
              <a:rPr lang="en"/>
              <a:t>CSS Selectors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The CSS Element Selector </a:t>
            </a:r>
            <a:endParaRPr/>
          </a:p>
        </p:txBody>
      </p:sp>
      <p:sp>
        <p:nvSpPr>
          <p:cNvPr id="95" name="Google Shape;95;p7"/>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lnSpc>
                <a:spcPct val="100000"/>
              </a:lnSpc>
              <a:spcBef>
                <a:spcPts val="0"/>
              </a:spcBef>
              <a:spcAft>
                <a:spcPts val="0"/>
              </a:spcAft>
              <a:buClr>
                <a:schemeClr val="dk2"/>
              </a:buClr>
              <a:buSzPct val="61110"/>
              <a:buFont typeface="Arial"/>
              <a:buNone/>
            </a:pPr>
            <a:r>
              <a:rPr lang="en"/>
              <a:t>&lt;!DOCTYPE html&gt;</a:t>
            </a:r>
            <a:endParaRPr/>
          </a:p>
          <a:p>
            <a:pPr marL="0" lvl="0" indent="0" algn="l" rtl="0">
              <a:lnSpc>
                <a:spcPct val="100000"/>
              </a:lnSpc>
              <a:spcBef>
                <a:spcPts val="0"/>
              </a:spcBef>
              <a:spcAft>
                <a:spcPts val="0"/>
              </a:spcAft>
              <a:buClr>
                <a:schemeClr val="dk2"/>
              </a:buClr>
              <a:buSzPct val="61110"/>
              <a:buFont typeface="Arial"/>
              <a:buNone/>
            </a:pPr>
            <a:r>
              <a:rPr lang="en"/>
              <a:t>&lt;html&gt;</a:t>
            </a:r>
            <a:endParaRPr/>
          </a:p>
          <a:p>
            <a:pPr marL="0" lvl="0" indent="0" algn="l" rtl="0">
              <a:lnSpc>
                <a:spcPct val="100000"/>
              </a:lnSpc>
              <a:spcBef>
                <a:spcPts val="0"/>
              </a:spcBef>
              <a:spcAft>
                <a:spcPts val="0"/>
              </a:spcAft>
              <a:buClr>
                <a:schemeClr val="dk2"/>
              </a:buClr>
              <a:buSzPct val="61110"/>
              <a:buFont typeface="Arial"/>
              <a:buNone/>
            </a:pPr>
            <a:r>
              <a:rPr lang="en"/>
              <a:t>&lt;head&gt;</a:t>
            </a:r>
            <a:endParaRPr/>
          </a:p>
          <a:p>
            <a:pPr marL="0" lvl="0" indent="0" algn="l" rtl="0">
              <a:lnSpc>
                <a:spcPct val="100000"/>
              </a:lnSpc>
              <a:spcBef>
                <a:spcPts val="0"/>
              </a:spcBef>
              <a:spcAft>
                <a:spcPts val="0"/>
              </a:spcAft>
              <a:buClr>
                <a:schemeClr val="dk2"/>
              </a:buClr>
              <a:buSzPct val="61110"/>
              <a:buFont typeface="Arial"/>
              <a:buNone/>
            </a:pPr>
            <a:r>
              <a:rPr lang="en"/>
              <a:t>&lt;style&gt;</a:t>
            </a:r>
            <a:endParaRPr/>
          </a:p>
          <a:p>
            <a:pPr marL="0" lvl="0" indent="0" algn="l" rtl="0">
              <a:lnSpc>
                <a:spcPct val="100000"/>
              </a:lnSpc>
              <a:spcBef>
                <a:spcPts val="0"/>
              </a:spcBef>
              <a:spcAft>
                <a:spcPts val="0"/>
              </a:spcAft>
              <a:buClr>
                <a:schemeClr val="dk2"/>
              </a:buClr>
              <a:buSzPct val="61110"/>
              <a:buFont typeface="Arial"/>
              <a:buNone/>
            </a:pPr>
            <a:r>
              <a:rPr lang="en" b="1"/>
              <a:t>p {</a:t>
            </a:r>
            <a:endParaRPr b="1"/>
          </a:p>
          <a:p>
            <a:pPr marL="0" lvl="0" indent="457200" algn="l" rtl="0">
              <a:lnSpc>
                <a:spcPct val="100000"/>
              </a:lnSpc>
              <a:spcBef>
                <a:spcPts val="0"/>
              </a:spcBef>
              <a:spcAft>
                <a:spcPts val="0"/>
              </a:spcAft>
              <a:buClr>
                <a:schemeClr val="dk2"/>
              </a:buClr>
              <a:buSzPct val="61110"/>
              <a:buFont typeface="Arial"/>
              <a:buNone/>
            </a:pPr>
            <a:r>
              <a:rPr lang="en" b="1">
                <a:solidFill>
                  <a:srgbClr val="FF0000"/>
                </a:solidFill>
              </a:rPr>
              <a:t>text-align: </a:t>
            </a:r>
            <a:r>
              <a:rPr lang="en" b="1"/>
              <a:t>center;</a:t>
            </a:r>
            <a:endParaRPr b="1"/>
          </a:p>
          <a:p>
            <a:pPr marL="0" lvl="0" indent="0" algn="l" rtl="0">
              <a:lnSpc>
                <a:spcPct val="100000"/>
              </a:lnSpc>
              <a:spcBef>
                <a:spcPts val="0"/>
              </a:spcBef>
              <a:spcAft>
                <a:spcPts val="0"/>
              </a:spcAft>
              <a:buClr>
                <a:schemeClr val="dk2"/>
              </a:buClr>
              <a:buSzPct val="61110"/>
              <a:buFont typeface="Arial"/>
              <a:buNone/>
            </a:pPr>
            <a:r>
              <a:rPr lang="en" b="1"/>
              <a:t> 	</a:t>
            </a:r>
            <a:r>
              <a:rPr lang="en" b="1">
                <a:solidFill>
                  <a:srgbClr val="FF0000"/>
                </a:solidFill>
              </a:rPr>
              <a:t>color</a:t>
            </a:r>
            <a:r>
              <a:rPr lang="en" b="1"/>
              <a:t>: red;</a:t>
            </a:r>
            <a:endParaRPr b="1"/>
          </a:p>
          <a:p>
            <a:pPr marL="0" lvl="0" indent="0" algn="l" rtl="0">
              <a:lnSpc>
                <a:spcPct val="100000"/>
              </a:lnSpc>
              <a:spcBef>
                <a:spcPts val="0"/>
              </a:spcBef>
              <a:spcAft>
                <a:spcPts val="0"/>
              </a:spcAft>
              <a:buClr>
                <a:schemeClr val="dk2"/>
              </a:buClr>
              <a:buSzPct val="61110"/>
              <a:buFont typeface="Arial"/>
              <a:buNone/>
            </a:pPr>
            <a:r>
              <a:rPr lang="en" b="1"/>
              <a:t>} </a:t>
            </a:r>
            <a:endParaRPr b="1"/>
          </a:p>
          <a:p>
            <a:pPr marL="0" lvl="0" indent="0" algn="l" rtl="0">
              <a:lnSpc>
                <a:spcPct val="100000"/>
              </a:lnSpc>
              <a:spcBef>
                <a:spcPts val="0"/>
              </a:spcBef>
              <a:spcAft>
                <a:spcPts val="0"/>
              </a:spcAft>
              <a:buClr>
                <a:schemeClr val="dk2"/>
              </a:buClr>
              <a:buSzPct val="61110"/>
              <a:buFont typeface="Arial"/>
              <a:buNone/>
            </a:pPr>
            <a:r>
              <a:rPr lang="en"/>
              <a:t>&lt;/style&gt;</a:t>
            </a:r>
            <a:endParaRPr/>
          </a:p>
          <a:p>
            <a:pPr marL="0" lvl="0" indent="0" algn="l" rtl="0">
              <a:lnSpc>
                <a:spcPct val="100000"/>
              </a:lnSpc>
              <a:spcBef>
                <a:spcPts val="0"/>
              </a:spcBef>
              <a:spcAft>
                <a:spcPts val="0"/>
              </a:spcAft>
              <a:buClr>
                <a:schemeClr val="dk2"/>
              </a:buClr>
              <a:buSzPct val="61110"/>
              <a:buFont typeface="Arial"/>
              <a:buNone/>
            </a:pPr>
            <a:r>
              <a:rPr lang="en"/>
              <a:t>&lt;/head&gt;</a:t>
            </a:r>
            <a:endParaRPr/>
          </a:p>
          <a:p>
            <a:pPr marL="0" lvl="0" indent="0" algn="l" rtl="0">
              <a:lnSpc>
                <a:spcPct val="100000"/>
              </a:lnSpc>
              <a:spcBef>
                <a:spcPts val="0"/>
              </a:spcBef>
              <a:spcAft>
                <a:spcPts val="0"/>
              </a:spcAft>
              <a:buClr>
                <a:schemeClr val="dk2"/>
              </a:buClr>
              <a:buSzPct val="61110"/>
              <a:buFont typeface="Arial"/>
              <a:buNone/>
            </a:pPr>
            <a:r>
              <a:rPr lang="en"/>
              <a:t>&lt;body&gt;</a:t>
            </a:r>
            <a:endParaRPr/>
          </a:p>
          <a:p>
            <a:pPr marL="0" lvl="0" indent="0" algn="l" rtl="0">
              <a:lnSpc>
                <a:spcPct val="100000"/>
              </a:lnSpc>
              <a:spcBef>
                <a:spcPts val="0"/>
              </a:spcBef>
              <a:spcAft>
                <a:spcPts val="0"/>
              </a:spcAft>
              <a:buClr>
                <a:schemeClr val="dk2"/>
              </a:buClr>
              <a:buSzPct val="61110"/>
              <a:buFont typeface="Arial"/>
              <a:buNone/>
            </a:pPr>
            <a:endParaRPr/>
          </a:p>
          <a:p>
            <a:pPr marL="0" lvl="0" indent="0" algn="l" rtl="0">
              <a:lnSpc>
                <a:spcPct val="100000"/>
              </a:lnSpc>
              <a:spcBef>
                <a:spcPts val="0"/>
              </a:spcBef>
              <a:spcAft>
                <a:spcPts val="0"/>
              </a:spcAft>
              <a:buClr>
                <a:schemeClr val="dk2"/>
              </a:buClr>
              <a:buSzPct val="61110"/>
              <a:buFont typeface="Arial"/>
              <a:buNone/>
            </a:pPr>
            <a:r>
              <a:rPr lang="en"/>
              <a:t>&lt;p&gt;Every paragraph will be affected by the style.&lt;/p&gt;</a:t>
            </a:r>
            <a:endParaRPr/>
          </a:p>
          <a:p>
            <a:pPr marL="0" lvl="0" indent="0" algn="l" rtl="0">
              <a:lnSpc>
                <a:spcPct val="100000"/>
              </a:lnSpc>
              <a:spcBef>
                <a:spcPts val="0"/>
              </a:spcBef>
              <a:spcAft>
                <a:spcPts val="0"/>
              </a:spcAft>
              <a:buClr>
                <a:schemeClr val="dk2"/>
              </a:buClr>
              <a:buSzPct val="61110"/>
              <a:buFont typeface="Arial"/>
              <a:buNone/>
            </a:pPr>
            <a:r>
              <a:rPr lang="en"/>
              <a:t>&lt;p id="para1"&gt;Me too!&lt;/p&gt;</a:t>
            </a:r>
            <a:endParaRPr/>
          </a:p>
          <a:p>
            <a:pPr marL="0" lvl="0" indent="0" algn="l" rtl="0">
              <a:lnSpc>
                <a:spcPct val="100000"/>
              </a:lnSpc>
              <a:spcBef>
                <a:spcPts val="0"/>
              </a:spcBef>
              <a:spcAft>
                <a:spcPts val="0"/>
              </a:spcAft>
              <a:buClr>
                <a:schemeClr val="dk2"/>
              </a:buClr>
              <a:buSzPct val="61110"/>
              <a:buFont typeface="Arial"/>
              <a:buNone/>
            </a:pPr>
            <a:r>
              <a:rPr lang="en"/>
              <a:t>&lt;p&gt;And me!&lt;/p&gt;</a:t>
            </a:r>
            <a:endParaRPr/>
          </a:p>
          <a:p>
            <a:pPr marL="0" lvl="0" indent="0" algn="l" rtl="0">
              <a:lnSpc>
                <a:spcPct val="100000"/>
              </a:lnSpc>
              <a:spcBef>
                <a:spcPts val="0"/>
              </a:spcBef>
              <a:spcAft>
                <a:spcPts val="0"/>
              </a:spcAft>
              <a:buClr>
                <a:schemeClr val="dk2"/>
              </a:buClr>
              <a:buSzPct val="61110"/>
              <a:buFont typeface="Arial"/>
              <a:buNone/>
            </a:pPr>
            <a:endParaRPr/>
          </a:p>
          <a:p>
            <a:pPr marL="0" lvl="0" indent="0" algn="l" rtl="0">
              <a:lnSpc>
                <a:spcPct val="100000"/>
              </a:lnSpc>
              <a:spcBef>
                <a:spcPts val="0"/>
              </a:spcBef>
              <a:spcAft>
                <a:spcPts val="0"/>
              </a:spcAft>
              <a:buClr>
                <a:schemeClr val="dk2"/>
              </a:buClr>
              <a:buSzPct val="61110"/>
              <a:buFont typeface="Arial"/>
              <a:buNone/>
            </a:pPr>
            <a:r>
              <a:rPr lang="en"/>
              <a:t>&lt;/body&gt;</a:t>
            </a:r>
            <a:endParaRPr/>
          </a:p>
          <a:p>
            <a:pPr marL="0" lvl="0" indent="0" algn="l" rtl="0">
              <a:lnSpc>
                <a:spcPct val="100000"/>
              </a:lnSpc>
              <a:spcBef>
                <a:spcPts val="0"/>
              </a:spcBef>
              <a:spcAft>
                <a:spcPts val="0"/>
              </a:spcAft>
              <a:buSzPct val="129032"/>
              <a:buNone/>
            </a:pPr>
            <a:r>
              <a:rPr lang="en"/>
              <a:t>&lt;/html&gt;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The CSS Id Selector</a:t>
            </a:r>
            <a:endParaRPr/>
          </a:p>
        </p:txBody>
      </p:sp>
      <p:sp>
        <p:nvSpPr>
          <p:cNvPr id="101" name="Google Shape;101;p8"/>
          <p:cNvSpPr txBox="1">
            <a:spLocks noGrp="1"/>
          </p:cNvSpPr>
          <p:nvPr>
            <p:ph type="body" idx="1"/>
          </p:nvPr>
        </p:nvSpPr>
        <p:spPr>
          <a:xfrm>
            <a:off x="311700" y="1234075"/>
            <a:ext cx="4169989" cy="3710458"/>
          </a:xfrm>
          <a:prstGeom prst="rect">
            <a:avLst/>
          </a:prstGeom>
          <a:noFill/>
          <a:ln>
            <a:noFill/>
          </a:ln>
        </p:spPr>
        <p:txBody>
          <a:bodyPr spcFirstLastPara="1" wrap="square" lIns="91425" tIns="91425" rIns="91425" bIns="91425" anchor="t" anchorCtr="0">
            <a:normAutofit fontScale="85000" lnSpcReduction="20000"/>
          </a:bodyPr>
          <a:lstStyle/>
          <a:p>
            <a:pPr marL="0" lvl="0" indent="0" algn="l" rtl="0">
              <a:lnSpc>
                <a:spcPct val="115000"/>
              </a:lnSpc>
              <a:spcBef>
                <a:spcPts val="0"/>
              </a:spcBef>
              <a:spcAft>
                <a:spcPts val="0"/>
              </a:spcAft>
              <a:buClr>
                <a:schemeClr val="dk2"/>
              </a:buClr>
              <a:buSzPct val="61110"/>
              <a:buFont typeface="Arial"/>
              <a:buNone/>
            </a:pPr>
            <a:r>
              <a:rPr lang="en" dirty="0"/>
              <a:t>&lt;!DOCTYPE html&gt;</a:t>
            </a:r>
            <a:endParaRPr dirty="0"/>
          </a:p>
          <a:p>
            <a:pPr marL="0" lvl="0" indent="0" algn="l" rtl="0">
              <a:lnSpc>
                <a:spcPct val="115000"/>
              </a:lnSpc>
              <a:spcBef>
                <a:spcPts val="0"/>
              </a:spcBef>
              <a:spcAft>
                <a:spcPts val="0"/>
              </a:spcAft>
              <a:buClr>
                <a:schemeClr val="dk2"/>
              </a:buClr>
              <a:buSzPct val="61110"/>
              <a:buFont typeface="Arial"/>
              <a:buNone/>
            </a:pPr>
            <a:r>
              <a:rPr lang="en" dirty="0"/>
              <a:t>&lt;html&gt;</a:t>
            </a:r>
            <a:endParaRPr dirty="0"/>
          </a:p>
          <a:p>
            <a:pPr marL="0" lvl="0" indent="0" algn="l" rtl="0">
              <a:lnSpc>
                <a:spcPct val="115000"/>
              </a:lnSpc>
              <a:spcBef>
                <a:spcPts val="0"/>
              </a:spcBef>
              <a:spcAft>
                <a:spcPts val="0"/>
              </a:spcAft>
              <a:buClr>
                <a:schemeClr val="dk2"/>
              </a:buClr>
              <a:buSzPct val="61110"/>
              <a:buFont typeface="Arial"/>
              <a:buNone/>
            </a:pPr>
            <a:r>
              <a:rPr lang="en" dirty="0"/>
              <a:t>&lt;head&gt;</a:t>
            </a:r>
            <a:endParaRPr dirty="0"/>
          </a:p>
          <a:p>
            <a:pPr marL="0" lvl="0" indent="0" algn="l" rtl="0">
              <a:lnSpc>
                <a:spcPct val="115000"/>
              </a:lnSpc>
              <a:spcBef>
                <a:spcPts val="0"/>
              </a:spcBef>
              <a:spcAft>
                <a:spcPts val="0"/>
              </a:spcAft>
              <a:buClr>
                <a:schemeClr val="dk2"/>
              </a:buClr>
              <a:buSzPct val="61110"/>
              <a:buFont typeface="Arial"/>
              <a:buNone/>
            </a:pPr>
            <a:r>
              <a:rPr lang="en" dirty="0"/>
              <a:t>&lt;style&gt;</a:t>
            </a:r>
            <a:endParaRPr dirty="0"/>
          </a:p>
          <a:p>
            <a:pPr marL="0" lvl="0" indent="0" algn="l" rtl="0">
              <a:lnSpc>
                <a:spcPct val="115000"/>
              </a:lnSpc>
              <a:spcBef>
                <a:spcPts val="0"/>
              </a:spcBef>
              <a:spcAft>
                <a:spcPts val="0"/>
              </a:spcAft>
              <a:buClr>
                <a:schemeClr val="dk2"/>
              </a:buClr>
              <a:buSzPct val="61110"/>
              <a:buFont typeface="Arial"/>
              <a:buNone/>
            </a:pPr>
            <a:r>
              <a:rPr lang="en" b="1" dirty="0"/>
              <a:t>#para1 {</a:t>
            </a:r>
            <a:endParaRPr b="1" dirty="0"/>
          </a:p>
          <a:p>
            <a:pPr marL="0" lvl="0" indent="0" algn="l" rtl="0">
              <a:lnSpc>
                <a:spcPct val="115000"/>
              </a:lnSpc>
              <a:spcBef>
                <a:spcPts val="0"/>
              </a:spcBef>
              <a:spcAft>
                <a:spcPts val="0"/>
              </a:spcAft>
              <a:buClr>
                <a:schemeClr val="dk2"/>
              </a:buClr>
              <a:buSzPct val="61110"/>
              <a:buFont typeface="Arial"/>
              <a:buNone/>
            </a:pPr>
            <a:r>
              <a:rPr lang="en" b="1" dirty="0"/>
              <a:t>  	</a:t>
            </a:r>
            <a:r>
              <a:rPr lang="en" b="1" dirty="0">
                <a:solidFill>
                  <a:srgbClr val="FF0000"/>
                </a:solidFill>
              </a:rPr>
              <a:t>text-align:</a:t>
            </a:r>
            <a:r>
              <a:rPr lang="en" b="1" dirty="0"/>
              <a:t> center;</a:t>
            </a:r>
            <a:endParaRPr b="1" dirty="0"/>
          </a:p>
          <a:p>
            <a:pPr marL="0" lvl="0" indent="0" algn="l" rtl="0">
              <a:lnSpc>
                <a:spcPct val="115000"/>
              </a:lnSpc>
              <a:spcBef>
                <a:spcPts val="0"/>
              </a:spcBef>
              <a:spcAft>
                <a:spcPts val="0"/>
              </a:spcAft>
              <a:buClr>
                <a:schemeClr val="dk2"/>
              </a:buClr>
              <a:buSzPct val="61110"/>
              <a:buFont typeface="Arial"/>
              <a:buNone/>
            </a:pPr>
            <a:r>
              <a:rPr lang="en" b="1" dirty="0"/>
              <a:t>  	</a:t>
            </a:r>
            <a:r>
              <a:rPr lang="en" b="1" dirty="0">
                <a:solidFill>
                  <a:srgbClr val="FF0000"/>
                </a:solidFill>
              </a:rPr>
              <a:t>color</a:t>
            </a:r>
            <a:r>
              <a:rPr lang="en" b="1" dirty="0"/>
              <a:t>: red;</a:t>
            </a:r>
            <a:endParaRPr b="1" dirty="0"/>
          </a:p>
          <a:p>
            <a:pPr marL="0" lvl="0" indent="0" algn="l" rtl="0">
              <a:lnSpc>
                <a:spcPct val="115000"/>
              </a:lnSpc>
              <a:spcBef>
                <a:spcPts val="0"/>
              </a:spcBef>
              <a:spcAft>
                <a:spcPts val="0"/>
              </a:spcAft>
              <a:buClr>
                <a:schemeClr val="dk2"/>
              </a:buClr>
              <a:buSzPct val="61110"/>
              <a:buFont typeface="Arial"/>
              <a:buNone/>
            </a:pPr>
            <a:r>
              <a:rPr lang="en" b="1" dirty="0"/>
              <a:t>}</a:t>
            </a:r>
            <a:endParaRPr b="1" dirty="0"/>
          </a:p>
          <a:p>
            <a:pPr marL="0" lvl="0" indent="0" algn="l" rtl="0">
              <a:lnSpc>
                <a:spcPct val="115000"/>
              </a:lnSpc>
              <a:spcBef>
                <a:spcPts val="0"/>
              </a:spcBef>
              <a:spcAft>
                <a:spcPts val="0"/>
              </a:spcAft>
              <a:buClr>
                <a:schemeClr val="dk2"/>
              </a:buClr>
              <a:buSzPct val="61110"/>
              <a:buFont typeface="Arial"/>
              <a:buNone/>
            </a:pPr>
            <a:r>
              <a:rPr lang="en" dirty="0"/>
              <a:t>&lt;/style&gt;</a:t>
            </a:r>
            <a:endParaRPr dirty="0"/>
          </a:p>
          <a:p>
            <a:pPr marL="0" lvl="0" indent="0" algn="l" rtl="0">
              <a:lnSpc>
                <a:spcPct val="115000"/>
              </a:lnSpc>
              <a:spcBef>
                <a:spcPts val="0"/>
              </a:spcBef>
              <a:spcAft>
                <a:spcPts val="0"/>
              </a:spcAft>
              <a:buClr>
                <a:schemeClr val="dk2"/>
              </a:buClr>
              <a:buSzPct val="61110"/>
              <a:buFont typeface="Arial"/>
              <a:buNone/>
            </a:pPr>
            <a:r>
              <a:rPr lang="en" dirty="0"/>
              <a:t>&lt;/head&gt;</a:t>
            </a:r>
            <a:endParaRPr dirty="0"/>
          </a:p>
          <a:p>
            <a:pPr marL="0" lvl="0" indent="0" algn="l" rtl="0">
              <a:lnSpc>
                <a:spcPct val="115000"/>
              </a:lnSpc>
              <a:spcBef>
                <a:spcPts val="0"/>
              </a:spcBef>
              <a:spcAft>
                <a:spcPts val="0"/>
              </a:spcAft>
              <a:buClr>
                <a:schemeClr val="dk2"/>
              </a:buClr>
              <a:buSzPct val="61110"/>
              <a:buFont typeface="Arial"/>
              <a:buNone/>
            </a:pPr>
            <a:r>
              <a:rPr lang="en" dirty="0"/>
              <a:t>&lt;body&gt;</a:t>
            </a:r>
            <a:endParaRPr dirty="0"/>
          </a:p>
          <a:p>
            <a:pPr marL="0" lvl="0" indent="0" algn="l" rtl="0">
              <a:lnSpc>
                <a:spcPct val="115000"/>
              </a:lnSpc>
              <a:spcBef>
                <a:spcPts val="0"/>
              </a:spcBef>
              <a:spcAft>
                <a:spcPts val="0"/>
              </a:spcAft>
              <a:buClr>
                <a:schemeClr val="dk2"/>
              </a:buClr>
              <a:buSzPct val="61111"/>
              <a:buFont typeface="Arial"/>
              <a:buNone/>
            </a:pPr>
            <a:r>
              <a:rPr lang="en" dirty="0"/>
              <a:t>&lt;p </a:t>
            </a:r>
            <a:r>
              <a:rPr lang="en" b="1" dirty="0"/>
              <a:t>id="para1"</a:t>
            </a:r>
            <a:r>
              <a:rPr lang="en" dirty="0"/>
              <a:t>&gt;Hello World!&lt;/p&gt;</a:t>
            </a:r>
            <a:endParaRPr dirty="0"/>
          </a:p>
          <a:p>
            <a:pPr marL="0" lvl="0" indent="0" algn="l" rtl="0">
              <a:lnSpc>
                <a:spcPct val="115000"/>
              </a:lnSpc>
              <a:spcBef>
                <a:spcPts val="0"/>
              </a:spcBef>
              <a:spcAft>
                <a:spcPts val="0"/>
              </a:spcAft>
              <a:buClr>
                <a:schemeClr val="dk2"/>
              </a:buClr>
              <a:buSzPct val="61110"/>
              <a:buFont typeface="Arial"/>
              <a:buNone/>
            </a:pPr>
            <a:r>
              <a:rPr lang="en" dirty="0"/>
              <a:t>&lt;p&gt;This paragraph is not affected by the style.&lt;/p&gt;</a:t>
            </a:r>
            <a:endParaRPr dirty="0"/>
          </a:p>
          <a:p>
            <a:pPr marL="0" lvl="0" indent="0" algn="l" rtl="0">
              <a:lnSpc>
                <a:spcPct val="115000"/>
              </a:lnSpc>
              <a:spcBef>
                <a:spcPts val="0"/>
              </a:spcBef>
              <a:spcAft>
                <a:spcPts val="0"/>
              </a:spcAft>
              <a:buClr>
                <a:schemeClr val="dk2"/>
              </a:buClr>
              <a:buSzPct val="61110"/>
              <a:buFont typeface="Arial"/>
              <a:buNone/>
            </a:pPr>
            <a:r>
              <a:rPr lang="en" dirty="0"/>
              <a:t>&lt;/body&gt;</a:t>
            </a:r>
            <a:endParaRPr dirty="0"/>
          </a:p>
          <a:p>
            <a:pPr marL="0" lvl="0" indent="0" algn="l" rtl="0">
              <a:lnSpc>
                <a:spcPct val="115000"/>
              </a:lnSpc>
              <a:spcBef>
                <a:spcPts val="0"/>
              </a:spcBef>
              <a:spcAft>
                <a:spcPts val="0"/>
              </a:spcAft>
              <a:buSzPct val="129032"/>
              <a:buNone/>
            </a:pPr>
            <a:r>
              <a:rPr lang="en" dirty="0"/>
              <a:t>&lt;/html&gt;</a:t>
            </a:r>
            <a:endParaRPr dirty="0"/>
          </a:p>
        </p:txBody>
      </p:sp>
      <p:sp>
        <p:nvSpPr>
          <p:cNvPr id="2" name="TextBox 1">
            <a:extLst>
              <a:ext uri="{FF2B5EF4-FFF2-40B4-BE49-F238E27FC236}">
                <a16:creationId xmlns:a16="http://schemas.microsoft.com/office/drawing/2014/main" id="{DB8429B5-FDCF-524A-FF30-A9211424002F}"/>
              </a:ext>
            </a:extLst>
          </p:cNvPr>
          <p:cNvSpPr txBox="1"/>
          <p:nvPr/>
        </p:nvSpPr>
        <p:spPr>
          <a:xfrm>
            <a:off x="3860799" y="445025"/>
            <a:ext cx="5091289" cy="2893100"/>
          </a:xfrm>
          <a:prstGeom prst="rect">
            <a:avLst/>
          </a:prstGeom>
          <a:noFill/>
        </p:spPr>
        <p:txBody>
          <a:bodyPr wrap="square" rtlCol="0">
            <a:spAutoFit/>
          </a:bodyPr>
          <a:lstStyle/>
          <a:p>
            <a:pPr marL="285750" indent="-285750" algn="l">
              <a:lnSpc>
                <a:spcPct val="150000"/>
              </a:lnSpc>
              <a:buFont typeface="Arial" panose="020B0604020202020204" pitchFamily="34" charset="0"/>
              <a:buChar char="•"/>
            </a:pPr>
            <a:r>
              <a:rPr lang="en-US" b="0" i="0" dirty="0">
                <a:solidFill>
                  <a:srgbClr val="000000"/>
                </a:solidFill>
                <a:effectLst/>
                <a:latin typeface="Verdana" panose="020B0604030504040204" pitchFamily="34" charset="0"/>
              </a:rPr>
              <a:t>The id selector uses the id attribute of an HTML element to select a specific element.</a:t>
            </a:r>
          </a:p>
          <a:p>
            <a:pPr marL="285750" indent="-285750" algn="l">
              <a:lnSpc>
                <a:spcPct val="150000"/>
              </a:lnSpc>
              <a:buFont typeface="Arial" panose="020B0604020202020204" pitchFamily="34" charset="0"/>
              <a:buChar char="•"/>
            </a:pPr>
            <a:r>
              <a:rPr lang="en-US" b="0" i="0" dirty="0">
                <a:solidFill>
                  <a:srgbClr val="000000"/>
                </a:solidFill>
                <a:effectLst/>
                <a:latin typeface="Verdana" panose="020B0604030504040204" pitchFamily="34" charset="0"/>
              </a:rPr>
              <a:t>The id of an element is unique within a page, so the id selector is used to select one unique element!</a:t>
            </a:r>
          </a:p>
          <a:p>
            <a:pPr marL="285750" indent="-285750" algn="l">
              <a:lnSpc>
                <a:spcPct val="150000"/>
              </a:lnSpc>
              <a:buFont typeface="Arial" panose="020B0604020202020204" pitchFamily="34" charset="0"/>
              <a:buChar char="•"/>
            </a:pPr>
            <a:r>
              <a:rPr lang="en-US" b="0" i="0" dirty="0">
                <a:solidFill>
                  <a:srgbClr val="000000"/>
                </a:solidFill>
                <a:effectLst/>
                <a:latin typeface="Verdana" panose="020B0604030504040204" pitchFamily="34" charset="0"/>
              </a:rPr>
              <a:t>To select an element with a specific id, write a hash (#) character, followed by the id of the element.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1">
                                            <p:txEl>
                                              <p:pRg st="0" end="0"/>
                                            </p:txEl>
                                          </p:spTgt>
                                        </p:tgtEl>
                                        <p:attrNameLst>
                                          <p:attrName>style.visibility</p:attrName>
                                        </p:attrNameLst>
                                      </p:cBhvr>
                                      <p:to>
                                        <p:strVal val="visible"/>
                                      </p:to>
                                    </p:set>
                                    <p:animEffect transition="in" filter="fade">
                                      <p:cBhvr>
                                        <p:cTn id="7" dur="1000"/>
                                        <p:tgtEl>
                                          <p:spTgt spid="101">
                                            <p:txEl>
                                              <p:pRg st="0" end="0"/>
                                            </p:txEl>
                                          </p:spTgt>
                                        </p:tgtEl>
                                      </p:cBhvr>
                                    </p:animEffect>
                                    <p:anim calcmode="lin" valueType="num">
                                      <p:cBhvr>
                                        <p:cTn id="8" dur="1000" fill="hold"/>
                                        <p:tgtEl>
                                          <p:spTgt spid="10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1">
                                            <p:txEl>
                                              <p:pRg st="1" end="1"/>
                                            </p:txEl>
                                          </p:spTgt>
                                        </p:tgtEl>
                                        <p:attrNameLst>
                                          <p:attrName>style.visibility</p:attrName>
                                        </p:attrNameLst>
                                      </p:cBhvr>
                                      <p:to>
                                        <p:strVal val="visible"/>
                                      </p:to>
                                    </p:set>
                                    <p:animEffect transition="in" filter="fade">
                                      <p:cBhvr>
                                        <p:cTn id="14" dur="1000"/>
                                        <p:tgtEl>
                                          <p:spTgt spid="101">
                                            <p:txEl>
                                              <p:pRg st="1" end="1"/>
                                            </p:txEl>
                                          </p:spTgt>
                                        </p:tgtEl>
                                      </p:cBhvr>
                                    </p:animEffect>
                                    <p:anim calcmode="lin" valueType="num">
                                      <p:cBhvr>
                                        <p:cTn id="15" dur="1000" fill="hold"/>
                                        <p:tgtEl>
                                          <p:spTgt spid="10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1">
                                            <p:txEl>
                                              <p:pRg st="2" end="2"/>
                                            </p:txEl>
                                          </p:spTgt>
                                        </p:tgtEl>
                                        <p:attrNameLst>
                                          <p:attrName>style.visibility</p:attrName>
                                        </p:attrNameLst>
                                      </p:cBhvr>
                                      <p:to>
                                        <p:strVal val="visible"/>
                                      </p:to>
                                    </p:set>
                                    <p:animEffect transition="in" filter="fade">
                                      <p:cBhvr>
                                        <p:cTn id="21" dur="1000"/>
                                        <p:tgtEl>
                                          <p:spTgt spid="101">
                                            <p:txEl>
                                              <p:pRg st="2" end="2"/>
                                            </p:txEl>
                                          </p:spTgt>
                                        </p:tgtEl>
                                      </p:cBhvr>
                                    </p:animEffect>
                                    <p:anim calcmode="lin" valueType="num">
                                      <p:cBhvr>
                                        <p:cTn id="22" dur="1000" fill="hold"/>
                                        <p:tgtEl>
                                          <p:spTgt spid="10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0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1">
                                            <p:txEl>
                                              <p:pRg st="3" end="3"/>
                                            </p:txEl>
                                          </p:spTgt>
                                        </p:tgtEl>
                                        <p:attrNameLst>
                                          <p:attrName>style.visibility</p:attrName>
                                        </p:attrNameLst>
                                      </p:cBhvr>
                                      <p:to>
                                        <p:strVal val="visible"/>
                                      </p:to>
                                    </p:set>
                                    <p:animEffect transition="in" filter="fade">
                                      <p:cBhvr>
                                        <p:cTn id="28" dur="1000"/>
                                        <p:tgtEl>
                                          <p:spTgt spid="101">
                                            <p:txEl>
                                              <p:pRg st="3" end="3"/>
                                            </p:txEl>
                                          </p:spTgt>
                                        </p:tgtEl>
                                      </p:cBhvr>
                                    </p:animEffect>
                                    <p:anim calcmode="lin" valueType="num">
                                      <p:cBhvr>
                                        <p:cTn id="29" dur="1000" fill="hold"/>
                                        <p:tgtEl>
                                          <p:spTgt spid="101">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0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1">
                                            <p:txEl>
                                              <p:pRg st="4" end="4"/>
                                            </p:txEl>
                                          </p:spTgt>
                                        </p:tgtEl>
                                        <p:attrNameLst>
                                          <p:attrName>style.visibility</p:attrName>
                                        </p:attrNameLst>
                                      </p:cBhvr>
                                      <p:to>
                                        <p:strVal val="visible"/>
                                      </p:to>
                                    </p:set>
                                    <p:animEffect transition="in" filter="fade">
                                      <p:cBhvr>
                                        <p:cTn id="35" dur="1000"/>
                                        <p:tgtEl>
                                          <p:spTgt spid="101">
                                            <p:txEl>
                                              <p:pRg st="4" end="4"/>
                                            </p:txEl>
                                          </p:spTgt>
                                        </p:tgtEl>
                                      </p:cBhvr>
                                    </p:animEffect>
                                    <p:anim calcmode="lin" valueType="num">
                                      <p:cBhvr>
                                        <p:cTn id="36" dur="1000" fill="hold"/>
                                        <p:tgtEl>
                                          <p:spTgt spid="101">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0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1">
                                            <p:txEl>
                                              <p:pRg st="5" end="5"/>
                                            </p:txEl>
                                          </p:spTgt>
                                        </p:tgtEl>
                                        <p:attrNameLst>
                                          <p:attrName>style.visibility</p:attrName>
                                        </p:attrNameLst>
                                      </p:cBhvr>
                                      <p:to>
                                        <p:strVal val="visible"/>
                                      </p:to>
                                    </p:set>
                                    <p:animEffect transition="in" filter="fade">
                                      <p:cBhvr>
                                        <p:cTn id="42" dur="1000"/>
                                        <p:tgtEl>
                                          <p:spTgt spid="101">
                                            <p:txEl>
                                              <p:pRg st="5" end="5"/>
                                            </p:txEl>
                                          </p:spTgt>
                                        </p:tgtEl>
                                      </p:cBhvr>
                                    </p:animEffect>
                                    <p:anim calcmode="lin" valueType="num">
                                      <p:cBhvr>
                                        <p:cTn id="43" dur="1000" fill="hold"/>
                                        <p:tgtEl>
                                          <p:spTgt spid="101">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01">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1">
                                            <p:txEl>
                                              <p:pRg st="6" end="6"/>
                                            </p:txEl>
                                          </p:spTgt>
                                        </p:tgtEl>
                                        <p:attrNameLst>
                                          <p:attrName>style.visibility</p:attrName>
                                        </p:attrNameLst>
                                      </p:cBhvr>
                                      <p:to>
                                        <p:strVal val="visible"/>
                                      </p:to>
                                    </p:set>
                                    <p:animEffect transition="in" filter="fade">
                                      <p:cBhvr>
                                        <p:cTn id="49" dur="1000"/>
                                        <p:tgtEl>
                                          <p:spTgt spid="101">
                                            <p:txEl>
                                              <p:pRg st="6" end="6"/>
                                            </p:txEl>
                                          </p:spTgt>
                                        </p:tgtEl>
                                      </p:cBhvr>
                                    </p:animEffect>
                                    <p:anim calcmode="lin" valueType="num">
                                      <p:cBhvr>
                                        <p:cTn id="50" dur="1000" fill="hold"/>
                                        <p:tgtEl>
                                          <p:spTgt spid="101">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0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1">
                                            <p:txEl>
                                              <p:pRg st="7" end="7"/>
                                            </p:txEl>
                                          </p:spTgt>
                                        </p:tgtEl>
                                        <p:attrNameLst>
                                          <p:attrName>style.visibility</p:attrName>
                                        </p:attrNameLst>
                                      </p:cBhvr>
                                      <p:to>
                                        <p:strVal val="visible"/>
                                      </p:to>
                                    </p:set>
                                    <p:animEffect transition="in" filter="fade">
                                      <p:cBhvr>
                                        <p:cTn id="56" dur="1000"/>
                                        <p:tgtEl>
                                          <p:spTgt spid="101">
                                            <p:txEl>
                                              <p:pRg st="7" end="7"/>
                                            </p:txEl>
                                          </p:spTgt>
                                        </p:tgtEl>
                                      </p:cBhvr>
                                    </p:animEffect>
                                    <p:anim calcmode="lin" valueType="num">
                                      <p:cBhvr>
                                        <p:cTn id="57" dur="1000" fill="hold"/>
                                        <p:tgtEl>
                                          <p:spTgt spid="101">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101">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1">
                                            <p:txEl>
                                              <p:pRg st="8" end="8"/>
                                            </p:txEl>
                                          </p:spTgt>
                                        </p:tgtEl>
                                        <p:attrNameLst>
                                          <p:attrName>style.visibility</p:attrName>
                                        </p:attrNameLst>
                                      </p:cBhvr>
                                      <p:to>
                                        <p:strVal val="visible"/>
                                      </p:to>
                                    </p:set>
                                    <p:animEffect transition="in" filter="fade">
                                      <p:cBhvr>
                                        <p:cTn id="63" dur="1000"/>
                                        <p:tgtEl>
                                          <p:spTgt spid="101">
                                            <p:txEl>
                                              <p:pRg st="8" end="8"/>
                                            </p:txEl>
                                          </p:spTgt>
                                        </p:tgtEl>
                                      </p:cBhvr>
                                    </p:animEffect>
                                    <p:anim calcmode="lin" valueType="num">
                                      <p:cBhvr>
                                        <p:cTn id="64" dur="1000" fill="hold"/>
                                        <p:tgtEl>
                                          <p:spTgt spid="101">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101">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1">
                                            <p:txEl>
                                              <p:pRg st="9" end="9"/>
                                            </p:txEl>
                                          </p:spTgt>
                                        </p:tgtEl>
                                        <p:attrNameLst>
                                          <p:attrName>style.visibility</p:attrName>
                                        </p:attrNameLst>
                                      </p:cBhvr>
                                      <p:to>
                                        <p:strVal val="visible"/>
                                      </p:to>
                                    </p:set>
                                    <p:animEffect transition="in" filter="fade">
                                      <p:cBhvr>
                                        <p:cTn id="70" dur="1000"/>
                                        <p:tgtEl>
                                          <p:spTgt spid="101">
                                            <p:txEl>
                                              <p:pRg st="9" end="9"/>
                                            </p:txEl>
                                          </p:spTgt>
                                        </p:tgtEl>
                                      </p:cBhvr>
                                    </p:animEffect>
                                    <p:anim calcmode="lin" valueType="num">
                                      <p:cBhvr>
                                        <p:cTn id="71" dur="1000" fill="hold"/>
                                        <p:tgtEl>
                                          <p:spTgt spid="101">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101">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1">
                                            <p:txEl>
                                              <p:pRg st="10" end="10"/>
                                            </p:txEl>
                                          </p:spTgt>
                                        </p:tgtEl>
                                        <p:attrNameLst>
                                          <p:attrName>style.visibility</p:attrName>
                                        </p:attrNameLst>
                                      </p:cBhvr>
                                      <p:to>
                                        <p:strVal val="visible"/>
                                      </p:to>
                                    </p:set>
                                    <p:animEffect transition="in" filter="fade">
                                      <p:cBhvr>
                                        <p:cTn id="77" dur="1000"/>
                                        <p:tgtEl>
                                          <p:spTgt spid="101">
                                            <p:txEl>
                                              <p:pRg st="10" end="10"/>
                                            </p:txEl>
                                          </p:spTgt>
                                        </p:tgtEl>
                                      </p:cBhvr>
                                    </p:animEffect>
                                    <p:anim calcmode="lin" valueType="num">
                                      <p:cBhvr>
                                        <p:cTn id="78" dur="1000" fill="hold"/>
                                        <p:tgtEl>
                                          <p:spTgt spid="101">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101">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1">
                                            <p:txEl>
                                              <p:pRg st="11" end="11"/>
                                            </p:txEl>
                                          </p:spTgt>
                                        </p:tgtEl>
                                        <p:attrNameLst>
                                          <p:attrName>style.visibility</p:attrName>
                                        </p:attrNameLst>
                                      </p:cBhvr>
                                      <p:to>
                                        <p:strVal val="visible"/>
                                      </p:to>
                                    </p:set>
                                    <p:animEffect transition="in" filter="fade">
                                      <p:cBhvr>
                                        <p:cTn id="84" dur="1000"/>
                                        <p:tgtEl>
                                          <p:spTgt spid="101">
                                            <p:txEl>
                                              <p:pRg st="11" end="11"/>
                                            </p:txEl>
                                          </p:spTgt>
                                        </p:tgtEl>
                                      </p:cBhvr>
                                    </p:animEffect>
                                    <p:anim calcmode="lin" valueType="num">
                                      <p:cBhvr>
                                        <p:cTn id="85" dur="1000" fill="hold"/>
                                        <p:tgtEl>
                                          <p:spTgt spid="101">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101">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01">
                                            <p:txEl>
                                              <p:pRg st="12" end="12"/>
                                            </p:txEl>
                                          </p:spTgt>
                                        </p:tgtEl>
                                        <p:attrNameLst>
                                          <p:attrName>style.visibility</p:attrName>
                                        </p:attrNameLst>
                                      </p:cBhvr>
                                      <p:to>
                                        <p:strVal val="visible"/>
                                      </p:to>
                                    </p:set>
                                    <p:animEffect transition="in" filter="fade">
                                      <p:cBhvr>
                                        <p:cTn id="91" dur="1000"/>
                                        <p:tgtEl>
                                          <p:spTgt spid="101">
                                            <p:txEl>
                                              <p:pRg st="12" end="12"/>
                                            </p:txEl>
                                          </p:spTgt>
                                        </p:tgtEl>
                                      </p:cBhvr>
                                    </p:animEffect>
                                    <p:anim calcmode="lin" valueType="num">
                                      <p:cBhvr>
                                        <p:cTn id="92" dur="1000" fill="hold"/>
                                        <p:tgtEl>
                                          <p:spTgt spid="101">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101">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01">
                                            <p:txEl>
                                              <p:pRg st="13" end="13"/>
                                            </p:txEl>
                                          </p:spTgt>
                                        </p:tgtEl>
                                        <p:attrNameLst>
                                          <p:attrName>style.visibility</p:attrName>
                                        </p:attrNameLst>
                                      </p:cBhvr>
                                      <p:to>
                                        <p:strVal val="visible"/>
                                      </p:to>
                                    </p:set>
                                    <p:animEffect transition="in" filter="fade">
                                      <p:cBhvr>
                                        <p:cTn id="98" dur="1000"/>
                                        <p:tgtEl>
                                          <p:spTgt spid="101">
                                            <p:txEl>
                                              <p:pRg st="13" end="13"/>
                                            </p:txEl>
                                          </p:spTgt>
                                        </p:tgtEl>
                                      </p:cBhvr>
                                    </p:animEffect>
                                    <p:anim calcmode="lin" valueType="num">
                                      <p:cBhvr>
                                        <p:cTn id="99" dur="1000" fill="hold"/>
                                        <p:tgtEl>
                                          <p:spTgt spid="101">
                                            <p:txEl>
                                              <p:pRg st="13" end="13"/>
                                            </p:txEl>
                                          </p:spTgt>
                                        </p:tgtEl>
                                        <p:attrNameLst>
                                          <p:attrName>ppt_x</p:attrName>
                                        </p:attrNameLst>
                                      </p:cBhvr>
                                      <p:tavLst>
                                        <p:tav tm="0">
                                          <p:val>
                                            <p:strVal val="#ppt_x"/>
                                          </p:val>
                                        </p:tav>
                                        <p:tav tm="100000">
                                          <p:val>
                                            <p:strVal val="#ppt_x"/>
                                          </p:val>
                                        </p:tav>
                                      </p:tavLst>
                                    </p:anim>
                                    <p:anim calcmode="lin" valueType="num">
                                      <p:cBhvr>
                                        <p:cTn id="100" dur="1000" fill="hold"/>
                                        <p:tgtEl>
                                          <p:spTgt spid="101">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101">
                                            <p:txEl>
                                              <p:pRg st="14" end="14"/>
                                            </p:txEl>
                                          </p:spTgt>
                                        </p:tgtEl>
                                        <p:attrNameLst>
                                          <p:attrName>style.visibility</p:attrName>
                                        </p:attrNameLst>
                                      </p:cBhvr>
                                      <p:to>
                                        <p:strVal val="visible"/>
                                      </p:to>
                                    </p:set>
                                    <p:animEffect transition="in" filter="fade">
                                      <p:cBhvr>
                                        <p:cTn id="105" dur="1000"/>
                                        <p:tgtEl>
                                          <p:spTgt spid="101">
                                            <p:txEl>
                                              <p:pRg st="14" end="14"/>
                                            </p:txEl>
                                          </p:spTgt>
                                        </p:tgtEl>
                                      </p:cBhvr>
                                    </p:animEffect>
                                    <p:anim calcmode="lin" valueType="num">
                                      <p:cBhvr>
                                        <p:cTn id="106" dur="1000" fill="hold"/>
                                        <p:tgtEl>
                                          <p:spTgt spid="101">
                                            <p:txEl>
                                              <p:pRg st="14" end="14"/>
                                            </p:txEl>
                                          </p:spTgt>
                                        </p:tgtEl>
                                        <p:attrNameLst>
                                          <p:attrName>ppt_x</p:attrName>
                                        </p:attrNameLst>
                                      </p:cBhvr>
                                      <p:tavLst>
                                        <p:tav tm="0">
                                          <p:val>
                                            <p:strVal val="#ppt_x"/>
                                          </p:val>
                                        </p:tav>
                                        <p:tav tm="100000">
                                          <p:val>
                                            <p:strVal val="#ppt_x"/>
                                          </p:val>
                                        </p:tav>
                                      </p:tavLst>
                                    </p:anim>
                                    <p:anim calcmode="lin" valueType="num">
                                      <p:cBhvr>
                                        <p:cTn id="107" dur="1000" fill="hold"/>
                                        <p:tgtEl>
                                          <p:spTgt spid="101">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The CSS Class Selector</a:t>
            </a:r>
            <a:endParaRPr/>
          </a:p>
          <a:p>
            <a:pPr marL="0" lvl="0" indent="0" algn="l" rtl="0">
              <a:lnSpc>
                <a:spcPct val="100000"/>
              </a:lnSpc>
              <a:spcBef>
                <a:spcPts val="0"/>
              </a:spcBef>
              <a:spcAft>
                <a:spcPts val="0"/>
              </a:spcAft>
              <a:buSzPct val="111111"/>
              <a:buNone/>
            </a:pPr>
            <a:endParaRPr/>
          </a:p>
        </p:txBody>
      </p:sp>
      <p:sp>
        <p:nvSpPr>
          <p:cNvPr id="107" name="Google Shape;107;p9"/>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lnSpc>
                <a:spcPct val="115000"/>
              </a:lnSpc>
              <a:spcBef>
                <a:spcPts val="0"/>
              </a:spcBef>
              <a:spcAft>
                <a:spcPts val="0"/>
              </a:spcAft>
              <a:buClr>
                <a:schemeClr val="dk2"/>
              </a:buClr>
              <a:buSzPct val="61110"/>
              <a:buFont typeface="Arial"/>
              <a:buNone/>
            </a:pPr>
            <a:r>
              <a:rPr lang="en"/>
              <a:t>&lt;!DOCTYPE html&gt;</a:t>
            </a:r>
            <a:endParaRPr/>
          </a:p>
          <a:p>
            <a:pPr marL="0" lvl="0" indent="0" algn="l" rtl="0">
              <a:lnSpc>
                <a:spcPct val="115000"/>
              </a:lnSpc>
              <a:spcBef>
                <a:spcPts val="0"/>
              </a:spcBef>
              <a:spcAft>
                <a:spcPts val="0"/>
              </a:spcAft>
              <a:buClr>
                <a:schemeClr val="dk2"/>
              </a:buClr>
              <a:buSzPct val="61110"/>
              <a:buFont typeface="Arial"/>
              <a:buNone/>
            </a:pPr>
            <a:r>
              <a:rPr lang="en"/>
              <a:t>&lt;html&gt;</a:t>
            </a:r>
            <a:endParaRPr/>
          </a:p>
          <a:p>
            <a:pPr marL="0" lvl="0" indent="0" algn="l" rtl="0">
              <a:lnSpc>
                <a:spcPct val="115000"/>
              </a:lnSpc>
              <a:spcBef>
                <a:spcPts val="0"/>
              </a:spcBef>
              <a:spcAft>
                <a:spcPts val="0"/>
              </a:spcAft>
              <a:buClr>
                <a:schemeClr val="dk2"/>
              </a:buClr>
              <a:buSzPct val="61110"/>
              <a:buFont typeface="Arial"/>
              <a:buNone/>
            </a:pPr>
            <a:r>
              <a:rPr lang="en"/>
              <a:t>&lt;head&gt;</a:t>
            </a:r>
            <a:endParaRPr/>
          </a:p>
          <a:p>
            <a:pPr marL="0" lvl="0" indent="0" algn="l" rtl="0">
              <a:lnSpc>
                <a:spcPct val="115000"/>
              </a:lnSpc>
              <a:spcBef>
                <a:spcPts val="0"/>
              </a:spcBef>
              <a:spcAft>
                <a:spcPts val="0"/>
              </a:spcAft>
              <a:buClr>
                <a:schemeClr val="dk2"/>
              </a:buClr>
              <a:buSzPct val="61110"/>
              <a:buFont typeface="Arial"/>
              <a:buNone/>
            </a:pPr>
            <a:r>
              <a:rPr lang="en"/>
              <a:t>&lt;style&gt;</a:t>
            </a:r>
            <a:endParaRPr/>
          </a:p>
          <a:p>
            <a:pPr marL="0" lvl="0" indent="0" algn="l" rtl="0">
              <a:lnSpc>
                <a:spcPct val="115000"/>
              </a:lnSpc>
              <a:spcBef>
                <a:spcPts val="0"/>
              </a:spcBef>
              <a:spcAft>
                <a:spcPts val="0"/>
              </a:spcAft>
              <a:buClr>
                <a:schemeClr val="dk2"/>
              </a:buClr>
              <a:buSzPct val="61110"/>
              <a:buFont typeface="Arial"/>
              <a:buNone/>
            </a:pPr>
            <a:r>
              <a:rPr lang="en" b="1"/>
              <a:t>.center {</a:t>
            </a:r>
            <a:endParaRPr b="1"/>
          </a:p>
          <a:p>
            <a:pPr marL="0" lvl="0" indent="0" algn="l" rtl="0">
              <a:lnSpc>
                <a:spcPct val="115000"/>
              </a:lnSpc>
              <a:spcBef>
                <a:spcPts val="0"/>
              </a:spcBef>
              <a:spcAft>
                <a:spcPts val="0"/>
              </a:spcAft>
              <a:buClr>
                <a:schemeClr val="dk2"/>
              </a:buClr>
              <a:buSzPct val="61110"/>
              <a:buFont typeface="Arial"/>
              <a:buNone/>
            </a:pPr>
            <a:r>
              <a:rPr lang="en" b="1"/>
              <a:t>  	</a:t>
            </a:r>
            <a:r>
              <a:rPr lang="en" b="1">
                <a:solidFill>
                  <a:srgbClr val="FF0000"/>
                </a:solidFill>
              </a:rPr>
              <a:t>text-align</a:t>
            </a:r>
            <a:r>
              <a:rPr lang="en" b="1"/>
              <a:t>: center;</a:t>
            </a:r>
            <a:endParaRPr b="1"/>
          </a:p>
          <a:p>
            <a:pPr marL="0" lvl="0" indent="0" algn="l" rtl="0">
              <a:lnSpc>
                <a:spcPct val="115000"/>
              </a:lnSpc>
              <a:spcBef>
                <a:spcPts val="0"/>
              </a:spcBef>
              <a:spcAft>
                <a:spcPts val="0"/>
              </a:spcAft>
              <a:buClr>
                <a:schemeClr val="dk2"/>
              </a:buClr>
              <a:buSzPct val="61110"/>
              <a:buFont typeface="Arial"/>
              <a:buNone/>
            </a:pPr>
            <a:r>
              <a:rPr lang="en" b="1"/>
              <a:t>  	</a:t>
            </a:r>
            <a:r>
              <a:rPr lang="en" b="1">
                <a:solidFill>
                  <a:srgbClr val="FF0000"/>
                </a:solidFill>
              </a:rPr>
              <a:t>color</a:t>
            </a:r>
            <a:r>
              <a:rPr lang="en" b="1"/>
              <a:t>: red;</a:t>
            </a:r>
            <a:endParaRPr b="1"/>
          </a:p>
          <a:p>
            <a:pPr marL="0" lvl="0" indent="0" algn="l" rtl="0">
              <a:lnSpc>
                <a:spcPct val="115000"/>
              </a:lnSpc>
              <a:spcBef>
                <a:spcPts val="0"/>
              </a:spcBef>
              <a:spcAft>
                <a:spcPts val="0"/>
              </a:spcAft>
              <a:buClr>
                <a:schemeClr val="dk2"/>
              </a:buClr>
              <a:buSzPct val="61110"/>
              <a:buFont typeface="Arial"/>
              <a:buNone/>
            </a:pPr>
            <a:r>
              <a:rPr lang="en"/>
              <a:t>}</a:t>
            </a:r>
            <a:endParaRPr/>
          </a:p>
          <a:p>
            <a:pPr marL="0" lvl="0" indent="0" algn="l" rtl="0">
              <a:lnSpc>
                <a:spcPct val="115000"/>
              </a:lnSpc>
              <a:spcBef>
                <a:spcPts val="0"/>
              </a:spcBef>
              <a:spcAft>
                <a:spcPts val="0"/>
              </a:spcAft>
              <a:buClr>
                <a:schemeClr val="dk2"/>
              </a:buClr>
              <a:buSzPct val="61110"/>
              <a:buFont typeface="Arial"/>
              <a:buNone/>
            </a:pPr>
            <a:r>
              <a:rPr lang="en"/>
              <a:t>&lt;/style&gt;</a:t>
            </a:r>
            <a:endParaRPr/>
          </a:p>
          <a:p>
            <a:pPr marL="0" lvl="0" indent="0" algn="l" rtl="0">
              <a:lnSpc>
                <a:spcPct val="115000"/>
              </a:lnSpc>
              <a:spcBef>
                <a:spcPts val="0"/>
              </a:spcBef>
              <a:spcAft>
                <a:spcPts val="0"/>
              </a:spcAft>
              <a:buClr>
                <a:schemeClr val="dk2"/>
              </a:buClr>
              <a:buSzPct val="61110"/>
              <a:buFont typeface="Arial"/>
              <a:buNone/>
            </a:pPr>
            <a:r>
              <a:rPr lang="en"/>
              <a:t>&lt;/head&gt;</a:t>
            </a:r>
            <a:endParaRPr/>
          </a:p>
          <a:p>
            <a:pPr marL="0" lvl="0" indent="0" algn="l" rtl="0">
              <a:lnSpc>
                <a:spcPct val="115000"/>
              </a:lnSpc>
              <a:spcBef>
                <a:spcPts val="0"/>
              </a:spcBef>
              <a:spcAft>
                <a:spcPts val="0"/>
              </a:spcAft>
              <a:buClr>
                <a:schemeClr val="dk2"/>
              </a:buClr>
              <a:buSzPct val="61110"/>
              <a:buFont typeface="Arial"/>
              <a:buNone/>
            </a:pPr>
            <a:r>
              <a:rPr lang="en"/>
              <a:t>&lt;body&gt;</a:t>
            </a:r>
            <a:endParaRPr/>
          </a:p>
          <a:p>
            <a:pPr marL="0" lvl="0" indent="0" algn="l" rtl="0">
              <a:lnSpc>
                <a:spcPct val="115000"/>
              </a:lnSpc>
              <a:spcBef>
                <a:spcPts val="0"/>
              </a:spcBef>
              <a:spcAft>
                <a:spcPts val="0"/>
              </a:spcAft>
              <a:buClr>
                <a:schemeClr val="dk2"/>
              </a:buClr>
              <a:buSzPct val="61110"/>
              <a:buFont typeface="Arial"/>
              <a:buNone/>
            </a:pPr>
            <a:r>
              <a:rPr lang="en"/>
              <a:t>&lt;h1 </a:t>
            </a:r>
            <a:r>
              <a:rPr lang="en" b="1"/>
              <a:t>class="center"</a:t>
            </a:r>
            <a:r>
              <a:rPr lang="en"/>
              <a:t>&gt;Red and center-aligned heading&lt;/h1&gt;</a:t>
            </a:r>
            <a:endParaRPr/>
          </a:p>
          <a:p>
            <a:pPr marL="0" lvl="0" indent="0" algn="l" rtl="0">
              <a:lnSpc>
                <a:spcPct val="115000"/>
              </a:lnSpc>
              <a:spcBef>
                <a:spcPts val="0"/>
              </a:spcBef>
              <a:spcAft>
                <a:spcPts val="0"/>
              </a:spcAft>
              <a:buClr>
                <a:schemeClr val="dk2"/>
              </a:buClr>
              <a:buSzPct val="61110"/>
              <a:buFont typeface="Arial"/>
              <a:buNone/>
            </a:pPr>
            <a:r>
              <a:rPr lang="en"/>
              <a:t>&lt;p </a:t>
            </a:r>
            <a:r>
              <a:rPr lang="en" b="1"/>
              <a:t>class="center"</a:t>
            </a:r>
            <a:r>
              <a:rPr lang="en"/>
              <a:t>&gt;Red and center-aligned paragraph.&lt;/p&gt; </a:t>
            </a:r>
            <a:endParaRPr/>
          </a:p>
          <a:p>
            <a:pPr marL="0" lvl="0" indent="0" algn="l" rtl="0">
              <a:lnSpc>
                <a:spcPct val="115000"/>
              </a:lnSpc>
              <a:spcBef>
                <a:spcPts val="0"/>
              </a:spcBef>
              <a:spcAft>
                <a:spcPts val="0"/>
              </a:spcAft>
              <a:buClr>
                <a:schemeClr val="dk2"/>
              </a:buClr>
              <a:buSzPct val="61110"/>
              <a:buFont typeface="Arial"/>
              <a:buNone/>
            </a:pPr>
            <a:r>
              <a:rPr lang="en"/>
              <a:t>&lt;/body&gt;</a:t>
            </a:r>
            <a:endParaRPr/>
          </a:p>
          <a:p>
            <a:pPr marL="0" lvl="0" indent="0" algn="l" rtl="0">
              <a:lnSpc>
                <a:spcPct val="115000"/>
              </a:lnSpc>
              <a:spcBef>
                <a:spcPts val="0"/>
              </a:spcBef>
              <a:spcAft>
                <a:spcPts val="0"/>
              </a:spcAft>
              <a:buSzPct val="129032"/>
              <a:buNone/>
            </a:pPr>
            <a:r>
              <a:rPr lang="en"/>
              <a:t>&lt;/html&gt;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2"/>
              </a:buClr>
              <a:buSzPct val="36666"/>
              <a:buFont typeface="Arial"/>
              <a:buNone/>
            </a:pPr>
            <a:r>
              <a:rPr lang="en"/>
              <a:t>The CSS Class Selector (continued .. )</a:t>
            </a:r>
            <a:endParaRPr/>
          </a:p>
          <a:p>
            <a:pPr marL="0" lvl="0" indent="0" algn="l" rtl="0">
              <a:lnSpc>
                <a:spcPct val="100000"/>
              </a:lnSpc>
              <a:spcBef>
                <a:spcPts val="0"/>
              </a:spcBef>
              <a:spcAft>
                <a:spcPts val="0"/>
              </a:spcAft>
              <a:buSzPct val="111111"/>
              <a:buNone/>
            </a:pPr>
            <a:endParaRPr/>
          </a:p>
        </p:txBody>
      </p:sp>
      <p:sp>
        <p:nvSpPr>
          <p:cNvPr id="113" name="Google Shape;113;p10"/>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fontScale="77500" lnSpcReduction="20000"/>
          </a:bodyPr>
          <a:lstStyle/>
          <a:p>
            <a:pPr marL="0" lvl="0" indent="0" algn="l" rtl="0">
              <a:lnSpc>
                <a:spcPct val="115000"/>
              </a:lnSpc>
              <a:spcBef>
                <a:spcPts val="0"/>
              </a:spcBef>
              <a:spcAft>
                <a:spcPts val="0"/>
              </a:spcAft>
              <a:buSzPct val="124137"/>
              <a:buNone/>
            </a:pPr>
            <a:r>
              <a:rPr lang="en"/>
              <a:t>You can also specify that only specific HTML elements should be affected by a class</a:t>
            </a:r>
            <a:r>
              <a:rPr lang="en" sz="1450">
                <a:highlight>
                  <a:srgbClr val="FFFFFF"/>
                </a:highlight>
              </a:rPr>
              <a:t>. In this example only &lt;p&gt; elements with class="center" will be red and center-aligned: </a:t>
            </a:r>
            <a:endParaRPr sz="1450">
              <a:highlight>
                <a:srgbClr val="FFFFFF"/>
              </a:highlight>
            </a:endParaRPr>
          </a:p>
          <a:p>
            <a:pPr marL="0" lvl="0" indent="0" algn="l" rtl="0">
              <a:lnSpc>
                <a:spcPct val="115000"/>
              </a:lnSpc>
              <a:spcBef>
                <a:spcPts val="1200"/>
              </a:spcBef>
              <a:spcAft>
                <a:spcPts val="0"/>
              </a:spcAft>
              <a:buClr>
                <a:schemeClr val="dk2"/>
              </a:buClr>
              <a:buSzPct val="70967"/>
              <a:buFont typeface="Arial"/>
              <a:buNone/>
            </a:pPr>
            <a:r>
              <a:rPr lang="en" sz="1550">
                <a:solidFill>
                  <a:srgbClr val="A52A2A"/>
                </a:solidFill>
                <a:highlight>
                  <a:srgbClr val="FFFFFF"/>
                </a:highlight>
              </a:rPr>
              <a:t>p.center </a:t>
            </a:r>
            <a:r>
              <a:rPr lang="en" sz="1550">
                <a:highlight>
                  <a:srgbClr val="FFFFFF"/>
                </a:highlight>
              </a:rPr>
              <a:t>{</a:t>
            </a:r>
            <a:endParaRPr sz="1550">
              <a:highlight>
                <a:srgbClr val="FFFFFF"/>
              </a:highlight>
            </a:endParaRPr>
          </a:p>
          <a:p>
            <a:pPr marL="0" lvl="0" indent="0" algn="l" rtl="0">
              <a:lnSpc>
                <a:spcPct val="115000"/>
              </a:lnSpc>
              <a:spcBef>
                <a:spcPts val="0"/>
              </a:spcBef>
              <a:spcAft>
                <a:spcPts val="0"/>
              </a:spcAft>
              <a:buClr>
                <a:schemeClr val="dk2"/>
              </a:buClr>
              <a:buSzPct val="70967"/>
              <a:buFont typeface="Arial"/>
              <a:buNone/>
            </a:pPr>
            <a:r>
              <a:rPr lang="en" sz="1550">
                <a:solidFill>
                  <a:srgbClr val="FF0000"/>
                </a:solidFill>
                <a:highlight>
                  <a:srgbClr val="FFFFFF"/>
                </a:highlight>
              </a:rPr>
              <a:t>  	text-align</a:t>
            </a:r>
            <a:r>
              <a:rPr lang="en" sz="1550">
                <a:highlight>
                  <a:srgbClr val="FFFFFF"/>
                </a:highlight>
              </a:rPr>
              <a:t>:</a:t>
            </a:r>
            <a:r>
              <a:rPr lang="en" sz="1550">
                <a:solidFill>
                  <a:srgbClr val="0000CD"/>
                </a:solidFill>
                <a:highlight>
                  <a:srgbClr val="FFFFFF"/>
                </a:highlight>
              </a:rPr>
              <a:t> center</a:t>
            </a:r>
            <a:r>
              <a:rPr lang="en" sz="1550">
                <a:highlight>
                  <a:srgbClr val="FFFFFF"/>
                </a:highlight>
              </a:rPr>
              <a:t>;</a:t>
            </a:r>
            <a:endParaRPr sz="1550">
              <a:highlight>
                <a:srgbClr val="FFFFFF"/>
              </a:highlight>
            </a:endParaRPr>
          </a:p>
          <a:p>
            <a:pPr marL="0" lvl="0" indent="0" algn="l" rtl="0">
              <a:lnSpc>
                <a:spcPct val="115000"/>
              </a:lnSpc>
              <a:spcBef>
                <a:spcPts val="0"/>
              </a:spcBef>
              <a:spcAft>
                <a:spcPts val="0"/>
              </a:spcAft>
              <a:buClr>
                <a:schemeClr val="dk2"/>
              </a:buClr>
              <a:buSzPct val="70967"/>
              <a:buFont typeface="Arial"/>
              <a:buNone/>
            </a:pPr>
            <a:r>
              <a:rPr lang="en" sz="1550">
                <a:solidFill>
                  <a:srgbClr val="FF0000"/>
                </a:solidFill>
                <a:highlight>
                  <a:srgbClr val="FFFFFF"/>
                </a:highlight>
              </a:rPr>
              <a:t>  	color</a:t>
            </a:r>
            <a:r>
              <a:rPr lang="en" sz="1550">
                <a:highlight>
                  <a:srgbClr val="FFFFFF"/>
                </a:highlight>
              </a:rPr>
              <a:t>:</a:t>
            </a:r>
            <a:r>
              <a:rPr lang="en" sz="1550">
                <a:solidFill>
                  <a:srgbClr val="0000CD"/>
                </a:solidFill>
                <a:highlight>
                  <a:srgbClr val="FFFFFF"/>
                </a:highlight>
              </a:rPr>
              <a:t> red</a:t>
            </a:r>
            <a:r>
              <a:rPr lang="en" sz="1550">
                <a:highlight>
                  <a:srgbClr val="FFFFFF"/>
                </a:highlight>
              </a:rPr>
              <a:t>;</a:t>
            </a:r>
            <a:endParaRPr sz="1550">
              <a:highlight>
                <a:srgbClr val="FFFFFF"/>
              </a:highlight>
            </a:endParaRPr>
          </a:p>
          <a:p>
            <a:pPr marL="0" lvl="0" indent="0" algn="l" rtl="0">
              <a:lnSpc>
                <a:spcPct val="115000"/>
              </a:lnSpc>
              <a:spcBef>
                <a:spcPts val="0"/>
              </a:spcBef>
              <a:spcAft>
                <a:spcPts val="0"/>
              </a:spcAft>
              <a:buSzPct val="116129"/>
              <a:buNone/>
            </a:pPr>
            <a:r>
              <a:rPr lang="en" sz="1550">
                <a:highlight>
                  <a:srgbClr val="FFFFFF"/>
                </a:highlight>
              </a:rPr>
              <a:t>}</a:t>
            </a:r>
            <a:endParaRPr sz="1550">
              <a:highlight>
                <a:srgbClr val="FFFFFF"/>
              </a:highlight>
            </a:endParaRPr>
          </a:p>
          <a:p>
            <a:pPr marL="0" lvl="0" indent="0" algn="l" rtl="0">
              <a:lnSpc>
                <a:spcPct val="115000"/>
              </a:lnSpc>
              <a:spcBef>
                <a:spcPts val="0"/>
              </a:spcBef>
              <a:spcAft>
                <a:spcPts val="0"/>
              </a:spcAft>
              <a:buSzPct val="116129"/>
              <a:buNone/>
            </a:pPr>
            <a:endParaRPr sz="1550">
              <a:highlight>
                <a:srgbClr val="FFFFFF"/>
              </a:highlight>
            </a:endParaRPr>
          </a:p>
          <a:p>
            <a:pPr marL="0" lvl="0" indent="0" algn="l" rtl="0">
              <a:lnSpc>
                <a:spcPct val="115000"/>
              </a:lnSpc>
              <a:spcBef>
                <a:spcPts val="0"/>
              </a:spcBef>
              <a:spcAft>
                <a:spcPts val="0"/>
              </a:spcAft>
              <a:buClr>
                <a:schemeClr val="dk2"/>
              </a:buClr>
              <a:buSzPct val="70967"/>
              <a:buFont typeface="Arial"/>
              <a:buNone/>
            </a:pPr>
            <a:r>
              <a:rPr lang="en" sz="1550">
                <a:highlight>
                  <a:srgbClr val="FFFFFF"/>
                </a:highlight>
              </a:rPr>
              <a:t>p.large {</a:t>
            </a:r>
            <a:endParaRPr sz="1550">
              <a:highlight>
                <a:srgbClr val="FFFFFF"/>
              </a:highlight>
            </a:endParaRPr>
          </a:p>
          <a:p>
            <a:pPr marL="0" lvl="0" indent="0" algn="l" rtl="0">
              <a:lnSpc>
                <a:spcPct val="115000"/>
              </a:lnSpc>
              <a:spcBef>
                <a:spcPts val="0"/>
              </a:spcBef>
              <a:spcAft>
                <a:spcPts val="0"/>
              </a:spcAft>
              <a:buClr>
                <a:schemeClr val="dk2"/>
              </a:buClr>
              <a:buSzPct val="70967"/>
              <a:buFont typeface="Arial"/>
              <a:buNone/>
            </a:pPr>
            <a:r>
              <a:rPr lang="en" sz="1550">
                <a:highlight>
                  <a:srgbClr val="FFFFFF"/>
                </a:highlight>
              </a:rPr>
              <a:t>  font-size: 300%;</a:t>
            </a:r>
            <a:endParaRPr sz="1550">
              <a:highlight>
                <a:srgbClr val="FFFFFF"/>
              </a:highlight>
            </a:endParaRPr>
          </a:p>
          <a:p>
            <a:pPr marL="0" lvl="0" indent="0" algn="l" rtl="0">
              <a:lnSpc>
                <a:spcPct val="115000"/>
              </a:lnSpc>
              <a:spcBef>
                <a:spcPts val="0"/>
              </a:spcBef>
              <a:spcAft>
                <a:spcPts val="0"/>
              </a:spcAft>
              <a:buSzPct val="70967"/>
              <a:buNone/>
            </a:pPr>
            <a:r>
              <a:rPr lang="en" sz="1550">
                <a:highlight>
                  <a:srgbClr val="FFFFFF"/>
                </a:highlight>
              </a:rPr>
              <a:t>}</a:t>
            </a:r>
            <a:endParaRPr sz="1550">
              <a:highlight>
                <a:srgbClr val="FFFFFF"/>
              </a:highlight>
            </a:endParaRPr>
          </a:p>
          <a:p>
            <a:pPr marL="0" lvl="0" indent="0" algn="l" rtl="0">
              <a:lnSpc>
                <a:spcPct val="115000"/>
              </a:lnSpc>
              <a:spcBef>
                <a:spcPts val="0"/>
              </a:spcBef>
              <a:spcAft>
                <a:spcPts val="0"/>
              </a:spcAft>
              <a:buSzPct val="124137"/>
              <a:buNone/>
            </a:pPr>
            <a:endParaRPr sz="1450">
              <a:highlight>
                <a:srgbClr val="FFFFFF"/>
              </a:highlight>
            </a:endParaRPr>
          </a:p>
          <a:p>
            <a:pPr marL="0" lvl="0" indent="0" algn="l" rtl="0">
              <a:lnSpc>
                <a:spcPct val="115000"/>
              </a:lnSpc>
              <a:spcBef>
                <a:spcPts val="0"/>
              </a:spcBef>
              <a:spcAft>
                <a:spcPts val="0"/>
              </a:spcAft>
              <a:buSzPct val="100000"/>
              <a:buNone/>
            </a:pPr>
            <a:r>
              <a:rPr lang="en"/>
              <a:t>HTML elements can also refer to more than one class.In this example the &lt;p&gt; element will be styled according to class="center" and to class="large": </a:t>
            </a:r>
            <a:endParaRPr/>
          </a:p>
          <a:p>
            <a:pPr marL="0" lvl="0" indent="0" algn="l" rtl="0">
              <a:lnSpc>
                <a:spcPct val="115000"/>
              </a:lnSpc>
              <a:spcBef>
                <a:spcPts val="1200"/>
              </a:spcBef>
              <a:spcAft>
                <a:spcPts val="0"/>
              </a:spcAft>
              <a:buSzPct val="116129"/>
              <a:buNone/>
            </a:pPr>
            <a:r>
              <a:rPr lang="en" sz="1550">
                <a:solidFill>
                  <a:srgbClr val="0000CD"/>
                </a:solidFill>
              </a:rPr>
              <a:t>&lt;</a:t>
            </a:r>
            <a:r>
              <a:rPr lang="en" sz="1550">
                <a:solidFill>
                  <a:srgbClr val="A52A2A"/>
                </a:solidFill>
              </a:rPr>
              <a:t>p</a:t>
            </a:r>
            <a:r>
              <a:rPr lang="en" sz="1550">
                <a:solidFill>
                  <a:srgbClr val="FF0000"/>
                </a:solidFill>
              </a:rPr>
              <a:t> class</a:t>
            </a:r>
            <a:r>
              <a:rPr lang="en" sz="1550">
                <a:solidFill>
                  <a:srgbClr val="0000CD"/>
                </a:solidFill>
              </a:rPr>
              <a:t>="center large"&gt;</a:t>
            </a:r>
            <a:r>
              <a:rPr lang="en" sz="1550">
                <a:highlight>
                  <a:srgbClr val="FFFFFF"/>
                </a:highlight>
              </a:rPr>
              <a:t>This paragraph refers to two classes.</a:t>
            </a:r>
            <a:r>
              <a:rPr lang="en" sz="1550">
                <a:solidFill>
                  <a:srgbClr val="0000CD"/>
                </a:solidFill>
              </a:rPr>
              <a:t>&lt;</a:t>
            </a:r>
            <a:r>
              <a:rPr lang="en" sz="1550">
                <a:solidFill>
                  <a:srgbClr val="A52A2A"/>
                </a:solidFill>
              </a:rPr>
              <a:t>/p</a:t>
            </a:r>
            <a:r>
              <a:rPr lang="en" sz="1550">
                <a:solidFill>
                  <a:srgbClr val="0000CD"/>
                </a:solidFill>
              </a:rPr>
              <a:t>&gt;</a:t>
            </a:r>
            <a:endParaRPr sz="1550">
              <a:solidFill>
                <a:srgbClr val="0000CD"/>
              </a:solidFill>
            </a:endParaRPr>
          </a:p>
          <a:p>
            <a:pPr marL="0" lvl="0" indent="0" algn="l" rtl="0">
              <a:lnSpc>
                <a:spcPct val="115000"/>
              </a:lnSpc>
              <a:spcBef>
                <a:spcPts val="1200"/>
              </a:spcBef>
              <a:spcAft>
                <a:spcPts val="0"/>
              </a:spcAft>
              <a:buSzPct val="116129"/>
              <a:buNone/>
            </a:pPr>
            <a:r>
              <a:rPr lang="en" sz="1550">
                <a:solidFill>
                  <a:srgbClr val="0000CD"/>
                </a:solidFill>
              </a:rPr>
              <a:t>&lt;p &gt; This is as it is &lt;/p&gt;</a:t>
            </a:r>
            <a:endParaRPr sz="1550">
              <a:solidFill>
                <a:srgbClr val="0000CD"/>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2"/>
              </a:buClr>
              <a:buSzPct val="36666"/>
              <a:buFont typeface="Arial"/>
              <a:buNone/>
            </a:pPr>
            <a:r>
              <a:rPr lang="en"/>
              <a:t>The CSS Universal Selector </a:t>
            </a:r>
            <a:endParaRPr/>
          </a:p>
        </p:txBody>
      </p:sp>
      <p:sp>
        <p:nvSpPr>
          <p:cNvPr id="119" name="Google Shape;119;p11"/>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a:t>The universal selector (*) selects all HTML elements on the page.</a:t>
            </a:r>
            <a:endParaRPr/>
          </a:p>
          <a:p>
            <a:pPr marL="0" lvl="0" indent="0" algn="l" rtl="0">
              <a:lnSpc>
                <a:spcPct val="115000"/>
              </a:lnSpc>
              <a:spcBef>
                <a:spcPts val="1200"/>
              </a:spcBef>
              <a:spcAft>
                <a:spcPts val="0"/>
              </a:spcAft>
              <a:buClr>
                <a:schemeClr val="dk2"/>
              </a:buClr>
              <a:buSzPts val="1100"/>
              <a:buFont typeface="Arial"/>
              <a:buNone/>
            </a:pPr>
            <a:r>
              <a:rPr lang="en" sz="2150">
                <a:solidFill>
                  <a:srgbClr val="A52A2A"/>
                </a:solidFill>
                <a:highlight>
                  <a:srgbClr val="FFFFFF"/>
                </a:highlight>
              </a:rPr>
              <a:t>* </a:t>
            </a:r>
            <a:r>
              <a:rPr lang="en" sz="2150">
                <a:highlight>
                  <a:srgbClr val="FFFFFF"/>
                </a:highlight>
              </a:rPr>
              <a:t>{</a:t>
            </a:r>
            <a:endParaRPr sz="2150">
              <a:highlight>
                <a:srgbClr val="FFFFFF"/>
              </a:highlight>
            </a:endParaRPr>
          </a:p>
          <a:p>
            <a:pPr marL="0" lvl="0" indent="0" algn="l" rtl="0">
              <a:lnSpc>
                <a:spcPct val="115000"/>
              </a:lnSpc>
              <a:spcBef>
                <a:spcPts val="0"/>
              </a:spcBef>
              <a:spcAft>
                <a:spcPts val="0"/>
              </a:spcAft>
              <a:buClr>
                <a:schemeClr val="dk2"/>
              </a:buClr>
              <a:buSzPts val="1100"/>
              <a:buFont typeface="Arial"/>
              <a:buNone/>
            </a:pPr>
            <a:r>
              <a:rPr lang="en" sz="2150">
                <a:solidFill>
                  <a:srgbClr val="FF0000"/>
                </a:solidFill>
                <a:highlight>
                  <a:srgbClr val="FFFFFF"/>
                </a:highlight>
              </a:rPr>
              <a:t>  	text-align</a:t>
            </a:r>
            <a:r>
              <a:rPr lang="en" sz="2150">
                <a:highlight>
                  <a:srgbClr val="FFFFFF"/>
                </a:highlight>
              </a:rPr>
              <a:t>:</a:t>
            </a:r>
            <a:r>
              <a:rPr lang="en" sz="2150">
                <a:solidFill>
                  <a:srgbClr val="0000CD"/>
                </a:solidFill>
                <a:highlight>
                  <a:srgbClr val="FFFFFF"/>
                </a:highlight>
              </a:rPr>
              <a:t> center</a:t>
            </a:r>
            <a:r>
              <a:rPr lang="en" sz="2150">
                <a:highlight>
                  <a:srgbClr val="FFFFFF"/>
                </a:highlight>
              </a:rPr>
              <a:t>;</a:t>
            </a:r>
            <a:endParaRPr sz="2150">
              <a:highlight>
                <a:srgbClr val="FFFFFF"/>
              </a:highlight>
            </a:endParaRPr>
          </a:p>
          <a:p>
            <a:pPr marL="0" lvl="0" indent="0" algn="l" rtl="0">
              <a:lnSpc>
                <a:spcPct val="115000"/>
              </a:lnSpc>
              <a:spcBef>
                <a:spcPts val="0"/>
              </a:spcBef>
              <a:spcAft>
                <a:spcPts val="0"/>
              </a:spcAft>
              <a:buClr>
                <a:schemeClr val="dk2"/>
              </a:buClr>
              <a:buSzPts val="1100"/>
              <a:buFont typeface="Arial"/>
              <a:buNone/>
            </a:pPr>
            <a:r>
              <a:rPr lang="en" sz="2150">
                <a:solidFill>
                  <a:srgbClr val="FF0000"/>
                </a:solidFill>
                <a:highlight>
                  <a:srgbClr val="FFFFFF"/>
                </a:highlight>
              </a:rPr>
              <a:t>  	color</a:t>
            </a:r>
            <a:r>
              <a:rPr lang="en" sz="2150">
                <a:highlight>
                  <a:srgbClr val="FFFFFF"/>
                </a:highlight>
              </a:rPr>
              <a:t>:</a:t>
            </a:r>
            <a:r>
              <a:rPr lang="en" sz="2150">
                <a:solidFill>
                  <a:srgbClr val="0000CD"/>
                </a:solidFill>
                <a:highlight>
                  <a:srgbClr val="FFFFFF"/>
                </a:highlight>
              </a:rPr>
              <a:t> blue</a:t>
            </a:r>
            <a:r>
              <a:rPr lang="en" sz="2150">
                <a:highlight>
                  <a:srgbClr val="FFFFFF"/>
                </a:highlight>
              </a:rPr>
              <a:t>;</a:t>
            </a:r>
            <a:endParaRPr sz="2150">
              <a:highlight>
                <a:srgbClr val="FFFFFF"/>
              </a:highlight>
            </a:endParaRPr>
          </a:p>
          <a:p>
            <a:pPr marL="0" lvl="0" indent="0" algn="l" rtl="0">
              <a:lnSpc>
                <a:spcPct val="115000"/>
              </a:lnSpc>
              <a:spcBef>
                <a:spcPts val="0"/>
              </a:spcBef>
              <a:spcAft>
                <a:spcPts val="0"/>
              </a:spcAft>
              <a:buSzPts val="1800"/>
              <a:buNone/>
            </a:pPr>
            <a:r>
              <a:rPr lang="en" sz="2150">
                <a:highlight>
                  <a:srgbClr val="FFFFFF"/>
                </a:highlight>
              </a:rPr>
              <a:t>}</a:t>
            </a:r>
            <a:endParaRPr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2"/>
              </a:buClr>
              <a:buSzPct val="36666"/>
              <a:buFont typeface="Arial"/>
              <a:buNone/>
            </a:pPr>
            <a:r>
              <a:rPr lang="en"/>
              <a:t>The CSS Grouping Selector </a:t>
            </a:r>
            <a:endParaRPr/>
          </a:p>
          <a:p>
            <a:pPr marL="0" lvl="0" indent="0" algn="l" rtl="0">
              <a:lnSpc>
                <a:spcPct val="100000"/>
              </a:lnSpc>
              <a:spcBef>
                <a:spcPts val="0"/>
              </a:spcBef>
              <a:spcAft>
                <a:spcPts val="0"/>
              </a:spcAft>
              <a:buSzPct val="111111"/>
              <a:buNone/>
            </a:pPr>
            <a:endParaRPr/>
          </a:p>
        </p:txBody>
      </p:sp>
      <p:sp>
        <p:nvSpPr>
          <p:cNvPr id="125" name="Google Shape;125;p12"/>
          <p:cNvSpPr txBox="1">
            <a:spLocks noGrp="1"/>
          </p:cNvSpPr>
          <p:nvPr>
            <p:ph type="body" idx="1"/>
          </p:nvPr>
        </p:nvSpPr>
        <p:spPr>
          <a:xfrm>
            <a:off x="311700" y="1234050"/>
            <a:ext cx="3999900" cy="3334800"/>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lnSpc>
                <a:spcPct val="115000"/>
              </a:lnSpc>
              <a:spcBef>
                <a:spcPts val="0"/>
              </a:spcBef>
              <a:spcAft>
                <a:spcPts val="0"/>
              </a:spcAft>
              <a:buSzPts val="1400"/>
              <a:buNone/>
            </a:pPr>
            <a:r>
              <a:rPr lang="en"/>
              <a:t>Look at the following CSS code (the h1, h2, and p elements have the same style definitions):</a:t>
            </a:r>
            <a:endParaRPr/>
          </a:p>
          <a:p>
            <a:pPr marL="0" lvl="0" indent="0" algn="l" rtl="0">
              <a:lnSpc>
                <a:spcPct val="115000"/>
              </a:lnSpc>
              <a:spcBef>
                <a:spcPts val="1200"/>
              </a:spcBef>
              <a:spcAft>
                <a:spcPts val="0"/>
              </a:spcAft>
              <a:buClr>
                <a:schemeClr val="dk2"/>
              </a:buClr>
              <a:buSzPts val="1100"/>
              <a:buFont typeface="Arial"/>
              <a:buNone/>
            </a:pPr>
            <a:r>
              <a:rPr lang="en" sz="1150">
                <a:solidFill>
                  <a:srgbClr val="A52A2A"/>
                </a:solidFill>
                <a:highlight>
                  <a:srgbClr val="FFFFFF"/>
                </a:highlight>
              </a:rPr>
              <a:t>h1 </a:t>
            </a:r>
            <a:r>
              <a:rPr lang="en" sz="1150">
                <a:highlight>
                  <a:srgbClr val="FFFFFF"/>
                </a:highlight>
              </a:rPr>
              <a:t>{</a:t>
            </a:r>
            <a:endParaRPr sz="1150">
              <a:highlight>
                <a:srgbClr val="FFFFFF"/>
              </a:highlight>
            </a:endParaRPr>
          </a:p>
          <a:p>
            <a:pPr marL="0" lvl="0" indent="0" algn="l" rtl="0">
              <a:lnSpc>
                <a:spcPct val="115000"/>
              </a:lnSpc>
              <a:spcBef>
                <a:spcPts val="0"/>
              </a:spcBef>
              <a:spcAft>
                <a:spcPts val="0"/>
              </a:spcAft>
              <a:buClr>
                <a:schemeClr val="dk2"/>
              </a:buClr>
              <a:buSzPts val="1100"/>
              <a:buFont typeface="Arial"/>
              <a:buNone/>
            </a:pPr>
            <a:r>
              <a:rPr lang="en" sz="1150">
                <a:solidFill>
                  <a:srgbClr val="FF0000"/>
                </a:solidFill>
                <a:highlight>
                  <a:srgbClr val="FFFFFF"/>
                </a:highlight>
              </a:rPr>
              <a:t>  	text-align</a:t>
            </a:r>
            <a:r>
              <a:rPr lang="en" sz="1150">
                <a:highlight>
                  <a:srgbClr val="FFFFFF"/>
                </a:highlight>
              </a:rPr>
              <a:t>:</a:t>
            </a:r>
            <a:r>
              <a:rPr lang="en" sz="1150">
                <a:solidFill>
                  <a:srgbClr val="0000CD"/>
                </a:solidFill>
                <a:highlight>
                  <a:srgbClr val="FFFFFF"/>
                </a:highlight>
              </a:rPr>
              <a:t> center</a:t>
            </a:r>
            <a:r>
              <a:rPr lang="en" sz="1150">
                <a:highlight>
                  <a:srgbClr val="FFFFFF"/>
                </a:highlight>
              </a:rPr>
              <a:t>;</a:t>
            </a:r>
            <a:endParaRPr sz="1150">
              <a:highlight>
                <a:srgbClr val="FFFFFF"/>
              </a:highlight>
            </a:endParaRPr>
          </a:p>
          <a:p>
            <a:pPr marL="0" lvl="0" indent="0" algn="l" rtl="0">
              <a:lnSpc>
                <a:spcPct val="115000"/>
              </a:lnSpc>
              <a:spcBef>
                <a:spcPts val="0"/>
              </a:spcBef>
              <a:spcAft>
                <a:spcPts val="0"/>
              </a:spcAft>
              <a:buClr>
                <a:schemeClr val="dk2"/>
              </a:buClr>
              <a:buSzPts val="1100"/>
              <a:buFont typeface="Arial"/>
              <a:buNone/>
            </a:pPr>
            <a:r>
              <a:rPr lang="en" sz="1150">
                <a:solidFill>
                  <a:srgbClr val="FF0000"/>
                </a:solidFill>
                <a:highlight>
                  <a:srgbClr val="FFFFFF"/>
                </a:highlight>
              </a:rPr>
              <a:t>  	color</a:t>
            </a:r>
            <a:r>
              <a:rPr lang="en" sz="1150">
                <a:highlight>
                  <a:srgbClr val="FFFFFF"/>
                </a:highlight>
              </a:rPr>
              <a:t>:</a:t>
            </a:r>
            <a:r>
              <a:rPr lang="en" sz="1150">
                <a:solidFill>
                  <a:srgbClr val="0000CD"/>
                </a:solidFill>
                <a:highlight>
                  <a:srgbClr val="FFFFFF"/>
                </a:highlight>
              </a:rPr>
              <a:t> red</a:t>
            </a:r>
            <a:r>
              <a:rPr lang="en" sz="1150">
                <a:highlight>
                  <a:srgbClr val="FFFFFF"/>
                </a:highlight>
              </a:rPr>
              <a:t>;</a:t>
            </a:r>
            <a:endParaRPr sz="1150">
              <a:highlight>
                <a:srgbClr val="FFFFFF"/>
              </a:highlight>
            </a:endParaRPr>
          </a:p>
          <a:p>
            <a:pPr marL="0" lvl="0" indent="0" algn="l" rtl="0">
              <a:lnSpc>
                <a:spcPct val="115000"/>
              </a:lnSpc>
              <a:spcBef>
                <a:spcPts val="0"/>
              </a:spcBef>
              <a:spcAft>
                <a:spcPts val="0"/>
              </a:spcAft>
              <a:buClr>
                <a:schemeClr val="dk2"/>
              </a:buClr>
              <a:buSzPts val="1100"/>
              <a:buFont typeface="Arial"/>
              <a:buNone/>
            </a:pPr>
            <a:r>
              <a:rPr lang="en" sz="1150">
                <a:highlight>
                  <a:srgbClr val="FFFFFF"/>
                </a:highlight>
              </a:rPr>
              <a:t>}</a:t>
            </a:r>
            <a:endParaRPr sz="1150">
              <a:highlight>
                <a:srgbClr val="FFFFFF"/>
              </a:highlight>
            </a:endParaRPr>
          </a:p>
          <a:p>
            <a:pPr marL="0" lvl="0" indent="0" algn="l" rtl="0">
              <a:lnSpc>
                <a:spcPct val="115000"/>
              </a:lnSpc>
              <a:spcBef>
                <a:spcPts val="0"/>
              </a:spcBef>
              <a:spcAft>
                <a:spcPts val="0"/>
              </a:spcAft>
              <a:buClr>
                <a:schemeClr val="dk2"/>
              </a:buClr>
              <a:buSzPts val="1100"/>
              <a:buFont typeface="Arial"/>
              <a:buNone/>
            </a:pPr>
            <a:endParaRPr sz="1100"/>
          </a:p>
          <a:p>
            <a:pPr marL="0" lvl="0" indent="0" algn="l" rtl="0">
              <a:lnSpc>
                <a:spcPct val="115000"/>
              </a:lnSpc>
              <a:spcBef>
                <a:spcPts val="0"/>
              </a:spcBef>
              <a:spcAft>
                <a:spcPts val="0"/>
              </a:spcAft>
              <a:buClr>
                <a:schemeClr val="dk2"/>
              </a:buClr>
              <a:buSzPts val="1100"/>
              <a:buFont typeface="Arial"/>
              <a:buNone/>
            </a:pPr>
            <a:r>
              <a:rPr lang="en" sz="1150">
                <a:solidFill>
                  <a:srgbClr val="A52A2A"/>
                </a:solidFill>
                <a:highlight>
                  <a:srgbClr val="FFFFFF"/>
                </a:highlight>
              </a:rPr>
              <a:t>h2 </a:t>
            </a:r>
            <a:r>
              <a:rPr lang="en" sz="1150">
                <a:highlight>
                  <a:srgbClr val="FFFFFF"/>
                </a:highlight>
              </a:rPr>
              <a:t>{</a:t>
            </a:r>
            <a:endParaRPr sz="1150">
              <a:highlight>
                <a:srgbClr val="FFFFFF"/>
              </a:highlight>
            </a:endParaRPr>
          </a:p>
          <a:p>
            <a:pPr marL="0" lvl="0" indent="0" algn="l" rtl="0">
              <a:lnSpc>
                <a:spcPct val="115000"/>
              </a:lnSpc>
              <a:spcBef>
                <a:spcPts val="0"/>
              </a:spcBef>
              <a:spcAft>
                <a:spcPts val="0"/>
              </a:spcAft>
              <a:buClr>
                <a:schemeClr val="dk2"/>
              </a:buClr>
              <a:buSzPts val="1100"/>
              <a:buFont typeface="Arial"/>
              <a:buNone/>
            </a:pPr>
            <a:r>
              <a:rPr lang="en" sz="1150">
                <a:solidFill>
                  <a:srgbClr val="FF0000"/>
                </a:solidFill>
                <a:highlight>
                  <a:srgbClr val="FFFFFF"/>
                </a:highlight>
              </a:rPr>
              <a:t>  	text-align</a:t>
            </a:r>
            <a:r>
              <a:rPr lang="en" sz="1150">
                <a:highlight>
                  <a:srgbClr val="FFFFFF"/>
                </a:highlight>
              </a:rPr>
              <a:t>:</a:t>
            </a:r>
            <a:r>
              <a:rPr lang="en" sz="1150">
                <a:solidFill>
                  <a:srgbClr val="0000CD"/>
                </a:solidFill>
                <a:highlight>
                  <a:srgbClr val="FFFFFF"/>
                </a:highlight>
              </a:rPr>
              <a:t> center</a:t>
            </a:r>
            <a:r>
              <a:rPr lang="en" sz="1150">
                <a:highlight>
                  <a:srgbClr val="FFFFFF"/>
                </a:highlight>
              </a:rPr>
              <a:t>;</a:t>
            </a:r>
            <a:endParaRPr sz="1150">
              <a:highlight>
                <a:srgbClr val="FFFFFF"/>
              </a:highlight>
            </a:endParaRPr>
          </a:p>
          <a:p>
            <a:pPr marL="0" lvl="0" indent="0" algn="l" rtl="0">
              <a:lnSpc>
                <a:spcPct val="115000"/>
              </a:lnSpc>
              <a:spcBef>
                <a:spcPts val="0"/>
              </a:spcBef>
              <a:spcAft>
                <a:spcPts val="0"/>
              </a:spcAft>
              <a:buClr>
                <a:schemeClr val="dk2"/>
              </a:buClr>
              <a:buSzPts val="1100"/>
              <a:buFont typeface="Arial"/>
              <a:buNone/>
            </a:pPr>
            <a:r>
              <a:rPr lang="en" sz="1150">
                <a:solidFill>
                  <a:srgbClr val="FF0000"/>
                </a:solidFill>
                <a:highlight>
                  <a:srgbClr val="FFFFFF"/>
                </a:highlight>
              </a:rPr>
              <a:t>  	color</a:t>
            </a:r>
            <a:r>
              <a:rPr lang="en" sz="1150">
                <a:highlight>
                  <a:srgbClr val="FFFFFF"/>
                </a:highlight>
              </a:rPr>
              <a:t>:</a:t>
            </a:r>
            <a:r>
              <a:rPr lang="en" sz="1150">
                <a:solidFill>
                  <a:srgbClr val="0000CD"/>
                </a:solidFill>
                <a:highlight>
                  <a:srgbClr val="FFFFFF"/>
                </a:highlight>
              </a:rPr>
              <a:t> red</a:t>
            </a:r>
            <a:r>
              <a:rPr lang="en" sz="1150">
                <a:highlight>
                  <a:srgbClr val="FFFFFF"/>
                </a:highlight>
              </a:rPr>
              <a:t>;</a:t>
            </a:r>
            <a:endParaRPr sz="1150">
              <a:highlight>
                <a:srgbClr val="FFFFFF"/>
              </a:highlight>
            </a:endParaRPr>
          </a:p>
          <a:p>
            <a:pPr marL="0" lvl="0" indent="0" algn="l" rtl="0">
              <a:lnSpc>
                <a:spcPct val="115000"/>
              </a:lnSpc>
              <a:spcBef>
                <a:spcPts val="0"/>
              </a:spcBef>
              <a:spcAft>
                <a:spcPts val="0"/>
              </a:spcAft>
              <a:buClr>
                <a:schemeClr val="dk2"/>
              </a:buClr>
              <a:buSzPts val="1100"/>
              <a:buFont typeface="Arial"/>
              <a:buNone/>
            </a:pPr>
            <a:r>
              <a:rPr lang="en" sz="1150">
                <a:highlight>
                  <a:srgbClr val="FFFFFF"/>
                </a:highlight>
              </a:rPr>
              <a:t>}</a:t>
            </a:r>
            <a:endParaRPr sz="1150">
              <a:highlight>
                <a:srgbClr val="FFFFFF"/>
              </a:highlight>
            </a:endParaRPr>
          </a:p>
          <a:p>
            <a:pPr marL="0" lvl="0" indent="0" algn="l" rtl="0">
              <a:lnSpc>
                <a:spcPct val="115000"/>
              </a:lnSpc>
              <a:spcBef>
                <a:spcPts val="0"/>
              </a:spcBef>
              <a:spcAft>
                <a:spcPts val="0"/>
              </a:spcAft>
              <a:buClr>
                <a:schemeClr val="dk2"/>
              </a:buClr>
              <a:buSzPts val="1100"/>
              <a:buFont typeface="Arial"/>
              <a:buNone/>
            </a:pPr>
            <a:endParaRPr sz="1100"/>
          </a:p>
          <a:p>
            <a:pPr marL="0" lvl="0" indent="0" algn="l" rtl="0">
              <a:lnSpc>
                <a:spcPct val="115000"/>
              </a:lnSpc>
              <a:spcBef>
                <a:spcPts val="0"/>
              </a:spcBef>
              <a:spcAft>
                <a:spcPts val="0"/>
              </a:spcAft>
              <a:buClr>
                <a:schemeClr val="dk2"/>
              </a:buClr>
              <a:buSzPts val="1100"/>
              <a:buFont typeface="Arial"/>
              <a:buNone/>
            </a:pPr>
            <a:r>
              <a:rPr lang="en" sz="1150">
                <a:solidFill>
                  <a:srgbClr val="A52A2A"/>
                </a:solidFill>
                <a:highlight>
                  <a:srgbClr val="FFFFFF"/>
                </a:highlight>
              </a:rPr>
              <a:t>p </a:t>
            </a:r>
            <a:r>
              <a:rPr lang="en" sz="1150">
                <a:highlight>
                  <a:srgbClr val="FFFFFF"/>
                </a:highlight>
              </a:rPr>
              <a:t>{</a:t>
            </a:r>
            <a:endParaRPr sz="1150">
              <a:highlight>
                <a:srgbClr val="FFFFFF"/>
              </a:highlight>
            </a:endParaRPr>
          </a:p>
          <a:p>
            <a:pPr marL="0" lvl="0" indent="0" algn="l" rtl="0">
              <a:lnSpc>
                <a:spcPct val="115000"/>
              </a:lnSpc>
              <a:spcBef>
                <a:spcPts val="0"/>
              </a:spcBef>
              <a:spcAft>
                <a:spcPts val="0"/>
              </a:spcAft>
              <a:buClr>
                <a:schemeClr val="dk2"/>
              </a:buClr>
              <a:buSzPts val="1100"/>
              <a:buFont typeface="Arial"/>
              <a:buNone/>
            </a:pPr>
            <a:r>
              <a:rPr lang="en" sz="1150">
                <a:solidFill>
                  <a:srgbClr val="FF0000"/>
                </a:solidFill>
                <a:highlight>
                  <a:srgbClr val="FFFFFF"/>
                </a:highlight>
              </a:rPr>
              <a:t>  	text-align</a:t>
            </a:r>
            <a:r>
              <a:rPr lang="en" sz="1150">
                <a:highlight>
                  <a:srgbClr val="FFFFFF"/>
                </a:highlight>
              </a:rPr>
              <a:t>:</a:t>
            </a:r>
            <a:r>
              <a:rPr lang="en" sz="1150">
                <a:solidFill>
                  <a:srgbClr val="0000CD"/>
                </a:solidFill>
                <a:highlight>
                  <a:srgbClr val="FFFFFF"/>
                </a:highlight>
              </a:rPr>
              <a:t> center</a:t>
            </a:r>
            <a:r>
              <a:rPr lang="en" sz="1150">
                <a:highlight>
                  <a:srgbClr val="FFFFFF"/>
                </a:highlight>
              </a:rPr>
              <a:t>;</a:t>
            </a:r>
            <a:endParaRPr sz="1150">
              <a:highlight>
                <a:srgbClr val="FFFFFF"/>
              </a:highlight>
            </a:endParaRPr>
          </a:p>
          <a:p>
            <a:pPr marL="0" lvl="0" indent="0" algn="l" rtl="0">
              <a:lnSpc>
                <a:spcPct val="115000"/>
              </a:lnSpc>
              <a:spcBef>
                <a:spcPts val="0"/>
              </a:spcBef>
              <a:spcAft>
                <a:spcPts val="0"/>
              </a:spcAft>
              <a:buClr>
                <a:schemeClr val="dk2"/>
              </a:buClr>
              <a:buSzPts val="1100"/>
              <a:buFont typeface="Arial"/>
              <a:buNone/>
            </a:pPr>
            <a:r>
              <a:rPr lang="en" sz="1150">
                <a:solidFill>
                  <a:srgbClr val="FF0000"/>
                </a:solidFill>
                <a:highlight>
                  <a:srgbClr val="FFFFFF"/>
                </a:highlight>
              </a:rPr>
              <a:t>  	color</a:t>
            </a:r>
            <a:r>
              <a:rPr lang="en" sz="1150">
                <a:highlight>
                  <a:srgbClr val="FFFFFF"/>
                </a:highlight>
              </a:rPr>
              <a:t>:</a:t>
            </a:r>
            <a:r>
              <a:rPr lang="en" sz="1150">
                <a:solidFill>
                  <a:srgbClr val="0000CD"/>
                </a:solidFill>
                <a:highlight>
                  <a:srgbClr val="FFFFFF"/>
                </a:highlight>
              </a:rPr>
              <a:t> red</a:t>
            </a:r>
            <a:r>
              <a:rPr lang="en" sz="1150">
                <a:highlight>
                  <a:srgbClr val="FFFFFF"/>
                </a:highlight>
              </a:rPr>
              <a:t>;</a:t>
            </a:r>
            <a:endParaRPr sz="1150">
              <a:highlight>
                <a:srgbClr val="FFFFFF"/>
              </a:highlight>
            </a:endParaRPr>
          </a:p>
          <a:p>
            <a:pPr marL="0" lvl="0" indent="0" algn="l" rtl="0">
              <a:lnSpc>
                <a:spcPct val="115000"/>
              </a:lnSpc>
              <a:spcBef>
                <a:spcPts val="0"/>
              </a:spcBef>
              <a:spcAft>
                <a:spcPts val="0"/>
              </a:spcAft>
              <a:buSzPts val="1400"/>
              <a:buNone/>
            </a:pPr>
            <a:r>
              <a:rPr lang="en" sz="1150">
                <a:highlight>
                  <a:srgbClr val="FFFFFF"/>
                </a:highlight>
              </a:rPr>
              <a:t>}</a:t>
            </a:r>
            <a:endParaRPr/>
          </a:p>
        </p:txBody>
      </p:sp>
      <p:sp>
        <p:nvSpPr>
          <p:cNvPr id="126" name="Google Shape;126;p12"/>
          <p:cNvSpPr txBox="1">
            <a:spLocks noGrp="1"/>
          </p:cNvSpPr>
          <p:nvPr>
            <p:ph type="body" idx="2"/>
          </p:nvPr>
        </p:nvSpPr>
        <p:spPr>
          <a:xfrm>
            <a:off x="4832400" y="1234050"/>
            <a:ext cx="3999900" cy="3334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400"/>
              </a:spcBef>
              <a:spcAft>
                <a:spcPts val="0"/>
              </a:spcAft>
              <a:buSzPts val="1400"/>
              <a:buNone/>
            </a:pPr>
            <a:r>
              <a:rPr lang="en"/>
              <a:t>It will be </a:t>
            </a:r>
            <a:r>
              <a:rPr lang="en" b="1"/>
              <a:t>better</a:t>
            </a:r>
            <a:r>
              <a:rPr lang="en"/>
              <a:t> to group the selectors, to minimize the code. To group selectors, separate each selector with a comma.</a:t>
            </a:r>
            <a:endParaRPr/>
          </a:p>
          <a:p>
            <a:pPr marL="0" lvl="0" indent="0" algn="l" rtl="0">
              <a:lnSpc>
                <a:spcPct val="115000"/>
              </a:lnSpc>
              <a:spcBef>
                <a:spcPts val="1400"/>
              </a:spcBef>
              <a:spcAft>
                <a:spcPts val="0"/>
              </a:spcAft>
              <a:buSzPts val="1400"/>
              <a:buNone/>
            </a:pPr>
            <a:r>
              <a:rPr lang="en" sz="1150">
                <a:solidFill>
                  <a:srgbClr val="A52A2A"/>
                </a:solidFill>
                <a:highlight>
                  <a:srgbClr val="FFFFFF"/>
                </a:highlight>
              </a:rPr>
              <a:t>h1, h2, p </a:t>
            </a:r>
            <a:r>
              <a:rPr lang="en" sz="1150">
                <a:highlight>
                  <a:srgbClr val="FFFFFF"/>
                </a:highlight>
              </a:rPr>
              <a:t>{</a:t>
            </a:r>
            <a:endParaRPr sz="1150">
              <a:highlight>
                <a:srgbClr val="FFFFFF"/>
              </a:highlight>
            </a:endParaRPr>
          </a:p>
          <a:p>
            <a:pPr marL="0" lvl="0" indent="0" algn="l" rtl="0">
              <a:lnSpc>
                <a:spcPct val="115000"/>
              </a:lnSpc>
              <a:spcBef>
                <a:spcPts val="1200"/>
              </a:spcBef>
              <a:spcAft>
                <a:spcPts val="0"/>
              </a:spcAft>
              <a:buSzPts val="1400"/>
              <a:buNone/>
            </a:pPr>
            <a:r>
              <a:rPr lang="en" sz="1150">
                <a:solidFill>
                  <a:srgbClr val="FF0000"/>
                </a:solidFill>
                <a:highlight>
                  <a:srgbClr val="FFFFFF"/>
                </a:highlight>
              </a:rPr>
              <a:t>  	text-align</a:t>
            </a:r>
            <a:r>
              <a:rPr lang="en" sz="1150">
                <a:highlight>
                  <a:srgbClr val="FFFFFF"/>
                </a:highlight>
              </a:rPr>
              <a:t>:</a:t>
            </a:r>
            <a:r>
              <a:rPr lang="en" sz="1150">
                <a:solidFill>
                  <a:srgbClr val="0000CD"/>
                </a:solidFill>
                <a:highlight>
                  <a:srgbClr val="FFFFFF"/>
                </a:highlight>
              </a:rPr>
              <a:t> center</a:t>
            </a:r>
            <a:r>
              <a:rPr lang="en" sz="1150">
                <a:highlight>
                  <a:srgbClr val="FFFFFF"/>
                </a:highlight>
              </a:rPr>
              <a:t>;</a:t>
            </a:r>
            <a:endParaRPr sz="1150">
              <a:highlight>
                <a:srgbClr val="FFFFFF"/>
              </a:highlight>
            </a:endParaRPr>
          </a:p>
          <a:p>
            <a:pPr marL="0" lvl="0" indent="0" algn="l" rtl="0">
              <a:lnSpc>
                <a:spcPct val="115000"/>
              </a:lnSpc>
              <a:spcBef>
                <a:spcPts val="1200"/>
              </a:spcBef>
              <a:spcAft>
                <a:spcPts val="0"/>
              </a:spcAft>
              <a:buSzPts val="1400"/>
              <a:buNone/>
            </a:pPr>
            <a:r>
              <a:rPr lang="en" sz="1150">
                <a:solidFill>
                  <a:srgbClr val="FF0000"/>
                </a:solidFill>
                <a:highlight>
                  <a:srgbClr val="FFFFFF"/>
                </a:highlight>
              </a:rPr>
              <a:t>  	color</a:t>
            </a:r>
            <a:r>
              <a:rPr lang="en" sz="1150">
                <a:highlight>
                  <a:srgbClr val="FFFFFF"/>
                </a:highlight>
              </a:rPr>
              <a:t>:</a:t>
            </a:r>
            <a:r>
              <a:rPr lang="en" sz="1150">
                <a:solidFill>
                  <a:srgbClr val="0000CD"/>
                </a:solidFill>
                <a:highlight>
                  <a:srgbClr val="FFFFFF"/>
                </a:highlight>
              </a:rPr>
              <a:t> red</a:t>
            </a:r>
            <a:r>
              <a:rPr lang="en" sz="1150">
                <a:highlight>
                  <a:srgbClr val="FFFFFF"/>
                </a:highlight>
              </a:rPr>
              <a:t>;</a:t>
            </a:r>
            <a:endParaRPr sz="1150">
              <a:highlight>
                <a:srgbClr val="FFFFFF"/>
              </a:highlight>
            </a:endParaRPr>
          </a:p>
          <a:p>
            <a:pPr marL="0" lvl="0" indent="0" algn="l" rtl="0">
              <a:lnSpc>
                <a:spcPct val="115000"/>
              </a:lnSpc>
              <a:spcBef>
                <a:spcPts val="1200"/>
              </a:spcBef>
              <a:spcAft>
                <a:spcPts val="1200"/>
              </a:spcAft>
              <a:buSzPts val="1400"/>
              <a:buNone/>
            </a:pPr>
            <a:r>
              <a:rPr lang="en" sz="1150">
                <a:highlight>
                  <a:srgbClr val="FFFFFF"/>
                </a:highlight>
              </a:rPr>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800"/>
              </a:spcBef>
              <a:spcAft>
                <a:spcPts val="800"/>
              </a:spcAft>
              <a:buSzPct val="111111"/>
              <a:buNone/>
            </a:pPr>
            <a:r>
              <a:rPr lang="en"/>
              <a:t>All CSS Simple Selectors - Summary</a:t>
            </a:r>
            <a:endParaRPr/>
          </a:p>
        </p:txBody>
      </p:sp>
      <p:graphicFrame>
        <p:nvGraphicFramePr>
          <p:cNvPr id="132" name="Google Shape;132;p13"/>
          <p:cNvGraphicFramePr/>
          <p:nvPr/>
        </p:nvGraphicFramePr>
        <p:xfrm>
          <a:off x="952500" y="1238250"/>
          <a:ext cx="7239000" cy="3337350"/>
        </p:xfrm>
        <a:graphic>
          <a:graphicData uri="http://schemas.openxmlformats.org/drawingml/2006/table">
            <a:tbl>
              <a:tblPr>
                <a:noFill/>
                <a:tableStyleId>{05BFD244-34C1-490E-A71A-950DC99ED188}</a:tableStyleId>
              </a:tblPr>
              <a:tblGrid>
                <a:gridCol w="1678225">
                  <a:extLst>
                    <a:ext uri="{9D8B030D-6E8A-4147-A177-3AD203B41FA5}">
                      <a16:colId xmlns:a16="http://schemas.microsoft.com/office/drawing/2014/main" val="20000"/>
                    </a:ext>
                  </a:extLst>
                </a:gridCol>
                <a:gridCol w="1731350">
                  <a:extLst>
                    <a:ext uri="{9D8B030D-6E8A-4147-A177-3AD203B41FA5}">
                      <a16:colId xmlns:a16="http://schemas.microsoft.com/office/drawing/2014/main" val="20001"/>
                    </a:ext>
                  </a:extLst>
                </a:gridCol>
                <a:gridCol w="3829425">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Clr>
                          <a:srgbClr val="000000"/>
                        </a:buClr>
                        <a:buSzPts val="1500"/>
                        <a:buFont typeface="Arial"/>
                        <a:buNone/>
                      </a:pPr>
                      <a:r>
                        <a:rPr lang="en" sz="1500" b="1" u="none" strike="noStrike" cap="none">
                          <a:latin typeface="Playfair Display"/>
                          <a:ea typeface="Playfair Display"/>
                          <a:cs typeface="Playfair Display"/>
                          <a:sym typeface="Playfair Display"/>
                        </a:rPr>
                        <a:t>Selector</a:t>
                      </a:r>
                      <a:endParaRPr sz="1500" b="1"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b="1" u="none" strike="noStrike" cap="none">
                          <a:latin typeface="Playfair Display"/>
                          <a:ea typeface="Playfair Display"/>
                          <a:cs typeface="Playfair Display"/>
                          <a:sym typeface="Playfair Display"/>
                        </a:rPr>
                        <a:t>Example</a:t>
                      </a:r>
                      <a:endParaRPr sz="1500" b="1"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b="1" u="none" strike="noStrike" cap="none">
                          <a:latin typeface="Playfair Display"/>
                          <a:ea typeface="Playfair Display"/>
                          <a:cs typeface="Playfair Display"/>
                          <a:sym typeface="Playfair Display"/>
                        </a:rPr>
                        <a:t>Example Description</a:t>
                      </a:r>
                      <a:endParaRPr sz="1500" b="1"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#id</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#firstname</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Selects the element with id="firstname"</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.class</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intro</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Selects all elements with class="intro"</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element.class</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p.intro</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Selects only &lt;p&gt; elements with class="intro"</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Selects all elements</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element</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p</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Selects all &lt;p&gt; elements</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381000">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element,element,..</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div, p</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500"/>
                        <a:buFont typeface="Arial"/>
                        <a:buNone/>
                      </a:pPr>
                      <a:r>
                        <a:rPr lang="en" sz="1500" u="none" strike="noStrike" cap="none">
                          <a:latin typeface="Playfair Display"/>
                          <a:ea typeface="Playfair Display"/>
                          <a:cs typeface="Playfair Display"/>
                          <a:sym typeface="Playfair Display"/>
                        </a:rPr>
                        <a:t>Selects all &lt;div&gt; elements and all &lt;p&gt; elements</a:t>
                      </a:r>
                      <a:endParaRPr sz="1500" u="none" strike="noStrike" cap="none">
                        <a:latin typeface="Playfair Display"/>
                        <a:ea typeface="Playfair Display"/>
                        <a:cs typeface="Playfair Display"/>
                        <a:sym typeface="Playfair Display"/>
                      </a:endParaRPr>
                    </a:p>
                  </a:txBody>
                  <a:tcPr marL="91425" marR="91425" marT="91425" marB="91425">
                    <a:lnL w="38100" cap="flat" cmpd="sng">
                      <a:solidFill>
                        <a:srgbClr val="9E9E9E"/>
                      </a:solidFill>
                      <a:prstDash val="solid"/>
                      <a:round/>
                      <a:headEnd type="none" w="sm" len="sm"/>
                      <a:tailEnd type="none" w="sm" len="sm"/>
                    </a:lnL>
                    <a:lnR w="38100" cap="flat" cmpd="sng">
                      <a:solidFill>
                        <a:srgbClr val="9E9E9E"/>
                      </a:solidFill>
                      <a:prstDash val="solid"/>
                      <a:round/>
                      <a:headEnd type="none" w="sm" len="sm"/>
                      <a:tailEnd type="none" w="sm" len="sm"/>
                    </a:lnR>
                    <a:lnT w="38100" cap="flat" cmpd="sng">
                      <a:solidFill>
                        <a:srgbClr val="9E9E9E"/>
                      </a:solidFill>
                      <a:prstDash val="solid"/>
                      <a:round/>
                      <a:headEnd type="none" w="sm" len="sm"/>
                      <a:tailEnd type="none" w="sm" len="sm"/>
                    </a:lnT>
                    <a:lnB w="38100"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4"/>
          <p:cNvSpPr txBox="1">
            <a:spLocks noGrp="1"/>
          </p:cNvSpPr>
          <p:nvPr>
            <p:ph type="title"/>
          </p:nvPr>
        </p:nvSpPr>
        <p:spPr>
          <a:xfrm>
            <a:off x="344250" y="1403850"/>
            <a:ext cx="8455500" cy="2146800"/>
          </a:xfrm>
          <a:prstGeom prst="rect">
            <a:avLst/>
          </a:prstGeom>
          <a:solidFill>
            <a:srgbClr val="FFFFFF"/>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800"/>
              <a:buNone/>
            </a:pPr>
            <a:r>
              <a:rPr lang="en"/>
              <a:t>Three Ways to Add CSS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457200" lvl="0" indent="-400050" algn="l" rtl="0">
              <a:lnSpc>
                <a:spcPct val="100000"/>
              </a:lnSpc>
              <a:spcBef>
                <a:spcPts val="0"/>
              </a:spcBef>
              <a:spcAft>
                <a:spcPts val="0"/>
              </a:spcAft>
              <a:buSzPct val="100000"/>
              <a:buAutoNum type="arabicPeriod"/>
            </a:pPr>
            <a:r>
              <a:rPr lang="en"/>
              <a:t>External CSS</a:t>
            </a:r>
            <a:endParaRPr/>
          </a:p>
        </p:txBody>
      </p:sp>
      <p:sp>
        <p:nvSpPr>
          <p:cNvPr id="143" name="Google Shape;143;p15"/>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a:t>With an external style sheet, you can change the look of an entire website by changing just one file!</a:t>
            </a:r>
            <a:endParaRPr/>
          </a:p>
          <a:p>
            <a:pPr marL="0" lvl="0" indent="0" algn="l" rtl="0">
              <a:lnSpc>
                <a:spcPct val="115000"/>
              </a:lnSpc>
              <a:spcBef>
                <a:spcPts val="1400"/>
              </a:spcBef>
              <a:spcAft>
                <a:spcPts val="0"/>
              </a:spcAft>
              <a:buSzPts val="1800"/>
              <a:buNone/>
            </a:pPr>
            <a:r>
              <a:rPr lang="en"/>
              <a:t>Each HTML page must include a reference to the external style sheet file inside the &lt;link&gt; element, inside the head section.</a:t>
            </a:r>
            <a:endParaRPr/>
          </a:p>
          <a:p>
            <a:pPr marL="0" lvl="0" indent="0" algn="l" rtl="0">
              <a:lnSpc>
                <a:spcPct val="115000"/>
              </a:lnSpc>
              <a:spcBef>
                <a:spcPts val="1400"/>
              </a:spcBef>
              <a:spcAft>
                <a:spcPts val="0"/>
              </a:spcAft>
              <a:buSzPts val="1800"/>
              <a:buNone/>
            </a:pPr>
            <a:r>
              <a:rPr lang="en"/>
              <a:t>An external style sheet can be written in any text editor, and must be saved with a .css extension.</a:t>
            </a:r>
            <a:endParaRPr/>
          </a:p>
          <a:p>
            <a:pPr marL="0" lvl="0" indent="0" algn="l" rtl="0">
              <a:lnSpc>
                <a:spcPct val="115000"/>
              </a:lnSpc>
              <a:spcBef>
                <a:spcPts val="1400"/>
              </a:spcBef>
              <a:spcAft>
                <a:spcPts val="1400"/>
              </a:spcAft>
              <a:buSzPts val="1800"/>
              <a:buNone/>
            </a:pPr>
            <a:r>
              <a:rPr lang="en"/>
              <a:t>The external .css file should not contain any HTML tags.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Example </a:t>
            </a:r>
            <a:endParaRPr/>
          </a:p>
        </p:txBody>
      </p:sp>
      <p:sp>
        <p:nvSpPr>
          <p:cNvPr id="149" name="Google Shape;149;p16"/>
          <p:cNvSpPr txBox="1">
            <a:spLocks noGrp="1"/>
          </p:cNvSpPr>
          <p:nvPr>
            <p:ph type="body" idx="1"/>
          </p:nvPr>
        </p:nvSpPr>
        <p:spPr>
          <a:xfrm>
            <a:off x="311700" y="1234050"/>
            <a:ext cx="3999900" cy="3334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400"/>
              <a:buNone/>
            </a:pPr>
            <a:r>
              <a:rPr lang="en" b="1"/>
              <a:t>An HTML page:</a:t>
            </a:r>
            <a:endParaRPr b="1">
              <a:solidFill>
                <a:srgbClr val="0000CD"/>
              </a:solidFill>
            </a:endParaRPr>
          </a:p>
          <a:p>
            <a:pPr marL="0" lvl="0" indent="0" algn="l" rtl="0">
              <a:lnSpc>
                <a:spcPct val="100000"/>
              </a:lnSpc>
              <a:spcBef>
                <a:spcPts val="1200"/>
              </a:spcBef>
              <a:spcAft>
                <a:spcPts val="0"/>
              </a:spcAft>
              <a:buClr>
                <a:schemeClr val="dk2"/>
              </a:buClr>
              <a:buSzPts val="1100"/>
              <a:buFont typeface="Arial"/>
              <a:buNone/>
            </a:pPr>
            <a:r>
              <a:rPr lang="en">
                <a:solidFill>
                  <a:srgbClr val="0000CD"/>
                </a:solidFill>
              </a:rPr>
              <a:t>&lt;</a:t>
            </a:r>
            <a:r>
              <a:rPr lang="en">
                <a:solidFill>
                  <a:srgbClr val="A52A2A"/>
                </a:solidFill>
              </a:rPr>
              <a:t>!DOCTYPE</a:t>
            </a:r>
            <a:r>
              <a:rPr lang="en">
                <a:solidFill>
                  <a:srgbClr val="FF0000"/>
                </a:solidFill>
              </a:rPr>
              <a:t> html</a:t>
            </a:r>
            <a:r>
              <a:rPr lang="en">
                <a:solidFill>
                  <a:srgbClr val="0000CD"/>
                </a:solidFill>
              </a:rPr>
              <a:t>&gt;</a:t>
            </a:r>
            <a:endParaRPr>
              <a:solidFill>
                <a:srgbClr val="0000CD"/>
              </a:solidFill>
            </a:endParaRPr>
          </a:p>
          <a:p>
            <a:pPr marL="0" lvl="0" indent="0" algn="l" rtl="0">
              <a:lnSpc>
                <a:spcPct val="100000"/>
              </a:lnSpc>
              <a:spcBef>
                <a:spcPts val="0"/>
              </a:spcBef>
              <a:spcAft>
                <a:spcPts val="0"/>
              </a:spcAft>
              <a:buClr>
                <a:schemeClr val="dk2"/>
              </a:buClr>
              <a:buSzPts val="1100"/>
              <a:buFont typeface="Arial"/>
              <a:buNone/>
            </a:pPr>
            <a:r>
              <a:rPr lang="en">
                <a:solidFill>
                  <a:srgbClr val="0000CD"/>
                </a:solidFill>
              </a:rPr>
              <a:t>&lt;</a:t>
            </a:r>
            <a:r>
              <a:rPr lang="en">
                <a:solidFill>
                  <a:srgbClr val="A52A2A"/>
                </a:solidFill>
              </a:rPr>
              <a:t>html</a:t>
            </a:r>
            <a:r>
              <a:rPr lang="en">
                <a:solidFill>
                  <a:srgbClr val="0000CD"/>
                </a:solidFill>
              </a:rPr>
              <a:t>&gt;</a:t>
            </a:r>
            <a:endParaRPr>
              <a:solidFill>
                <a:srgbClr val="0000CD"/>
              </a:solidFill>
            </a:endParaRPr>
          </a:p>
          <a:p>
            <a:pPr marL="0" lvl="0" indent="0" algn="l" rtl="0">
              <a:lnSpc>
                <a:spcPct val="100000"/>
              </a:lnSpc>
              <a:spcBef>
                <a:spcPts val="0"/>
              </a:spcBef>
              <a:spcAft>
                <a:spcPts val="0"/>
              </a:spcAft>
              <a:buClr>
                <a:schemeClr val="dk2"/>
              </a:buClr>
              <a:buSzPts val="1100"/>
              <a:buFont typeface="Arial"/>
              <a:buNone/>
            </a:pPr>
            <a:r>
              <a:rPr lang="en">
                <a:solidFill>
                  <a:srgbClr val="0000CD"/>
                </a:solidFill>
              </a:rPr>
              <a:t>&lt;</a:t>
            </a:r>
            <a:r>
              <a:rPr lang="en">
                <a:solidFill>
                  <a:srgbClr val="A52A2A"/>
                </a:solidFill>
              </a:rPr>
              <a:t>head</a:t>
            </a:r>
            <a:r>
              <a:rPr lang="en">
                <a:solidFill>
                  <a:srgbClr val="0000CD"/>
                </a:solidFill>
              </a:rPr>
              <a:t>&gt;</a:t>
            </a:r>
            <a:endParaRPr>
              <a:solidFill>
                <a:srgbClr val="0000CD"/>
              </a:solidFill>
            </a:endParaRPr>
          </a:p>
          <a:p>
            <a:pPr marL="0" lvl="0" indent="0" algn="l" rtl="0">
              <a:lnSpc>
                <a:spcPct val="100000"/>
              </a:lnSpc>
              <a:spcBef>
                <a:spcPts val="0"/>
              </a:spcBef>
              <a:spcAft>
                <a:spcPts val="0"/>
              </a:spcAft>
              <a:buClr>
                <a:schemeClr val="dk2"/>
              </a:buClr>
              <a:buSzPts val="1100"/>
              <a:buFont typeface="Arial"/>
              <a:buNone/>
            </a:pPr>
            <a:r>
              <a:rPr lang="en" b="1">
                <a:solidFill>
                  <a:srgbClr val="0000CD"/>
                </a:solidFill>
              </a:rPr>
              <a:t>&lt;</a:t>
            </a:r>
            <a:r>
              <a:rPr lang="en" b="1">
                <a:solidFill>
                  <a:srgbClr val="A52A2A"/>
                </a:solidFill>
              </a:rPr>
              <a:t>link</a:t>
            </a:r>
            <a:r>
              <a:rPr lang="en" b="1">
                <a:solidFill>
                  <a:srgbClr val="FF0000"/>
                </a:solidFill>
              </a:rPr>
              <a:t> rel</a:t>
            </a:r>
            <a:r>
              <a:rPr lang="en" b="1">
                <a:solidFill>
                  <a:srgbClr val="0000CD"/>
                </a:solidFill>
              </a:rPr>
              <a:t>="stylesheet"</a:t>
            </a:r>
            <a:r>
              <a:rPr lang="en" b="1">
                <a:solidFill>
                  <a:srgbClr val="FF0000"/>
                </a:solidFill>
              </a:rPr>
              <a:t> href</a:t>
            </a:r>
            <a:r>
              <a:rPr lang="en" b="1">
                <a:solidFill>
                  <a:srgbClr val="0000CD"/>
                </a:solidFill>
              </a:rPr>
              <a:t>="mystyle.css"&gt;</a:t>
            </a:r>
            <a:endParaRPr b="1">
              <a:solidFill>
                <a:srgbClr val="0000CD"/>
              </a:solidFill>
            </a:endParaRPr>
          </a:p>
          <a:p>
            <a:pPr marL="0" lvl="0" indent="0" algn="l" rtl="0">
              <a:lnSpc>
                <a:spcPct val="100000"/>
              </a:lnSpc>
              <a:spcBef>
                <a:spcPts val="0"/>
              </a:spcBef>
              <a:spcAft>
                <a:spcPts val="0"/>
              </a:spcAft>
              <a:buClr>
                <a:schemeClr val="dk2"/>
              </a:buClr>
              <a:buSzPts val="1100"/>
              <a:buFont typeface="Arial"/>
              <a:buNone/>
            </a:pPr>
            <a:r>
              <a:rPr lang="en">
                <a:solidFill>
                  <a:srgbClr val="0000CD"/>
                </a:solidFill>
              </a:rPr>
              <a:t>&lt;</a:t>
            </a:r>
            <a:r>
              <a:rPr lang="en">
                <a:solidFill>
                  <a:srgbClr val="A52A2A"/>
                </a:solidFill>
              </a:rPr>
              <a:t>/head</a:t>
            </a:r>
            <a:r>
              <a:rPr lang="en">
                <a:solidFill>
                  <a:srgbClr val="0000CD"/>
                </a:solidFill>
              </a:rPr>
              <a:t>&gt;</a:t>
            </a:r>
            <a:endParaRPr>
              <a:solidFill>
                <a:srgbClr val="0000CD"/>
              </a:solidFill>
            </a:endParaRPr>
          </a:p>
          <a:p>
            <a:pPr marL="0" lvl="0" indent="0" algn="l" rtl="0">
              <a:lnSpc>
                <a:spcPct val="100000"/>
              </a:lnSpc>
              <a:spcBef>
                <a:spcPts val="0"/>
              </a:spcBef>
              <a:spcAft>
                <a:spcPts val="0"/>
              </a:spcAft>
              <a:buClr>
                <a:schemeClr val="dk2"/>
              </a:buClr>
              <a:buSzPts val="1100"/>
              <a:buFont typeface="Arial"/>
              <a:buNone/>
            </a:pPr>
            <a:r>
              <a:rPr lang="en">
                <a:solidFill>
                  <a:srgbClr val="0000CD"/>
                </a:solidFill>
              </a:rPr>
              <a:t>&lt;</a:t>
            </a:r>
            <a:r>
              <a:rPr lang="en">
                <a:solidFill>
                  <a:srgbClr val="A52A2A"/>
                </a:solidFill>
              </a:rPr>
              <a:t>body</a:t>
            </a:r>
            <a:r>
              <a:rPr lang="en">
                <a:solidFill>
                  <a:srgbClr val="0000CD"/>
                </a:solidFill>
              </a:rPr>
              <a:t>&gt;</a:t>
            </a:r>
            <a:endParaRPr>
              <a:solidFill>
                <a:srgbClr val="0000CD"/>
              </a:solidFill>
            </a:endParaRPr>
          </a:p>
          <a:p>
            <a:pPr marL="0" lvl="0" indent="0" algn="l" rtl="0">
              <a:lnSpc>
                <a:spcPct val="100000"/>
              </a:lnSpc>
              <a:spcBef>
                <a:spcPts val="0"/>
              </a:spcBef>
              <a:spcAft>
                <a:spcPts val="0"/>
              </a:spcAft>
              <a:buClr>
                <a:schemeClr val="dk2"/>
              </a:buClr>
              <a:buSzPts val="1100"/>
              <a:buFont typeface="Arial"/>
              <a:buNone/>
            </a:pPr>
            <a:endParaRPr/>
          </a:p>
          <a:p>
            <a:pPr marL="0" lvl="0" indent="0" algn="l" rtl="0">
              <a:lnSpc>
                <a:spcPct val="100000"/>
              </a:lnSpc>
              <a:spcBef>
                <a:spcPts val="0"/>
              </a:spcBef>
              <a:spcAft>
                <a:spcPts val="0"/>
              </a:spcAft>
              <a:buClr>
                <a:schemeClr val="dk2"/>
              </a:buClr>
              <a:buSzPts val="1100"/>
              <a:buFont typeface="Arial"/>
              <a:buNone/>
            </a:pPr>
            <a:r>
              <a:rPr lang="en">
                <a:solidFill>
                  <a:srgbClr val="0000CD"/>
                </a:solidFill>
              </a:rPr>
              <a:t>&lt;</a:t>
            </a:r>
            <a:r>
              <a:rPr lang="en">
                <a:solidFill>
                  <a:srgbClr val="A52A2A"/>
                </a:solidFill>
              </a:rPr>
              <a:t>h1</a:t>
            </a:r>
            <a:r>
              <a:rPr lang="en">
                <a:solidFill>
                  <a:srgbClr val="0000CD"/>
                </a:solidFill>
              </a:rPr>
              <a:t>&gt;</a:t>
            </a:r>
            <a:r>
              <a:rPr lang="en">
                <a:highlight>
                  <a:srgbClr val="FFFFFF"/>
                </a:highlight>
              </a:rPr>
              <a:t>This is a heading</a:t>
            </a:r>
            <a:r>
              <a:rPr lang="en">
                <a:solidFill>
                  <a:srgbClr val="0000CD"/>
                </a:solidFill>
              </a:rPr>
              <a:t>&lt;</a:t>
            </a:r>
            <a:r>
              <a:rPr lang="en">
                <a:solidFill>
                  <a:srgbClr val="A52A2A"/>
                </a:solidFill>
              </a:rPr>
              <a:t>/h1</a:t>
            </a:r>
            <a:r>
              <a:rPr lang="en">
                <a:solidFill>
                  <a:srgbClr val="0000CD"/>
                </a:solidFill>
              </a:rPr>
              <a:t>&gt;</a:t>
            </a:r>
            <a:endParaRPr>
              <a:solidFill>
                <a:srgbClr val="0000CD"/>
              </a:solidFill>
            </a:endParaRPr>
          </a:p>
          <a:p>
            <a:pPr marL="0" lvl="0" indent="0" algn="l" rtl="0">
              <a:lnSpc>
                <a:spcPct val="100000"/>
              </a:lnSpc>
              <a:spcBef>
                <a:spcPts val="0"/>
              </a:spcBef>
              <a:spcAft>
                <a:spcPts val="0"/>
              </a:spcAft>
              <a:buClr>
                <a:schemeClr val="dk2"/>
              </a:buClr>
              <a:buSzPts val="1100"/>
              <a:buFont typeface="Arial"/>
              <a:buNone/>
            </a:pPr>
            <a:r>
              <a:rPr lang="en">
                <a:solidFill>
                  <a:srgbClr val="0000CD"/>
                </a:solidFill>
              </a:rPr>
              <a:t>&lt;</a:t>
            </a:r>
            <a:r>
              <a:rPr lang="en">
                <a:solidFill>
                  <a:srgbClr val="A52A2A"/>
                </a:solidFill>
              </a:rPr>
              <a:t>p</a:t>
            </a:r>
            <a:r>
              <a:rPr lang="en">
                <a:solidFill>
                  <a:srgbClr val="0000CD"/>
                </a:solidFill>
              </a:rPr>
              <a:t>&gt;</a:t>
            </a:r>
            <a:r>
              <a:rPr lang="en">
                <a:highlight>
                  <a:srgbClr val="FFFFFF"/>
                </a:highlight>
              </a:rPr>
              <a:t>This is a paragraph.</a:t>
            </a:r>
            <a:r>
              <a:rPr lang="en">
                <a:solidFill>
                  <a:srgbClr val="0000CD"/>
                </a:solidFill>
              </a:rPr>
              <a:t>&lt;</a:t>
            </a:r>
            <a:r>
              <a:rPr lang="en">
                <a:solidFill>
                  <a:srgbClr val="A52A2A"/>
                </a:solidFill>
              </a:rPr>
              <a:t>/p</a:t>
            </a:r>
            <a:r>
              <a:rPr lang="en">
                <a:solidFill>
                  <a:srgbClr val="0000CD"/>
                </a:solidFill>
              </a:rPr>
              <a:t>&gt;</a:t>
            </a:r>
            <a:endParaRPr>
              <a:solidFill>
                <a:srgbClr val="0000CD"/>
              </a:solidFill>
            </a:endParaRPr>
          </a:p>
          <a:p>
            <a:pPr marL="0" lvl="0" indent="0" algn="l" rtl="0">
              <a:lnSpc>
                <a:spcPct val="100000"/>
              </a:lnSpc>
              <a:spcBef>
                <a:spcPts val="0"/>
              </a:spcBef>
              <a:spcAft>
                <a:spcPts val="0"/>
              </a:spcAft>
              <a:buClr>
                <a:schemeClr val="dk2"/>
              </a:buClr>
              <a:buSzPts val="1100"/>
              <a:buFont typeface="Arial"/>
              <a:buNone/>
            </a:pPr>
            <a:endParaRPr/>
          </a:p>
          <a:p>
            <a:pPr marL="0" lvl="0" indent="0" algn="l" rtl="0">
              <a:lnSpc>
                <a:spcPct val="100000"/>
              </a:lnSpc>
              <a:spcBef>
                <a:spcPts val="0"/>
              </a:spcBef>
              <a:spcAft>
                <a:spcPts val="0"/>
              </a:spcAft>
              <a:buClr>
                <a:schemeClr val="dk2"/>
              </a:buClr>
              <a:buSzPts val="1100"/>
              <a:buFont typeface="Arial"/>
              <a:buNone/>
            </a:pPr>
            <a:r>
              <a:rPr lang="en">
                <a:solidFill>
                  <a:srgbClr val="0000CD"/>
                </a:solidFill>
              </a:rPr>
              <a:t>&lt;</a:t>
            </a:r>
            <a:r>
              <a:rPr lang="en">
                <a:solidFill>
                  <a:srgbClr val="A52A2A"/>
                </a:solidFill>
              </a:rPr>
              <a:t>/body</a:t>
            </a:r>
            <a:r>
              <a:rPr lang="en">
                <a:solidFill>
                  <a:srgbClr val="0000CD"/>
                </a:solidFill>
              </a:rPr>
              <a:t>&gt;</a:t>
            </a:r>
            <a:endParaRPr>
              <a:solidFill>
                <a:srgbClr val="0000CD"/>
              </a:solidFill>
            </a:endParaRPr>
          </a:p>
          <a:p>
            <a:pPr marL="0" lvl="0" indent="0" algn="l" rtl="0">
              <a:lnSpc>
                <a:spcPct val="100000"/>
              </a:lnSpc>
              <a:spcBef>
                <a:spcPts val="0"/>
              </a:spcBef>
              <a:spcAft>
                <a:spcPts val="0"/>
              </a:spcAft>
              <a:buSzPts val="1400"/>
              <a:buNone/>
            </a:pPr>
            <a:r>
              <a:rPr lang="en">
                <a:solidFill>
                  <a:srgbClr val="0000CD"/>
                </a:solidFill>
              </a:rPr>
              <a:t>&lt;</a:t>
            </a:r>
            <a:r>
              <a:rPr lang="en">
                <a:solidFill>
                  <a:srgbClr val="A52A2A"/>
                </a:solidFill>
              </a:rPr>
              <a:t>/html</a:t>
            </a:r>
            <a:r>
              <a:rPr lang="en">
                <a:solidFill>
                  <a:srgbClr val="0000CD"/>
                </a:solidFill>
              </a:rPr>
              <a:t>&gt;</a:t>
            </a:r>
            <a:endParaRPr/>
          </a:p>
        </p:txBody>
      </p:sp>
      <p:sp>
        <p:nvSpPr>
          <p:cNvPr id="150" name="Google Shape;150;p16"/>
          <p:cNvSpPr txBox="1">
            <a:spLocks noGrp="1"/>
          </p:cNvSpPr>
          <p:nvPr>
            <p:ph type="body" idx="2"/>
          </p:nvPr>
        </p:nvSpPr>
        <p:spPr>
          <a:xfrm>
            <a:off x="4832400" y="1234050"/>
            <a:ext cx="3999900" cy="3334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400"/>
              <a:buNone/>
            </a:pPr>
            <a:r>
              <a:rPr lang="en" b="1"/>
              <a:t>mystyle.css:</a:t>
            </a:r>
            <a:endParaRPr b="1"/>
          </a:p>
          <a:p>
            <a:pPr marL="0" marR="0" lvl="0" indent="0" algn="l" rtl="0">
              <a:lnSpc>
                <a:spcPct val="100000"/>
              </a:lnSpc>
              <a:spcBef>
                <a:spcPts val="1200"/>
              </a:spcBef>
              <a:spcAft>
                <a:spcPts val="0"/>
              </a:spcAft>
              <a:buSzPts val="1400"/>
              <a:buNone/>
            </a:pPr>
            <a:r>
              <a:rPr lang="en">
                <a:solidFill>
                  <a:srgbClr val="A52A2A"/>
                </a:solidFill>
              </a:rPr>
              <a:t>body</a:t>
            </a:r>
            <a:r>
              <a:rPr lang="en">
                <a:solidFill>
                  <a:srgbClr val="A52A2A"/>
                </a:solidFill>
                <a:highlight>
                  <a:srgbClr val="FFFFFF"/>
                </a:highlight>
              </a:rPr>
              <a:t> </a:t>
            </a:r>
            <a:r>
              <a:rPr lang="en">
                <a:highlight>
                  <a:srgbClr val="FFFFFF"/>
                </a:highlight>
              </a:rPr>
              <a:t>{</a:t>
            </a:r>
            <a:endParaRPr>
              <a:highlight>
                <a:srgbClr val="FFFFFF"/>
              </a:highlight>
            </a:endParaRPr>
          </a:p>
          <a:p>
            <a:pPr marL="0" lvl="0" indent="0" algn="l" rtl="0">
              <a:lnSpc>
                <a:spcPct val="100000"/>
              </a:lnSpc>
              <a:spcBef>
                <a:spcPts val="0"/>
              </a:spcBef>
              <a:spcAft>
                <a:spcPts val="0"/>
              </a:spcAft>
              <a:buClr>
                <a:schemeClr val="dk2"/>
              </a:buClr>
              <a:buSzPts val="1100"/>
              <a:buFont typeface="Arial"/>
              <a:buNone/>
            </a:pPr>
            <a:r>
              <a:rPr lang="en">
                <a:solidFill>
                  <a:srgbClr val="FF0000"/>
                </a:solidFill>
                <a:highlight>
                  <a:srgbClr val="FFFFFF"/>
                </a:highlight>
              </a:rPr>
              <a:t>  background-color</a:t>
            </a:r>
            <a:r>
              <a:rPr lang="en">
                <a:highlight>
                  <a:srgbClr val="FFFFFF"/>
                </a:highlight>
              </a:rPr>
              <a:t>:</a:t>
            </a:r>
            <a:r>
              <a:rPr lang="en">
                <a:solidFill>
                  <a:srgbClr val="0000CD"/>
                </a:solidFill>
                <a:highlight>
                  <a:srgbClr val="FFFFFF"/>
                </a:highlight>
              </a:rPr>
              <a:t> lightblue</a:t>
            </a:r>
            <a:r>
              <a:rPr lang="en">
                <a:highlight>
                  <a:srgbClr val="FFFFFF"/>
                </a:highlight>
              </a:rPr>
              <a:t>;</a:t>
            </a:r>
            <a:endParaRPr>
              <a:highlight>
                <a:srgbClr val="FFFFFF"/>
              </a:highlight>
            </a:endParaRPr>
          </a:p>
          <a:p>
            <a:pPr marL="0" lvl="0" indent="0" algn="l" rtl="0">
              <a:lnSpc>
                <a:spcPct val="100000"/>
              </a:lnSpc>
              <a:spcBef>
                <a:spcPts val="1200"/>
              </a:spcBef>
              <a:spcAft>
                <a:spcPts val="0"/>
              </a:spcAft>
              <a:buClr>
                <a:schemeClr val="dk2"/>
              </a:buClr>
              <a:buSzPts val="1100"/>
              <a:buFont typeface="Arial"/>
              <a:buNone/>
            </a:pPr>
            <a:r>
              <a:rPr lang="en">
                <a:highlight>
                  <a:srgbClr val="FFFFFF"/>
                </a:highlight>
              </a:rPr>
              <a:t>}</a:t>
            </a:r>
            <a:endParaRPr/>
          </a:p>
          <a:p>
            <a:pPr marL="0" lvl="0" indent="0" algn="l" rtl="0">
              <a:lnSpc>
                <a:spcPct val="100000"/>
              </a:lnSpc>
              <a:spcBef>
                <a:spcPts val="1200"/>
              </a:spcBef>
              <a:spcAft>
                <a:spcPts val="0"/>
              </a:spcAft>
              <a:buClr>
                <a:schemeClr val="dk2"/>
              </a:buClr>
              <a:buSzPts val="1100"/>
              <a:buFont typeface="Arial"/>
              <a:buNone/>
            </a:pPr>
            <a:r>
              <a:rPr lang="en">
                <a:solidFill>
                  <a:srgbClr val="A52A2A"/>
                </a:solidFill>
                <a:highlight>
                  <a:srgbClr val="FFFFFF"/>
                </a:highlight>
              </a:rPr>
              <a:t>h1 </a:t>
            </a:r>
            <a:r>
              <a:rPr lang="en">
                <a:highlight>
                  <a:srgbClr val="FFFFFF"/>
                </a:highlight>
              </a:rPr>
              <a:t>{</a:t>
            </a:r>
            <a:endParaRPr>
              <a:highlight>
                <a:srgbClr val="FFFFFF"/>
              </a:highlight>
            </a:endParaRPr>
          </a:p>
          <a:p>
            <a:pPr marL="0" lvl="0" indent="0" algn="l" rtl="0">
              <a:lnSpc>
                <a:spcPct val="100000"/>
              </a:lnSpc>
              <a:spcBef>
                <a:spcPts val="1200"/>
              </a:spcBef>
              <a:spcAft>
                <a:spcPts val="0"/>
              </a:spcAft>
              <a:buClr>
                <a:schemeClr val="dk2"/>
              </a:buClr>
              <a:buSzPts val="1100"/>
              <a:buFont typeface="Arial"/>
              <a:buNone/>
            </a:pPr>
            <a:r>
              <a:rPr lang="en">
                <a:solidFill>
                  <a:srgbClr val="FF0000"/>
                </a:solidFill>
                <a:highlight>
                  <a:srgbClr val="FFFFFF"/>
                </a:highlight>
              </a:rPr>
              <a:t>  color</a:t>
            </a:r>
            <a:r>
              <a:rPr lang="en">
                <a:highlight>
                  <a:srgbClr val="FFFFFF"/>
                </a:highlight>
              </a:rPr>
              <a:t>:</a:t>
            </a:r>
            <a:r>
              <a:rPr lang="en">
                <a:solidFill>
                  <a:srgbClr val="0000CD"/>
                </a:solidFill>
                <a:highlight>
                  <a:srgbClr val="FFFFFF"/>
                </a:highlight>
              </a:rPr>
              <a:t> navy</a:t>
            </a:r>
            <a:r>
              <a:rPr lang="en">
                <a:highlight>
                  <a:srgbClr val="FFFFFF"/>
                </a:highlight>
              </a:rPr>
              <a:t>;</a:t>
            </a:r>
            <a:endParaRPr>
              <a:highlight>
                <a:srgbClr val="FFFFFF"/>
              </a:highlight>
            </a:endParaRPr>
          </a:p>
          <a:p>
            <a:pPr marL="0" lvl="0" indent="0" algn="l" rtl="0">
              <a:lnSpc>
                <a:spcPct val="100000"/>
              </a:lnSpc>
              <a:spcBef>
                <a:spcPts val="1200"/>
              </a:spcBef>
              <a:spcAft>
                <a:spcPts val="0"/>
              </a:spcAft>
              <a:buClr>
                <a:schemeClr val="dk2"/>
              </a:buClr>
              <a:buSzPts val="1100"/>
              <a:buFont typeface="Arial"/>
              <a:buNone/>
            </a:pPr>
            <a:r>
              <a:rPr lang="en">
                <a:solidFill>
                  <a:srgbClr val="FF0000"/>
                </a:solidFill>
                <a:highlight>
                  <a:srgbClr val="FFFFFF"/>
                </a:highlight>
              </a:rPr>
              <a:t>  margin-left</a:t>
            </a:r>
            <a:r>
              <a:rPr lang="en">
                <a:highlight>
                  <a:srgbClr val="FFFFFF"/>
                </a:highlight>
              </a:rPr>
              <a:t>:</a:t>
            </a:r>
            <a:r>
              <a:rPr lang="en">
                <a:solidFill>
                  <a:srgbClr val="0000CD"/>
                </a:solidFill>
                <a:highlight>
                  <a:srgbClr val="FFFFFF"/>
                </a:highlight>
              </a:rPr>
              <a:t> 20px</a:t>
            </a:r>
            <a:r>
              <a:rPr lang="en">
                <a:highlight>
                  <a:srgbClr val="FFFFFF"/>
                </a:highlight>
              </a:rPr>
              <a:t>;</a:t>
            </a:r>
            <a:endParaRPr>
              <a:highlight>
                <a:srgbClr val="FFFFFF"/>
              </a:highlight>
            </a:endParaRPr>
          </a:p>
          <a:p>
            <a:pPr marL="0" lvl="0" indent="0" algn="l" rtl="0">
              <a:lnSpc>
                <a:spcPct val="100000"/>
              </a:lnSpc>
              <a:spcBef>
                <a:spcPts val="1200"/>
              </a:spcBef>
              <a:spcAft>
                <a:spcPts val="1200"/>
              </a:spcAft>
              <a:buSzPts val="1400"/>
              <a:buNone/>
            </a:pPr>
            <a:r>
              <a:rPr lang="en">
                <a:highlight>
                  <a:srgbClr val="FFFFFF"/>
                </a:highlight>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2.   Internal CSS</a:t>
            </a:r>
            <a:endParaRPr/>
          </a:p>
        </p:txBody>
      </p:sp>
      <p:sp>
        <p:nvSpPr>
          <p:cNvPr id="156" name="Google Shape;156;p17"/>
          <p:cNvSpPr txBox="1">
            <a:spLocks noGrp="1"/>
          </p:cNvSpPr>
          <p:nvPr>
            <p:ph type="body" idx="1"/>
          </p:nvPr>
        </p:nvSpPr>
        <p:spPr>
          <a:xfrm>
            <a:off x="311700" y="1234050"/>
            <a:ext cx="3999900" cy="3334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400"/>
              <a:buNone/>
            </a:pPr>
            <a:r>
              <a:rPr lang="en"/>
              <a:t>An internal style sheet may be used if one single HTML page has a unique style.</a:t>
            </a:r>
            <a:endParaRPr/>
          </a:p>
          <a:p>
            <a:pPr marL="0" lvl="0" indent="0" algn="l" rtl="0">
              <a:lnSpc>
                <a:spcPct val="115000"/>
              </a:lnSpc>
              <a:spcBef>
                <a:spcPts val="1400"/>
              </a:spcBef>
              <a:spcAft>
                <a:spcPts val="0"/>
              </a:spcAft>
              <a:buClr>
                <a:schemeClr val="dk2"/>
              </a:buClr>
              <a:buSzPts val="1100"/>
              <a:buFont typeface="Arial"/>
              <a:buNone/>
            </a:pPr>
            <a:r>
              <a:rPr lang="en"/>
              <a:t>The internal style is defined inside the &lt;style&gt; element, inside the head section.</a:t>
            </a:r>
            <a:endParaRPr/>
          </a:p>
          <a:p>
            <a:pPr marL="0" lvl="0" indent="0" algn="l" rtl="0">
              <a:lnSpc>
                <a:spcPct val="115000"/>
              </a:lnSpc>
              <a:spcBef>
                <a:spcPts val="1400"/>
              </a:spcBef>
              <a:spcAft>
                <a:spcPts val="1200"/>
              </a:spcAft>
              <a:buSzPts val="1400"/>
              <a:buNone/>
            </a:pPr>
            <a:endParaRPr/>
          </a:p>
        </p:txBody>
      </p:sp>
      <p:sp>
        <p:nvSpPr>
          <p:cNvPr id="157" name="Google Shape;157;p17"/>
          <p:cNvSpPr txBox="1">
            <a:spLocks noGrp="1"/>
          </p:cNvSpPr>
          <p:nvPr>
            <p:ph type="body" idx="2"/>
          </p:nvPr>
        </p:nvSpPr>
        <p:spPr>
          <a:xfrm>
            <a:off x="4832400" y="1234050"/>
            <a:ext cx="3999900" cy="33348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Clr>
                <a:schemeClr val="dk2"/>
              </a:buClr>
              <a:buSzPts val="1100"/>
              <a:buFont typeface="Arial"/>
              <a:buNone/>
            </a:pPr>
            <a:r>
              <a:rPr lang="en" sz="1150">
                <a:solidFill>
                  <a:srgbClr val="0000CD"/>
                </a:solidFill>
              </a:rPr>
              <a:t>&lt;</a:t>
            </a:r>
            <a:r>
              <a:rPr lang="en" sz="1150">
                <a:solidFill>
                  <a:srgbClr val="A52A2A"/>
                </a:solidFill>
              </a:rPr>
              <a:t>!DOCTYPE</a:t>
            </a:r>
            <a:r>
              <a:rPr lang="en" sz="1150">
                <a:solidFill>
                  <a:srgbClr val="FF0000"/>
                </a:solidFill>
              </a:rPr>
              <a:t> html</a:t>
            </a:r>
            <a:r>
              <a:rPr lang="en" sz="1150">
                <a:solidFill>
                  <a:srgbClr val="0000CD"/>
                </a:solidFill>
              </a:rPr>
              <a:t>&gt;</a:t>
            </a:r>
            <a:endParaRPr sz="1150">
              <a:solidFill>
                <a:srgbClr val="0000CD"/>
              </a:solidFill>
            </a:endParaRPr>
          </a:p>
          <a:p>
            <a:pPr marL="0" lvl="0" indent="0" algn="l" rtl="0">
              <a:lnSpc>
                <a:spcPct val="115000"/>
              </a:lnSpc>
              <a:spcBef>
                <a:spcPts val="0"/>
              </a:spcBef>
              <a:spcAft>
                <a:spcPts val="0"/>
              </a:spcAft>
              <a:buClr>
                <a:schemeClr val="dk2"/>
              </a:buClr>
              <a:buSzPts val="1100"/>
              <a:buFont typeface="Arial"/>
              <a:buNone/>
            </a:pPr>
            <a:r>
              <a:rPr lang="en" sz="1150">
                <a:solidFill>
                  <a:srgbClr val="0000CD"/>
                </a:solidFill>
              </a:rPr>
              <a:t>&lt;</a:t>
            </a:r>
            <a:r>
              <a:rPr lang="en" sz="1150">
                <a:solidFill>
                  <a:srgbClr val="A52A2A"/>
                </a:solidFill>
              </a:rPr>
              <a:t>html</a:t>
            </a:r>
            <a:r>
              <a:rPr lang="en" sz="1150">
                <a:solidFill>
                  <a:srgbClr val="0000CD"/>
                </a:solidFill>
              </a:rPr>
              <a:t>&gt;</a:t>
            </a:r>
            <a:endParaRPr sz="1150">
              <a:solidFill>
                <a:srgbClr val="0000CD"/>
              </a:solidFill>
            </a:endParaRPr>
          </a:p>
          <a:p>
            <a:pPr marL="0" lvl="0" indent="0" algn="l" rtl="0">
              <a:lnSpc>
                <a:spcPct val="115000"/>
              </a:lnSpc>
              <a:spcBef>
                <a:spcPts val="0"/>
              </a:spcBef>
              <a:spcAft>
                <a:spcPts val="0"/>
              </a:spcAft>
              <a:buClr>
                <a:schemeClr val="dk2"/>
              </a:buClr>
              <a:buSzPts val="1100"/>
              <a:buFont typeface="Arial"/>
              <a:buNone/>
            </a:pPr>
            <a:r>
              <a:rPr lang="en" sz="1150">
                <a:solidFill>
                  <a:srgbClr val="0000CD"/>
                </a:solidFill>
              </a:rPr>
              <a:t>&lt;</a:t>
            </a:r>
            <a:r>
              <a:rPr lang="en" sz="1150">
                <a:solidFill>
                  <a:srgbClr val="A52A2A"/>
                </a:solidFill>
              </a:rPr>
              <a:t>head</a:t>
            </a:r>
            <a:r>
              <a:rPr lang="en" sz="1150">
                <a:solidFill>
                  <a:srgbClr val="0000CD"/>
                </a:solidFill>
              </a:rPr>
              <a:t>&gt;</a:t>
            </a:r>
            <a:endParaRPr sz="1150">
              <a:solidFill>
                <a:srgbClr val="0000CD"/>
              </a:solidFill>
            </a:endParaRPr>
          </a:p>
          <a:p>
            <a:pPr marL="0" lvl="0" indent="0" algn="l" rtl="0">
              <a:lnSpc>
                <a:spcPct val="115000"/>
              </a:lnSpc>
              <a:spcBef>
                <a:spcPts val="0"/>
              </a:spcBef>
              <a:spcAft>
                <a:spcPts val="0"/>
              </a:spcAft>
              <a:buClr>
                <a:schemeClr val="dk2"/>
              </a:buClr>
              <a:buSzPts val="1100"/>
              <a:buFont typeface="Arial"/>
              <a:buNone/>
            </a:pPr>
            <a:r>
              <a:rPr lang="en" sz="1150" b="1">
                <a:solidFill>
                  <a:srgbClr val="0000CD"/>
                </a:solidFill>
              </a:rPr>
              <a:t>&lt;</a:t>
            </a:r>
            <a:r>
              <a:rPr lang="en" sz="1150" b="1">
                <a:solidFill>
                  <a:srgbClr val="A52A2A"/>
                </a:solidFill>
              </a:rPr>
              <a:t>style</a:t>
            </a:r>
            <a:r>
              <a:rPr lang="en" sz="1150" b="1">
                <a:solidFill>
                  <a:srgbClr val="0000CD"/>
                </a:solidFill>
              </a:rPr>
              <a:t>&gt;</a:t>
            </a:r>
            <a:endParaRPr sz="1150" b="1">
              <a:solidFill>
                <a:srgbClr val="0000CD"/>
              </a:solidFill>
            </a:endParaRPr>
          </a:p>
          <a:p>
            <a:pPr marL="0" lvl="0" indent="0" algn="l" rtl="0">
              <a:lnSpc>
                <a:spcPct val="115000"/>
              </a:lnSpc>
              <a:spcBef>
                <a:spcPts val="0"/>
              </a:spcBef>
              <a:spcAft>
                <a:spcPts val="0"/>
              </a:spcAft>
              <a:buClr>
                <a:schemeClr val="dk2"/>
              </a:buClr>
              <a:buSzPts val="1100"/>
              <a:buFont typeface="Arial"/>
              <a:buNone/>
            </a:pPr>
            <a:r>
              <a:rPr lang="en" sz="1150">
                <a:solidFill>
                  <a:srgbClr val="A52A2A"/>
                </a:solidFill>
              </a:rPr>
              <a:t>body </a:t>
            </a:r>
            <a:r>
              <a:rPr lang="en" sz="1150"/>
              <a:t>{</a:t>
            </a:r>
            <a:endParaRPr sz="1150"/>
          </a:p>
          <a:p>
            <a:pPr marL="0" lvl="0" indent="0" algn="l" rtl="0">
              <a:lnSpc>
                <a:spcPct val="115000"/>
              </a:lnSpc>
              <a:spcBef>
                <a:spcPts val="0"/>
              </a:spcBef>
              <a:spcAft>
                <a:spcPts val="0"/>
              </a:spcAft>
              <a:buClr>
                <a:schemeClr val="dk2"/>
              </a:buClr>
              <a:buSzPts val="1100"/>
              <a:buFont typeface="Arial"/>
              <a:buNone/>
            </a:pPr>
            <a:r>
              <a:rPr lang="en" sz="1150">
                <a:solidFill>
                  <a:srgbClr val="FF0000"/>
                </a:solidFill>
              </a:rPr>
              <a:t>  background-color</a:t>
            </a:r>
            <a:r>
              <a:rPr lang="en" sz="1150"/>
              <a:t>:</a:t>
            </a:r>
            <a:r>
              <a:rPr lang="en" sz="1150">
                <a:solidFill>
                  <a:srgbClr val="0000CD"/>
                </a:solidFill>
              </a:rPr>
              <a:t> linen</a:t>
            </a:r>
            <a:r>
              <a:rPr lang="en" sz="1150"/>
              <a:t>;</a:t>
            </a:r>
            <a:endParaRPr sz="1150"/>
          </a:p>
          <a:p>
            <a:pPr marL="0" lvl="0" indent="0" algn="l" rtl="0">
              <a:lnSpc>
                <a:spcPct val="115000"/>
              </a:lnSpc>
              <a:spcBef>
                <a:spcPts val="0"/>
              </a:spcBef>
              <a:spcAft>
                <a:spcPts val="0"/>
              </a:spcAft>
              <a:buClr>
                <a:schemeClr val="dk2"/>
              </a:buClr>
              <a:buSzPts val="1100"/>
              <a:buFont typeface="Arial"/>
              <a:buNone/>
            </a:pPr>
            <a:r>
              <a:rPr lang="en" sz="1150"/>
              <a:t>}</a:t>
            </a:r>
            <a:endParaRPr sz="1150">
              <a:solidFill>
                <a:srgbClr val="A52A2A"/>
              </a:solidFill>
            </a:endParaRPr>
          </a:p>
          <a:p>
            <a:pPr marL="0" lvl="0" indent="0" algn="l" rtl="0">
              <a:lnSpc>
                <a:spcPct val="115000"/>
              </a:lnSpc>
              <a:spcBef>
                <a:spcPts val="0"/>
              </a:spcBef>
              <a:spcAft>
                <a:spcPts val="0"/>
              </a:spcAft>
              <a:buClr>
                <a:schemeClr val="dk2"/>
              </a:buClr>
              <a:buSzPts val="1100"/>
              <a:buFont typeface="Arial"/>
              <a:buNone/>
            </a:pPr>
            <a:r>
              <a:rPr lang="en" sz="1150">
                <a:solidFill>
                  <a:srgbClr val="A52A2A"/>
                </a:solidFill>
              </a:rPr>
              <a:t>h1 </a:t>
            </a:r>
            <a:r>
              <a:rPr lang="en" sz="1150"/>
              <a:t>{</a:t>
            </a:r>
            <a:endParaRPr sz="1150"/>
          </a:p>
          <a:p>
            <a:pPr marL="0" lvl="0" indent="0" algn="l" rtl="0">
              <a:lnSpc>
                <a:spcPct val="115000"/>
              </a:lnSpc>
              <a:spcBef>
                <a:spcPts val="0"/>
              </a:spcBef>
              <a:spcAft>
                <a:spcPts val="0"/>
              </a:spcAft>
              <a:buClr>
                <a:schemeClr val="dk2"/>
              </a:buClr>
              <a:buSzPts val="1100"/>
              <a:buFont typeface="Arial"/>
              <a:buNone/>
            </a:pPr>
            <a:r>
              <a:rPr lang="en" sz="1150">
                <a:solidFill>
                  <a:srgbClr val="FF0000"/>
                </a:solidFill>
              </a:rPr>
              <a:t>  color</a:t>
            </a:r>
            <a:r>
              <a:rPr lang="en" sz="1150"/>
              <a:t>:</a:t>
            </a:r>
            <a:r>
              <a:rPr lang="en" sz="1150">
                <a:solidFill>
                  <a:srgbClr val="0000CD"/>
                </a:solidFill>
              </a:rPr>
              <a:t> maroon</a:t>
            </a:r>
            <a:r>
              <a:rPr lang="en" sz="1150"/>
              <a:t>;</a:t>
            </a:r>
            <a:endParaRPr sz="1150"/>
          </a:p>
          <a:p>
            <a:pPr marL="0" lvl="0" indent="0" algn="l" rtl="0">
              <a:lnSpc>
                <a:spcPct val="115000"/>
              </a:lnSpc>
              <a:spcBef>
                <a:spcPts val="0"/>
              </a:spcBef>
              <a:spcAft>
                <a:spcPts val="0"/>
              </a:spcAft>
              <a:buClr>
                <a:schemeClr val="dk2"/>
              </a:buClr>
              <a:buSzPts val="1100"/>
              <a:buFont typeface="Arial"/>
              <a:buNone/>
            </a:pPr>
            <a:r>
              <a:rPr lang="en" sz="1150">
                <a:solidFill>
                  <a:srgbClr val="FF0000"/>
                </a:solidFill>
              </a:rPr>
              <a:t>  margin-left</a:t>
            </a:r>
            <a:r>
              <a:rPr lang="en" sz="1150"/>
              <a:t>:</a:t>
            </a:r>
            <a:r>
              <a:rPr lang="en" sz="1150">
                <a:solidFill>
                  <a:srgbClr val="0000CD"/>
                </a:solidFill>
              </a:rPr>
              <a:t> 40px</a:t>
            </a:r>
            <a:r>
              <a:rPr lang="en" sz="1150"/>
              <a:t>;</a:t>
            </a:r>
            <a:endParaRPr sz="1150"/>
          </a:p>
          <a:p>
            <a:pPr marL="0" lvl="0" indent="0" algn="l" rtl="0">
              <a:lnSpc>
                <a:spcPct val="115000"/>
              </a:lnSpc>
              <a:spcBef>
                <a:spcPts val="0"/>
              </a:spcBef>
              <a:spcAft>
                <a:spcPts val="0"/>
              </a:spcAft>
              <a:buClr>
                <a:schemeClr val="dk2"/>
              </a:buClr>
              <a:buSzPts val="1100"/>
              <a:buFont typeface="Arial"/>
              <a:buNone/>
            </a:pPr>
            <a:r>
              <a:rPr lang="en" sz="1150"/>
              <a:t>}</a:t>
            </a:r>
            <a:endParaRPr sz="1150"/>
          </a:p>
          <a:p>
            <a:pPr marL="0" lvl="0" indent="0" algn="l" rtl="0">
              <a:lnSpc>
                <a:spcPct val="115000"/>
              </a:lnSpc>
              <a:spcBef>
                <a:spcPts val="0"/>
              </a:spcBef>
              <a:spcAft>
                <a:spcPts val="0"/>
              </a:spcAft>
              <a:buClr>
                <a:schemeClr val="dk2"/>
              </a:buClr>
              <a:buSzPts val="1100"/>
              <a:buFont typeface="Arial"/>
              <a:buNone/>
            </a:pPr>
            <a:r>
              <a:rPr lang="en" sz="1150" b="1">
                <a:solidFill>
                  <a:srgbClr val="0000CD"/>
                </a:solidFill>
              </a:rPr>
              <a:t>&lt;</a:t>
            </a:r>
            <a:r>
              <a:rPr lang="en" sz="1150" b="1">
                <a:solidFill>
                  <a:srgbClr val="A52A2A"/>
                </a:solidFill>
              </a:rPr>
              <a:t>/style</a:t>
            </a:r>
            <a:r>
              <a:rPr lang="en" sz="1150" b="1">
                <a:solidFill>
                  <a:srgbClr val="0000CD"/>
                </a:solidFill>
              </a:rPr>
              <a:t>&gt;</a:t>
            </a:r>
            <a:endParaRPr sz="1150" b="1">
              <a:solidFill>
                <a:srgbClr val="0000CD"/>
              </a:solidFill>
            </a:endParaRPr>
          </a:p>
          <a:p>
            <a:pPr marL="0" lvl="0" indent="0" algn="l" rtl="0">
              <a:lnSpc>
                <a:spcPct val="115000"/>
              </a:lnSpc>
              <a:spcBef>
                <a:spcPts val="0"/>
              </a:spcBef>
              <a:spcAft>
                <a:spcPts val="0"/>
              </a:spcAft>
              <a:buClr>
                <a:schemeClr val="dk2"/>
              </a:buClr>
              <a:buSzPts val="1100"/>
              <a:buFont typeface="Arial"/>
              <a:buNone/>
            </a:pPr>
            <a:r>
              <a:rPr lang="en" sz="1150">
                <a:solidFill>
                  <a:srgbClr val="0000CD"/>
                </a:solidFill>
              </a:rPr>
              <a:t>&lt;</a:t>
            </a:r>
            <a:r>
              <a:rPr lang="en" sz="1150">
                <a:solidFill>
                  <a:srgbClr val="A52A2A"/>
                </a:solidFill>
              </a:rPr>
              <a:t>/head</a:t>
            </a:r>
            <a:r>
              <a:rPr lang="en" sz="1150">
                <a:solidFill>
                  <a:srgbClr val="0000CD"/>
                </a:solidFill>
              </a:rPr>
              <a:t>&gt;</a:t>
            </a:r>
            <a:endParaRPr sz="1150">
              <a:solidFill>
                <a:srgbClr val="0000CD"/>
              </a:solidFill>
            </a:endParaRPr>
          </a:p>
          <a:p>
            <a:pPr marL="0" lvl="0" indent="0" algn="l" rtl="0">
              <a:lnSpc>
                <a:spcPct val="115000"/>
              </a:lnSpc>
              <a:spcBef>
                <a:spcPts val="0"/>
              </a:spcBef>
              <a:spcAft>
                <a:spcPts val="0"/>
              </a:spcAft>
              <a:buClr>
                <a:schemeClr val="dk2"/>
              </a:buClr>
              <a:buSzPts val="1100"/>
              <a:buFont typeface="Arial"/>
              <a:buNone/>
            </a:pPr>
            <a:r>
              <a:rPr lang="en" sz="1150">
                <a:solidFill>
                  <a:srgbClr val="0000CD"/>
                </a:solidFill>
              </a:rPr>
              <a:t>&lt;</a:t>
            </a:r>
            <a:r>
              <a:rPr lang="en" sz="1150">
                <a:solidFill>
                  <a:srgbClr val="A52A2A"/>
                </a:solidFill>
              </a:rPr>
              <a:t>body</a:t>
            </a:r>
            <a:r>
              <a:rPr lang="en" sz="1150">
                <a:solidFill>
                  <a:srgbClr val="0000CD"/>
                </a:solidFill>
              </a:rPr>
              <a:t>&gt;</a:t>
            </a:r>
            <a:endParaRPr sz="1100"/>
          </a:p>
          <a:p>
            <a:pPr marL="0" lvl="0" indent="0" algn="l" rtl="0">
              <a:lnSpc>
                <a:spcPct val="115000"/>
              </a:lnSpc>
              <a:spcBef>
                <a:spcPts val="0"/>
              </a:spcBef>
              <a:spcAft>
                <a:spcPts val="0"/>
              </a:spcAft>
              <a:buClr>
                <a:schemeClr val="dk2"/>
              </a:buClr>
              <a:buSzPts val="1100"/>
              <a:buFont typeface="Arial"/>
              <a:buNone/>
            </a:pPr>
            <a:r>
              <a:rPr lang="en" sz="1150">
                <a:solidFill>
                  <a:srgbClr val="0000CD"/>
                </a:solidFill>
              </a:rPr>
              <a:t>&lt;</a:t>
            </a:r>
            <a:r>
              <a:rPr lang="en" sz="1150">
                <a:solidFill>
                  <a:srgbClr val="A52A2A"/>
                </a:solidFill>
              </a:rPr>
              <a:t>h1</a:t>
            </a:r>
            <a:r>
              <a:rPr lang="en" sz="1150">
                <a:solidFill>
                  <a:srgbClr val="0000CD"/>
                </a:solidFill>
              </a:rPr>
              <a:t>&gt;</a:t>
            </a:r>
            <a:r>
              <a:rPr lang="en" sz="1150">
                <a:highlight>
                  <a:srgbClr val="FFFFFF"/>
                </a:highlight>
              </a:rPr>
              <a:t>This is a heading</a:t>
            </a:r>
            <a:r>
              <a:rPr lang="en" sz="1150">
                <a:solidFill>
                  <a:srgbClr val="0000CD"/>
                </a:solidFill>
              </a:rPr>
              <a:t>&lt;</a:t>
            </a:r>
            <a:r>
              <a:rPr lang="en" sz="1150">
                <a:solidFill>
                  <a:srgbClr val="A52A2A"/>
                </a:solidFill>
              </a:rPr>
              <a:t>/h1</a:t>
            </a:r>
            <a:r>
              <a:rPr lang="en" sz="1150">
                <a:solidFill>
                  <a:srgbClr val="0000CD"/>
                </a:solidFill>
              </a:rPr>
              <a:t>&gt;</a:t>
            </a:r>
            <a:endParaRPr sz="1100"/>
          </a:p>
          <a:p>
            <a:pPr marL="0" lvl="0" indent="0" algn="l" rtl="0">
              <a:lnSpc>
                <a:spcPct val="115000"/>
              </a:lnSpc>
              <a:spcBef>
                <a:spcPts val="0"/>
              </a:spcBef>
              <a:spcAft>
                <a:spcPts val="0"/>
              </a:spcAft>
              <a:buClr>
                <a:schemeClr val="dk2"/>
              </a:buClr>
              <a:buSzPts val="1100"/>
              <a:buFont typeface="Arial"/>
              <a:buNone/>
            </a:pPr>
            <a:r>
              <a:rPr lang="en" sz="1150">
                <a:solidFill>
                  <a:srgbClr val="0000CD"/>
                </a:solidFill>
              </a:rPr>
              <a:t>&lt;</a:t>
            </a:r>
            <a:r>
              <a:rPr lang="en" sz="1150">
                <a:solidFill>
                  <a:srgbClr val="A52A2A"/>
                </a:solidFill>
              </a:rPr>
              <a:t>/body</a:t>
            </a:r>
            <a:r>
              <a:rPr lang="en" sz="1150">
                <a:solidFill>
                  <a:srgbClr val="0000CD"/>
                </a:solidFill>
              </a:rPr>
              <a:t>&gt;</a:t>
            </a:r>
            <a:endParaRPr sz="1150">
              <a:solidFill>
                <a:srgbClr val="0000CD"/>
              </a:solidFill>
            </a:endParaRPr>
          </a:p>
          <a:p>
            <a:pPr marL="0" lvl="0" indent="0" algn="l" rtl="0">
              <a:lnSpc>
                <a:spcPct val="115000"/>
              </a:lnSpc>
              <a:spcBef>
                <a:spcPts val="0"/>
              </a:spcBef>
              <a:spcAft>
                <a:spcPts val="0"/>
              </a:spcAft>
              <a:buSzPts val="1400"/>
              <a:buNone/>
            </a:pPr>
            <a:r>
              <a:rPr lang="en" sz="1150">
                <a:solidFill>
                  <a:srgbClr val="0000CD"/>
                </a:solidFill>
              </a:rPr>
              <a:t>&lt;</a:t>
            </a:r>
            <a:r>
              <a:rPr lang="en" sz="1150">
                <a:solidFill>
                  <a:srgbClr val="A52A2A"/>
                </a:solidFill>
              </a:rPr>
              <a:t>/html</a:t>
            </a:r>
            <a:r>
              <a:rPr lang="en" sz="1150">
                <a:solidFill>
                  <a:srgbClr val="0000CD"/>
                </a:solidFill>
              </a:rPr>
              <a:t>&gt;</a:t>
            </a:r>
            <a:endParaRPr sz="1150">
              <a:solidFill>
                <a:srgbClr val="0000CD"/>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3.   Inline CSS</a:t>
            </a:r>
            <a:endParaRPr/>
          </a:p>
        </p:txBody>
      </p:sp>
      <p:sp>
        <p:nvSpPr>
          <p:cNvPr id="163" name="Google Shape;163;p18"/>
          <p:cNvSpPr txBox="1">
            <a:spLocks noGrp="1"/>
          </p:cNvSpPr>
          <p:nvPr>
            <p:ph type="body" idx="1"/>
          </p:nvPr>
        </p:nvSpPr>
        <p:spPr>
          <a:xfrm>
            <a:off x="311700" y="1234050"/>
            <a:ext cx="3999900" cy="3334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400"/>
              <a:buNone/>
            </a:pPr>
            <a:r>
              <a:rPr lang="en"/>
              <a:t>An inline style may be used to apply a unique style for a single element.</a:t>
            </a:r>
            <a:endParaRPr/>
          </a:p>
          <a:p>
            <a:pPr marL="0" lvl="0" indent="0" algn="l" rtl="0">
              <a:lnSpc>
                <a:spcPct val="115000"/>
              </a:lnSpc>
              <a:spcBef>
                <a:spcPts val="1400"/>
              </a:spcBef>
              <a:spcAft>
                <a:spcPts val="0"/>
              </a:spcAft>
              <a:buClr>
                <a:schemeClr val="dk2"/>
              </a:buClr>
              <a:buSzPts val="1100"/>
              <a:buFont typeface="Arial"/>
              <a:buNone/>
            </a:pPr>
            <a:r>
              <a:rPr lang="en"/>
              <a:t>To use inline styles, add the style attribute to the relevant element. The style attribute can contain any CSS property.</a:t>
            </a:r>
            <a:endParaRPr/>
          </a:p>
          <a:p>
            <a:pPr marL="0" lvl="0" indent="0" algn="l" rtl="0">
              <a:lnSpc>
                <a:spcPct val="115000"/>
              </a:lnSpc>
              <a:spcBef>
                <a:spcPts val="1400"/>
              </a:spcBef>
              <a:spcAft>
                <a:spcPts val="1200"/>
              </a:spcAft>
              <a:buSzPts val="1400"/>
              <a:buNone/>
            </a:pPr>
            <a:endParaRPr/>
          </a:p>
        </p:txBody>
      </p:sp>
      <p:sp>
        <p:nvSpPr>
          <p:cNvPr id="164" name="Google Shape;164;p18"/>
          <p:cNvSpPr txBox="1">
            <a:spLocks noGrp="1"/>
          </p:cNvSpPr>
          <p:nvPr>
            <p:ph type="body" idx="2"/>
          </p:nvPr>
        </p:nvSpPr>
        <p:spPr>
          <a:xfrm>
            <a:off x="4311600" y="1234050"/>
            <a:ext cx="4520700" cy="3334800"/>
          </a:xfrm>
          <a:prstGeom prst="rect">
            <a:avLst/>
          </a:prstGeom>
          <a:noFill/>
          <a:ln>
            <a:noFill/>
          </a:ln>
        </p:spPr>
        <p:txBody>
          <a:bodyPr spcFirstLastPara="1" wrap="square" lIns="91425" tIns="91425" rIns="91425" bIns="91425" anchor="t" anchorCtr="0">
            <a:noAutofit/>
          </a:bodyPr>
          <a:lstStyle/>
          <a:p>
            <a:pPr marL="114300" marR="114300" lvl="0" indent="0" algn="l" rtl="0">
              <a:lnSpc>
                <a:spcPct val="150000"/>
              </a:lnSpc>
              <a:spcBef>
                <a:spcPts val="0"/>
              </a:spcBef>
              <a:spcAft>
                <a:spcPts val="0"/>
              </a:spcAft>
              <a:buSzPts val="1400"/>
              <a:buNone/>
            </a:pPr>
            <a:r>
              <a:rPr lang="en" sz="1600">
                <a:highlight>
                  <a:srgbClr val="FFFFFF"/>
                </a:highlight>
              </a:rPr>
              <a:t>Example: </a:t>
            </a:r>
            <a:endParaRPr sz="1600">
              <a:highlight>
                <a:srgbClr val="FFFFFF"/>
              </a:highlight>
            </a:endParaRPr>
          </a:p>
          <a:p>
            <a:pPr marL="114300" marR="114300" lvl="0" indent="0" algn="l" rtl="0">
              <a:lnSpc>
                <a:spcPct val="150000"/>
              </a:lnSpc>
              <a:spcBef>
                <a:spcPts val="0"/>
              </a:spcBef>
              <a:spcAft>
                <a:spcPts val="0"/>
              </a:spcAft>
              <a:buClr>
                <a:schemeClr val="dk2"/>
              </a:buClr>
              <a:buSzPts val="1100"/>
              <a:buFont typeface="Arial"/>
              <a:buNone/>
            </a:pPr>
            <a:r>
              <a:rPr lang="en" sz="1300">
                <a:solidFill>
                  <a:srgbClr val="0000CD"/>
                </a:solidFill>
                <a:highlight>
                  <a:srgbClr val="FFFFFF"/>
                </a:highlight>
              </a:rPr>
              <a:t>&lt;</a:t>
            </a:r>
            <a:r>
              <a:rPr lang="en" sz="1300">
                <a:solidFill>
                  <a:srgbClr val="A52A2A"/>
                </a:solidFill>
                <a:highlight>
                  <a:srgbClr val="FFFFFF"/>
                </a:highlight>
              </a:rPr>
              <a:t>!DOCTYPE</a:t>
            </a:r>
            <a:r>
              <a:rPr lang="en" sz="1300">
                <a:solidFill>
                  <a:srgbClr val="FF0000"/>
                </a:solidFill>
                <a:highlight>
                  <a:srgbClr val="FFFFFF"/>
                </a:highlight>
              </a:rPr>
              <a:t> html</a:t>
            </a:r>
            <a:r>
              <a:rPr lang="en" sz="1300">
                <a:solidFill>
                  <a:srgbClr val="0000CD"/>
                </a:solidFill>
                <a:highlight>
                  <a:srgbClr val="FFFFFF"/>
                </a:highlight>
              </a:rPr>
              <a:t>&gt;</a:t>
            </a:r>
            <a:endParaRPr sz="1300">
              <a:solidFill>
                <a:srgbClr val="0000CD"/>
              </a:solidFill>
              <a:highlight>
                <a:srgbClr val="FFFFFF"/>
              </a:highlight>
            </a:endParaRPr>
          </a:p>
          <a:p>
            <a:pPr marL="114300" marR="114300" lvl="0" indent="0" algn="l" rtl="0">
              <a:lnSpc>
                <a:spcPct val="150000"/>
              </a:lnSpc>
              <a:spcBef>
                <a:spcPts val="0"/>
              </a:spcBef>
              <a:spcAft>
                <a:spcPts val="0"/>
              </a:spcAft>
              <a:buClr>
                <a:schemeClr val="dk2"/>
              </a:buClr>
              <a:buSzPts val="1100"/>
              <a:buFont typeface="Arial"/>
              <a:buNone/>
            </a:pPr>
            <a:r>
              <a:rPr lang="en" sz="1300">
                <a:solidFill>
                  <a:srgbClr val="0000CD"/>
                </a:solidFill>
                <a:highlight>
                  <a:srgbClr val="FFFFFF"/>
                </a:highlight>
              </a:rPr>
              <a:t>&lt;</a:t>
            </a:r>
            <a:r>
              <a:rPr lang="en" sz="1300">
                <a:solidFill>
                  <a:srgbClr val="A52A2A"/>
                </a:solidFill>
                <a:highlight>
                  <a:srgbClr val="FFFFFF"/>
                </a:highlight>
              </a:rPr>
              <a:t>html</a:t>
            </a:r>
            <a:r>
              <a:rPr lang="en" sz="1300">
                <a:solidFill>
                  <a:srgbClr val="0000CD"/>
                </a:solidFill>
                <a:highlight>
                  <a:srgbClr val="FFFFFF"/>
                </a:highlight>
              </a:rPr>
              <a:t>&gt;</a:t>
            </a:r>
            <a:endParaRPr sz="1300">
              <a:solidFill>
                <a:srgbClr val="0000CD"/>
              </a:solidFill>
              <a:highlight>
                <a:srgbClr val="FFFFFF"/>
              </a:highlight>
            </a:endParaRPr>
          </a:p>
          <a:p>
            <a:pPr marL="114300" marR="114300" lvl="0" indent="0" algn="l" rtl="0">
              <a:lnSpc>
                <a:spcPct val="150000"/>
              </a:lnSpc>
              <a:spcBef>
                <a:spcPts val="0"/>
              </a:spcBef>
              <a:spcAft>
                <a:spcPts val="0"/>
              </a:spcAft>
              <a:buClr>
                <a:schemeClr val="dk2"/>
              </a:buClr>
              <a:buSzPts val="1100"/>
              <a:buFont typeface="Arial"/>
              <a:buNone/>
            </a:pPr>
            <a:r>
              <a:rPr lang="en" sz="1300">
                <a:solidFill>
                  <a:srgbClr val="0000CD"/>
                </a:solidFill>
                <a:highlight>
                  <a:srgbClr val="FFFFFF"/>
                </a:highlight>
              </a:rPr>
              <a:t>&lt;</a:t>
            </a:r>
            <a:r>
              <a:rPr lang="en" sz="1300">
                <a:solidFill>
                  <a:srgbClr val="A52A2A"/>
                </a:solidFill>
                <a:highlight>
                  <a:srgbClr val="FFFFFF"/>
                </a:highlight>
              </a:rPr>
              <a:t>body</a:t>
            </a:r>
            <a:r>
              <a:rPr lang="en" sz="1300">
                <a:solidFill>
                  <a:srgbClr val="0000CD"/>
                </a:solidFill>
                <a:highlight>
                  <a:srgbClr val="FFFFFF"/>
                </a:highlight>
              </a:rPr>
              <a:t>&gt;</a:t>
            </a:r>
            <a:endParaRPr sz="1300">
              <a:highlight>
                <a:srgbClr val="FFFFFF"/>
              </a:highlight>
            </a:endParaRPr>
          </a:p>
          <a:p>
            <a:pPr marL="114300" marR="114300" lvl="0" indent="0" algn="l" rtl="0">
              <a:lnSpc>
                <a:spcPct val="150000"/>
              </a:lnSpc>
              <a:spcBef>
                <a:spcPts val="0"/>
              </a:spcBef>
              <a:spcAft>
                <a:spcPts val="0"/>
              </a:spcAft>
              <a:buClr>
                <a:schemeClr val="dk2"/>
              </a:buClr>
              <a:buSzPts val="1100"/>
              <a:buFont typeface="Arial"/>
              <a:buNone/>
            </a:pPr>
            <a:r>
              <a:rPr lang="en" sz="1300">
                <a:solidFill>
                  <a:srgbClr val="0000CD"/>
                </a:solidFill>
                <a:highlight>
                  <a:srgbClr val="FFFFFF"/>
                </a:highlight>
              </a:rPr>
              <a:t>&lt;</a:t>
            </a:r>
            <a:r>
              <a:rPr lang="en" sz="1300">
                <a:solidFill>
                  <a:srgbClr val="A52A2A"/>
                </a:solidFill>
                <a:highlight>
                  <a:srgbClr val="FFFFFF"/>
                </a:highlight>
              </a:rPr>
              <a:t>h1</a:t>
            </a:r>
            <a:r>
              <a:rPr lang="en" sz="1300">
                <a:solidFill>
                  <a:srgbClr val="FF0000"/>
                </a:solidFill>
                <a:highlight>
                  <a:srgbClr val="FFFFFF"/>
                </a:highlight>
              </a:rPr>
              <a:t> style</a:t>
            </a:r>
            <a:r>
              <a:rPr lang="en" sz="1300">
                <a:solidFill>
                  <a:srgbClr val="0000CD"/>
                </a:solidFill>
                <a:highlight>
                  <a:srgbClr val="FFFFFF"/>
                </a:highlight>
              </a:rPr>
              <a:t>="color:blue;text-align:center;"&gt;</a:t>
            </a:r>
            <a:r>
              <a:rPr lang="en" sz="1300">
                <a:highlight>
                  <a:srgbClr val="FFFFFF"/>
                </a:highlight>
              </a:rPr>
              <a:t>This is a heading</a:t>
            </a:r>
            <a:r>
              <a:rPr lang="en" sz="1300">
                <a:solidFill>
                  <a:srgbClr val="0000CD"/>
                </a:solidFill>
                <a:highlight>
                  <a:srgbClr val="FFFFFF"/>
                </a:highlight>
              </a:rPr>
              <a:t>&lt;</a:t>
            </a:r>
            <a:r>
              <a:rPr lang="en" sz="1300">
                <a:solidFill>
                  <a:srgbClr val="A52A2A"/>
                </a:solidFill>
                <a:highlight>
                  <a:srgbClr val="FFFFFF"/>
                </a:highlight>
              </a:rPr>
              <a:t>/h1</a:t>
            </a:r>
            <a:r>
              <a:rPr lang="en" sz="1300">
                <a:solidFill>
                  <a:srgbClr val="0000CD"/>
                </a:solidFill>
                <a:highlight>
                  <a:srgbClr val="FFFFFF"/>
                </a:highlight>
              </a:rPr>
              <a:t>&gt;</a:t>
            </a:r>
            <a:endParaRPr sz="1300">
              <a:solidFill>
                <a:srgbClr val="0000CD"/>
              </a:solidFill>
              <a:highlight>
                <a:srgbClr val="FFFFFF"/>
              </a:highlight>
            </a:endParaRPr>
          </a:p>
          <a:p>
            <a:pPr marL="114300" marR="114300" lvl="0" indent="0" algn="l" rtl="0">
              <a:lnSpc>
                <a:spcPct val="150000"/>
              </a:lnSpc>
              <a:spcBef>
                <a:spcPts val="0"/>
              </a:spcBef>
              <a:spcAft>
                <a:spcPts val="0"/>
              </a:spcAft>
              <a:buClr>
                <a:schemeClr val="dk2"/>
              </a:buClr>
              <a:buSzPts val="1100"/>
              <a:buFont typeface="Arial"/>
              <a:buNone/>
            </a:pPr>
            <a:r>
              <a:rPr lang="en" sz="1300">
                <a:solidFill>
                  <a:srgbClr val="0000CD"/>
                </a:solidFill>
                <a:highlight>
                  <a:srgbClr val="FFFFFF"/>
                </a:highlight>
              </a:rPr>
              <a:t>&lt;</a:t>
            </a:r>
            <a:r>
              <a:rPr lang="en" sz="1300">
                <a:solidFill>
                  <a:srgbClr val="A52A2A"/>
                </a:solidFill>
                <a:highlight>
                  <a:srgbClr val="FFFFFF"/>
                </a:highlight>
              </a:rPr>
              <a:t>p</a:t>
            </a:r>
            <a:r>
              <a:rPr lang="en" sz="1300">
                <a:solidFill>
                  <a:srgbClr val="FF0000"/>
                </a:solidFill>
                <a:highlight>
                  <a:srgbClr val="FFFFFF"/>
                </a:highlight>
              </a:rPr>
              <a:t> style</a:t>
            </a:r>
            <a:r>
              <a:rPr lang="en" sz="1300">
                <a:solidFill>
                  <a:srgbClr val="0000CD"/>
                </a:solidFill>
                <a:highlight>
                  <a:srgbClr val="FFFFFF"/>
                </a:highlight>
              </a:rPr>
              <a:t>="color:red;"&gt;</a:t>
            </a:r>
            <a:r>
              <a:rPr lang="en" sz="1300">
                <a:highlight>
                  <a:srgbClr val="FFFFFF"/>
                </a:highlight>
              </a:rPr>
              <a:t>This is a paragraph.</a:t>
            </a:r>
            <a:r>
              <a:rPr lang="en" sz="1300">
                <a:solidFill>
                  <a:srgbClr val="0000CD"/>
                </a:solidFill>
                <a:highlight>
                  <a:srgbClr val="FFFFFF"/>
                </a:highlight>
              </a:rPr>
              <a:t>&lt;</a:t>
            </a:r>
            <a:r>
              <a:rPr lang="en" sz="1300">
                <a:solidFill>
                  <a:srgbClr val="A52A2A"/>
                </a:solidFill>
                <a:highlight>
                  <a:srgbClr val="FFFFFF"/>
                </a:highlight>
              </a:rPr>
              <a:t>/p</a:t>
            </a:r>
            <a:r>
              <a:rPr lang="en" sz="1300">
                <a:solidFill>
                  <a:srgbClr val="0000CD"/>
                </a:solidFill>
                <a:highlight>
                  <a:srgbClr val="FFFFFF"/>
                </a:highlight>
              </a:rPr>
              <a:t>&gt;</a:t>
            </a:r>
            <a:endParaRPr sz="1300">
              <a:highlight>
                <a:srgbClr val="FFFFFF"/>
              </a:highlight>
            </a:endParaRPr>
          </a:p>
          <a:p>
            <a:pPr marL="114300" marR="114300" lvl="0" indent="0" algn="l" rtl="0">
              <a:lnSpc>
                <a:spcPct val="150000"/>
              </a:lnSpc>
              <a:spcBef>
                <a:spcPts val="0"/>
              </a:spcBef>
              <a:spcAft>
                <a:spcPts val="0"/>
              </a:spcAft>
              <a:buClr>
                <a:schemeClr val="dk2"/>
              </a:buClr>
              <a:buSzPts val="1100"/>
              <a:buFont typeface="Arial"/>
              <a:buNone/>
            </a:pPr>
            <a:r>
              <a:rPr lang="en" sz="1300">
                <a:solidFill>
                  <a:srgbClr val="0000CD"/>
                </a:solidFill>
                <a:highlight>
                  <a:srgbClr val="FFFFFF"/>
                </a:highlight>
              </a:rPr>
              <a:t>&lt;</a:t>
            </a:r>
            <a:r>
              <a:rPr lang="en" sz="1300">
                <a:solidFill>
                  <a:srgbClr val="A52A2A"/>
                </a:solidFill>
                <a:highlight>
                  <a:srgbClr val="FFFFFF"/>
                </a:highlight>
              </a:rPr>
              <a:t>/body</a:t>
            </a:r>
            <a:r>
              <a:rPr lang="en" sz="1300">
                <a:solidFill>
                  <a:srgbClr val="0000CD"/>
                </a:solidFill>
                <a:highlight>
                  <a:srgbClr val="FFFFFF"/>
                </a:highlight>
              </a:rPr>
              <a:t>&gt;</a:t>
            </a:r>
            <a:endParaRPr sz="1300">
              <a:solidFill>
                <a:srgbClr val="0000CD"/>
              </a:solidFill>
              <a:highlight>
                <a:srgbClr val="FFFFFF"/>
              </a:highlight>
            </a:endParaRPr>
          </a:p>
          <a:p>
            <a:pPr marL="114300" marR="114300" lvl="0" indent="0" algn="l" rtl="0">
              <a:lnSpc>
                <a:spcPct val="150000"/>
              </a:lnSpc>
              <a:spcBef>
                <a:spcPts val="0"/>
              </a:spcBef>
              <a:spcAft>
                <a:spcPts val="0"/>
              </a:spcAft>
              <a:buClr>
                <a:schemeClr val="dk2"/>
              </a:buClr>
              <a:buSzPts val="1100"/>
              <a:buFont typeface="Arial"/>
              <a:buNone/>
            </a:pPr>
            <a:r>
              <a:rPr lang="en" sz="1300">
                <a:solidFill>
                  <a:srgbClr val="0000CD"/>
                </a:solidFill>
                <a:highlight>
                  <a:srgbClr val="FFFFFF"/>
                </a:highlight>
              </a:rPr>
              <a:t>&lt;</a:t>
            </a:r>
            <a:r>
              <a:rPr lang="en" sz="1300">
                <a:solidFill>
                  <a:srgbClr val="A52A2A"/>
                </a:solidFill>
                <a:highlight>
                  <a:srgbClr val="FFFFFF"/>
                </a:highlight>
              </a:rPr>
              <a:t>/html</a:t>
            </a:r>
            <a:r>
              <a:rPr lang="en" sz="1300">
                <a:solidFill>
                  <a:srgbClr val="0000CD"/>
                </a:solidFill>
                <a:highlight>
                  <a:srgbClr val="FFFFFF"/>
                </a:highlight>
              </a:rPr>
              <a:t>&gt;</a:t>
            </a:r>
            <a:endParaRPr sz="1300">
              <a:solidFill>
                <a:srgbClr val="FFFFFF"/>
              </a:solidFill>
              <a:highlight>
                <a:srgbClr val="E7E9EB"/>
              </a:highlight>
            </a:endParaRPr>
          </a:p>
          <a:p>
            <a:pPr marL="0" lvl="0" indent="0" algn="l" rtl="0">
              <a:lnSpc>
                <a:spcPct val="100000"/>
              </a:lnSpc>
              <a:spcBef>
                <a:spcPts val="0"/>
              </a:spcBef>
              <a:spcAft>
                <a:spcPts val="1200"/>
              </a:spcAft>
              <a:buSzPts val="1400"/>
              <a:buNone/>
            </a:pP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txBox="1">
            <a:spLocks noGrp="1"/>
          </p:cNvSpPr>
          <p:nvPr>
            <p:ph type="title"/>
          </p:nvPr>
        </p:nvSpPr>
        <p:spPr>
          <a:xfrm>
            <a:off x="344250" y="1403850"/>
            <a:ext cx="8455500" cy="2146800"/>
          </a:xfrm>
          <a:prstGeom prst="rect">
            <a:avLst/>
          </a:prstGeom>
          <a:solidFill>
            <a:srgbClr val="FFFFFF"/>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800"/>
              <a:buNone/>
            </a:pPr>
            <a:r>
              <a:rPr lang="en"/>
              <a:t>CSS Colors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CSS Backgroud Colors </a:t>
            </a:r>
            <a:endParaRPr/>
          </a:p>
        </p:txBody>
      </p:sp>
      <p:sp>
        <p:nvSpPr>
          <p:cNvPr id="175" name="Google Shape;175;p20"/>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a:t>CSS / Html supports 140 standard colors names.</a:t>
            </a:r>
            <a:endParaRPr/>
          </a:p>
          <a:p>
            <a:pPr marL="0" marR="0" lvl="0" indent="0" algn="l" rtl="0">
              <a:lnSpc>
                <a:spcPct val="115000"/>
              </a:lnSpc>
              <a:spcBef>
                <a:spcPts val="1200"/>
              </a:spcBef>
              <a:spcAft>
                <a:spcPts val="0"/>
              </a:spcAft>
              <a:buSzPts val="1800"/>
              <a:buNone/>
            </a:pPr>
            <a:r>
              <a:rPr lang="en"/>
              <a:t>You can set the background color for HTML elements by looking at following example:</a:t>
            </a:r>
            <a:endParaRPr/>
          </a:p>
          <a:p>
            <a:pPr marL="0" marR="0" lvl="0" indent="0" algn="l" rtl="0">
              <a:lnSpc>
                <a:spcPct val="115000"/>
              </a:lnSpc>
              <a:spcBef>
                <a:spcPts val="1200"/>
              </a:spcBef>
              <a:spcAft>
                <a:spcPts val="0"/>
              </a:spcAft>
              <a:buSzPts val="1800"/>
              <a:buNone/>
            </a:pPr>
            <a:r>
              <a:rPr lang="en"/>
              <a:t>&lt;h1 style="background-color:DodgerBlue;"&gt;Hello World&lt;/h1&gt;</a:t>
            </a:r>
            <a:endParaRPr/>
          </a:p>
          <a:p>
            <a:pPr marL="0" marR="0" lvl="0" indent="0" algn="l" rtl="0">
              <a:lnSpc>
                <a:spcPct val="115000"/>
              </a:lnSpc>
              <a:spcBef>
                <a:spcPts val="1200"/>
              </a:spcBef>
              <a:spcAft>
                <a:spcPts val="0"/>
              </a:spcAft>
              <a:buSzPts val="1800"/>
              <a:buNone/>
            </a:pPr>
            <a:r>
              <a:rPr lang="en"/>
              <a:t>&lt;p style="background-color:Tomato;"&gt;Lorem ipsum...&lt;/p&gt;</a:t>
            </a:r>
            <a:endParaRPr/>
          </a:p>
          <a:p>
            <a:pPr marL="0" marR="0" lvl="0" indent="0" algn="l" rtl="0">
              <a:lnSpc>
                <a:spcPct val="115000"/>
              </a:lnSpc>
              <a:spcBef>
                <a:spcPts val="1200"/>
              </a:spcBef>
              <a:spcAft>
                <a:spcPts val="0"/>
              </a:spcAft>
              <a:buSzPts val="1800"/>
              <a:buNone/>
            </a:pPr>
            <a:endParaRPr/>
          </a:p>
          <a:p>
            <a:pPr marL="0" marR="0" lvl="0" indent="0" algn="l" rtl="0">
              <a:lnSpc>
                <a:spcPct val="115000"/>
              </a:lnSpc>
              <a:spcBef>
                <a:spcPts val="1200"/>
              </a:spcBef>
              <a:spcAft>
                <a:spcPts val="1200"/>
              </a:spcAft>
              <a:buSzPts val="1800"/>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CSS Text Colors</a:t>
            </a:r>
            <a:endParaRPr/>
          </a:p>
        </p:txBody>
      </p:sp>
      <p:sp>
        <p:nvSpPr>
          <p:cNvPr id="181" name="Google Shape;181;p21"/>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a:t>You can set the color of text by looking at following example:</a:t>
            </a:r>
            <a:endParaRPr/>
          </a:p>
          <a:p>
            <a:pPr marL="0" lvl="0" indent="0" algn="l" rtl="0">
              <a:lnSpc>
                <a:spcPct val="115000"/>
              </a:lnSpc>
              <a:spcBef>
                <a:spcPts val="1200"/>
              </a:spcBef>
              <a:spcAft>
                <a:spcPts val="0"/>
              </a:spcAft>
              <a:buClr>
                <a:schemeClr val="dk2"/>
              </a:buClr>
              <a:buSzPts val="1100"/>
              <a:buFont typeface="Arial"/>
              <a:buNone/>
            </a:pPr>
            <a:r>
              <a:rPr lang="en"/>
              <a:t>&lt;h1 style="color:Tomato;"&gt;Hello World&lt;/h1&gt;</a:t>
            </a:r>
            <a:endParaRPr/>
          </a:p>
          <a:p>
            <a:pPr marL="0" marR="0" lvl="0" indent="0" algn="l" rtl="0">
              <a:lnSpc>
                <a:spcPct val="115000"/>
              </a:lnSpc>
              <a:spcBef>
                <a:spcPts val="1200"/>
              </a:spcBef>
              <a:spcAft>
                <a:spcPts val="0"/>
              </a:spcAft>
              <a:buSzPts val="1800"/>
              <a:buNone/>
            </a:pPr>
            <a:r>
              <a:rPr lang="en"/>
              <a:t>&lt;p style="color:DodgerBlue;"&gt;Lorem ipsum...&lt;/p&gt;</a:t>
            </a:r>
            <a:endParaRPr/>
          </a:p>
          <a:p>
            <a:pPr marL="0" marR="0" lvl="0" indent="0" algn="l" rtl="0">
              <a:lnSpc>
                <a:spcPct val="115000"/>
              </a:lnSpc>
              <a:spcBef>
                <a:spcPts val="1200"/>
              </a:spcBef>
              <a:spcAft>
                <a:spcPts val="1200"/>
              </a:spcAft>
              <a:buSzPts val="1800"/>
              <a:buNone/>
            </a:pPr>
            <a:r>
              <a:rPr lang="en"/>
              <a:t>&lt;p style="color:MediumSeaGreen;"&gt;Ut wisi enim...&lt;/p&gt;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2"/>
              </a:buClr>
              <a:buSzPct val="36666"/>
              <a:buFont typeface="Arial"/>
              <a:buNone/>
            </a:pPr>
            <a:r>
              <a:rPr lang="en"/>
              <a:t>CSS Border Colors</a:t>
            </a:r>
            <a:endParaRPr/>
          </a:p>
        </p:txBody>
      </p:sp>
      <p:sp>
        <p:nvSpPr>
          <p:cNvPr id="187" name="Google Shape;187;p22"/>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a:t>You can set the color of borders by looking at following example:</a:t>
            </a:r>
            <a:endParaRPr/>
          </a:p>
          <a:p>
            <a:pPr marL="0" lvl="0" indent="0" algn="l" rtl="0">
              <a:lnSpc>
                <a:spcPct val="115000"/>
              </a:lnSpc>
              <a:spcBef>
                <a:spcPts val="1200"/>
              </a:spcBef>
              <a:spcAft>
                <a:spcPts val="0"/>
              </a:spcAft>
              <a:buClr>
                <a:schemeClr val="dk2"/>
              </a:buClr>
              <a:buSzPts val="1100"/>
              <a:buFont typeface="Arial"/>
              <a:buNone/>
            </a:pPr>
            <a:r>
              <a:rPr lang="en"/>
              <a:t>&lt;h1 style="border:2px solid Tomato;"&gt;Hello World&lt;/h1&gt;</a:t>
            </a:r>
            <a:endParaRPr/>
          </a:p>
          <a:p>
            <a:pPr marL="0" lvl="0" indent="0" algn="l" rtl="0">
              <a:lnSpc>
                <a:spcPct val="115000"/>
              </a:lnSpc>
              <a:spcBef>
                <a:spcPts val="1200"/>
              </a:spcBef>
              <a:spcAft>
                <a:spcPts val="0"/>
              </a:spcAft>
              <a:buClr>
                <a:schemeClr val="dk2"/>
              </a:buClr>
              <a:buSzPts val="1100"/>
              <a:buFont typeface="Arial"/>
              <a:buNone/>
            </a:pPr>
            <a:r>
              <a:rPr lang="en"/>
              <a:t>&lt;h1 style="border:2px solid DodgerBlue;"&gt;Hello World&lt;/h1&gt;</a:t>
            </a:r>
            <a:endParaRPr/>
          </a:p>
          <a:p>
            <a:pPr marL="0" lvl="0" indent="0" algn="l" rtl="0">
              <a:lnSpc>
                <a:spcPct val="115000"/>
              </a:lnSpc>
              <a:spcBef>
                <a:spcPts val="1200"/>
              </a:spcBef>
              <a:spcAft>
                <a:spcPts val="1200"/>
              </a:spcAft>
              <a:buSzPts val="1800"/>
              <a:buNone/>
            </a:pPr>
            <a:r>
              <a:rPr lang="en"/>
              <a:t>&lt;h1 style="border:2px solid Violet;"&gt;Hello World&lt;/h1&gt;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3"/>
          <p:cNvSpPr txBox="1">
            <a:spLocks noGrp="1"/>
          </p:cNvSpPr>
          <p:nvPr>
            <p:ph type="title"/>
          </p:nvPr>
        </p:nvSpPr>
        <p:spPr>
          <a:xfrm>
            <a:off x="344250" y="1403850"/>
            <a:ext cx="8455500" cy="2146800"/>
          </a:xfrm>
          <a:prstGeom prst="rect">
            <a:avLst/>
          </a:prstGeom>
          <a:solidFill>
            <a:srgbClr val="FFFFFF"/>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800"/>
              <a:buNone/>
            </a:pPr>
            <a:r>
              <a:rPr lang="en"/>
              <a:t>CSS Backgrounds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CSS Background Styles</a:t>
            </a:r>
            <a:endParaRPr/>
          </a:p>
        </p:txBody>
      </p:sp>
      <p:sp>
        <p:nvSpPr>
          <p:cNvPr id="198" name="Google Shape;198;p24"/>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AutoNum type="arabicPeriod"/>
            </a:pPr>
            <a:r>
              <a:rPr lang="en"/>
              <a:t>Background-color e.g. body { background-color: lightblue;}</a:t>
            </a:r>
            <a:endParaRPr/>
          </a:p>
          <a:p>
            <a:pPr marL="457200" marR="0" lvl="0" indent="-342900" algn="l" rtl="0">
              <a:lnSpc>
                <a:spcPct val="115000"/>
              </a:lnSpc>
              <a:spcBef>
                <a:spcPts val="0"/>
              </a:spcBef>
              <a:spcAft>
                <a:spcPts val="0"/>
              </a:spcAft>
              <a:buSzPts val="1800"/>
              <a:buAutoNum type="arabicPeriod"/>
            </a:pPr>
            <a:r>
              <a:rPr lang="en"/>
              <a:t>Background-image  e.g.  body { background-image: url("paper.gif"); }</a:t>
            </a:r>
            <a:endParaRPr/>
          </a:p>
          <a:p>
            <a:pPr marL="457200" marR="0" lvl="0" indent="-342900" algn="l" rtl="0">
              <a:lnSpc>
                <a:spcPct val="115000"/>
              </a:lnSpc>
              <a:spcBef>
                <a:spcPts val="0"/>
              </a:spcBef>
              <a:spcAft>
                <a:spcPts val="0"/>
              </a:spcAft>
              <a:buSzPts val="1800"/>
              <a:buAutoNum type="arabicPeriod"/>
            </a:pPr>
            <a:r>
              <a:rPr lang="en"/>
              <a:t>Background-repeat </a:t>
            </a:r>
            <a:endParaRPr/>
          </a:p>
          <a:p>
            <a:pPr marL="457200" marR="0" lvl="0" indent="-342900" algn="l" rtl="0">
              <a:lnSpc>
                <a:spcPct val="115000"/>
              </a:lnSpc>
              <a:spcBef>
                <a:spcPts val="0"/>
              </a:spcBef>
              <a:spcAft>
                <a:spcPts val="0"/>
              </a:spcAft>
              <a:buSzPts val="1800"/>
              <a:buAutoNum type="arabicPeriod"/>
            </a:pPr>
            <a:r>
              <a:rPr lang="en"/>
              <a:t>background-attachment</a:t>
            </a:r>
            <a:endParaRPr/>
          </a:p>
          <a:p>
            <a:pPr marL="457200" marR="0" lvl="0" indent="-342900" algn="l" rtl="0">
              <a:lnSpc>
                <a:spcPct val="115000"/>
              </a:lnSpc>
              <a:spcBef>
                <a:spcPts val="0"/>
              </a:spcBef>
              <a:spcAft>
                <a:spcPts val="0"/>
              </a:spcAft>
              <a:buSzPts val="1800"/>
              <a:buAutoNum type="arabicPeriod"/>
            </a:pPr>
            <a:r>
              <a:rPr lang="en"/>
              <a:t>background-position</a:t>
            </a:r>
            <a:endParaRPr/>
          </a:p>
          <a:p>
            <a:pPr marL="457200" marR="0" lvl="0" indent="-342900" algn="l" rtl="0">
              <a:lnSpc>
                <a:spcPct val="115000"/>
              </a:lnSpc>
              <a:spcBef>
                <a:spcPts val="0"/>
              </a:spcBef>
              <a:spcAft>
                <a:spcPts val="0"/>
              </a:spcAft>
              <a:buSzPts val="1800"/>
              <a:buAutoNum type="arabicPeriod"/>
            </a:pPr>
            <a:r>
              <a:rPr lang="en"/>
              <a:t>background (shorthand property)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5"/>
          <p:cNvSpPr txBox="1">
            <a:spLocks noGrp="1"/>
          </p:cNvSpPr>
          <p:nvPr>
            <p:ph type="title"/>
          </p:nvPr>
        </p:nvSpPr>
        <p:spPr>
          <a:xfrm>
            <a:off x="344250" y="1403850"/>
            <a:ext cx="8455500" cy="2146800"/>
          </a:xfrm>
          <a:prstGeom prst="rect">
            <a:avLst/>
          </a:prstGeom>
          <a:solidFill>
            <a:srgbClr val="FFFFFF"/>
          </a:solid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4800"/>
              <a:buNone/>
            </a:pPr>
            <a:r>
              <a:rPr lang="en"/>
              <a:t>CSS Margins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Margin - Individual Sides</a:t>
            </a:r>
            <a:endParaRPr/>
          </a:p>
          <a:p>
            <a:pPr marL="0" lvl="0" indent="0" algn="l" rtl="0">
              <a:lnSpc>
                <a:spcPct val="100000"/>
              </a:lnSpc>
              <a:spcBef>
                <a:spcPts val="0"/>
              </a:spcBef>
              <a:spcAft>
                <a:spcPts val="0"/>
              </a:spcAft>
              <a:buSzPct val="111111"/>
              <a:buNone/>
            </a:pPr>
            <a:endParaRPr/>
          </a:p>
        </p:txBody>
      </p:sp>
      <p:sp>
        <p:nvSpPr>
          <p:cNvPr id="209" name="Google Shape;209;p26"/>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fontScale="85000" lnSpcReduction="10000"/>
          </a:bodyPr>
          <a:lstStyle/>
          <a:p>
            <a:pPr marL="0" lvl="0" indent="0" algn="l" rtl="0">
              <a:lnSpc>
                <a:spcPct val="115000"/>
              </a:lnSpc>
              <a:spcBef>
                <a:spcPts val="0"/>
              </a:spcBef>
              <a:spcAft>
                <a:spcPts val="0"/>
              </a:spcAft>
              <a:buSzPct val="108108"/>
              <a:buNone/>
            </a:pPr>
            <a:r>
              <a:rPr lang="en"/>
              <a:t>The CSS </a:t>
            </a:r>
            <a:r>
              <a:rPr lang="en">
                <a:solidFill>
                  <a:srgbClr val="FF0000"/>
                </a:solidFill>
              </a:rPr>
              <a:t>margin</a:t>
            </a:r>
            <a:r>
              <a:rPr lang="en"/>
              <a:t> properties are used to create space around elements, outside of any defined borders.With CSS, you have full control over the margins. There are properties for setting the margin for each side of an element (top, right, bottom, and left).</a:t>
            </a:r>
            <a:endParaRPr/>
          </a:p>
          <a:p>
            <a:pPr marL="0" lvl="0" indent="0" algn="l" rtl="0">
              <a:lnSpc>
                <a:spcPct val="115000"/>
              </a:lnSpc>
              <a:spcBef>
                <a:spcPts val="0"/>
              </a:spcBef>
              <a:spcAft>
                <a:spcPts val="0"/>
              </a:spcAft>
              <a:buClr>
                <a:schemeClr val="dk2"/>
              </a:buClr>
              <a:buSzPct val="61110"/>
              <a:buFont typeface="Arial"/>
              <a:buNone/>
            </a:pPr>
            <a:r>
              <a:rPr lang="en"/>
              <a:t>CSS has properties for specifying the margin for each side of an element:</a:t>
            </a:r>
            <a:endParaRPr/>
          </a:p>
          <a:p>
            <a:pPr marL="457200" lvl="0" indent="-296148" algn="l" rtl="0">
              <a:lnSpc>
                <a:spcPct val="115000"/>
              </a:lnSpc>
              <a:spcBef>
                <a:spcPts val="0"/>
              </a:spcBef>
              <a:spcAft>
                <a:spcPts val="0"/>
              </a:spcAft>
              <a:buSzPct val="63887"/>
              <a:buFont typeface="Verdana"/>
              <a:buChar char="●"/>
            </a:pPr>
            <a:r>
              <a:rPr lang="en"/>
              <a:t>Margin-top</a:t>
            </a:r>
            <a:endParaRPr/>
          </a:p>
          <a:p>
            <a:pPr marL="457200" lvl="0" indent="-296146" algn="l" rtl="0">
              <a:spcBef>
                <a:spcPts val="0"/>
              </a:spcBef>
              <a:spcAft>
                <a:spcPts val="0"/>
              </a:spcAft>
              <a:buSzPct val="63887"/>
              <a:buFont typeface="Verdana"/>
              <a:buChar char="●"/>
            </a:pPr>
            <a:r>
              <a:rPr lang="en"/>
              <a:t>margin-bottom</a:t>
            </a:r>
            <a:endParaRPr/>
          </a:p>
          <a:p>
            <a:pPr marL="457200" lvl="0" indent="-296148" algn="l" rtl="0">
              <a:lnSpc>
                <a:spcPct val="115000"/>
              </a:lnSpc>
              <a:spcBef>
                <a:spcPts val="0"/>
              </a:spcBef>
              <a:spcAft>
                <a:spcPts val="0"/>
              </a:spcAft>
              <a:buSzPct val="63888"/>
              <a:buFont typeface="Verdana"/>
              <a:buChar char="●"/>
            </a:pPr>
            <a:r>
              <a:rPr lang="en"/>
              <a:t>margin-right</a:t>
            </a:r>
            <a:endParaRPr/>
          </a:p>
          <a:p>
            <a:pPr marL="457200" lvl="0" indent="-296148" algn="l" rtl="0">
              <a:lnSpc>
                <a:spcPct val="115000"/>
              </a:lnSpc>
              <a:spcBef>
                <a:spcPts val="0"/>
              </a:spcBef>
              <a:spcAft>
                <a:spcPts val="0"/>
              </a:spcAft>
              <a:buSzPct val="63888"/>
              <a:buFont typeface="Verdana"/>
              <a:buChar char="●"/>
            </a:pPr>
            <a:r>
              <a:rPr lang="en"/>
              <a:t>margin-left</a:t>
            </a:r>
            <a:endParaRPr/>
          </a:p>
          <a:p>
            <a:pPr marL="0" marR="0" lvl="0" indent="0" algn="l" rtl="0">
              <a:lnSpc>
                <a:spcPct val="115000"/>
              </a:lnSpc>
              <a:spcBef>
                <a:spcPts val="0"/>
              </a:spcBef>
              <a:spcAft>
                <a:spcPts val="0"/>
              </a:spcAft>
              <a:buSzPct val="108108"/>
              <a:buNone/>
            </a:pPr>
            <a:r>
              <a:rPr lang="en"/>
              <a:t>All the margin properties can have the following </a:t>
            </a:r>
            <a:r>
              <a:rPr lang="en">
                <a:solidFill>
                  <a:srgbClr val="FF0000"/>
                </a:solidFill>
              </a:rPr>
              <a:t>values</a:t>
            </a:r>
            <a:r>
              <a:rPr lang="en"/>
              <a:t>:</a:t>
            </a:r>
            <a:endParaRPr/>
          </a:p>
          <a:p>
            <a:pPr marL="457200" marR="0" lvl="0" indent="-334327" algn="l" rtl="0">
              <a:lnSpc>
                <a:spcPct val="115000"/>
              </a:lnSpc>
              <a:spcBef>
                <a:spcPts val="0"/>
              </a:spcBef>
              <a:spcAft>
                <a:spcPts val="0"/>
              </a:spcAft>
              <a:buSzPct val="100000"/>
              <a:buAutoNum type="arabicPeriod"/>
            </a:pPr>
            <a:r>
              <a:rPr lang="en"/>
              <a:t>auto - the browser calculates the margin</a:t>
            </a:r>
            <a:endParaRPr/>
          </a:p>
          <a:p>
            <a:pPr marL="457200" marR="0" lvl="0" indent="-334327" algn="l" rtl="0">
              <a:lnSpc>
                <a:spcPct val="115000"/>
              </a:lnSpc>
              <a:spcBef>
                <a:spcPts val="0"/>
              </a:spcBef>
              <a:spcAft>
                <a:spcPts val="0"/>
              </a:spcAft>
              <a:buSzPct val="100000"/>
              <a:buAutoNum type="arabicPeriod"/>
            </a:pPr>
            <a:r>
              <a:rPr lang="en"/>
              <a:t>length - specifies a margin in px, pt, cm, etc.</a:t>
            </a:r>
            <a:endParaRPr/>
          </a:p>
          <a:p>
            <a:pPr marL="457200" marR="0" lvl="0" indent="-334327" algn="l" rtl="0">
              <a:lnSpc>
                <a:spcPct val="115000"/>
              </a:lnSpc>
              <a:spcBef>
                <a:spcPts val="0"/>
              </a:spcBef>
              <a:spcAft>
                <a:spcPts val="0"/>
              </a:spcAft>
              <a:buSzPct val="100000"/>
              <a:buAutoNum type="arabicPeriod"/>
            </a:pPr>
            <a:r>
              <a:rPr lang="en"/>
              <a:t>% - specifies a margin in % of the width of the containing element</a:t>
            </a:r>
            <a:endParaRPr/>
          </a:p>
          <a:p>
            <a:pPr marL="457200" marR="0" lvl="0" indent="-334327" algn="l" rtl="0">
              <a:lnSpc>
                <a:spcPct val="115000"/>
              </a:lnSpc>
              <a:spcBef>
                <a:spcPts val="0"/>
              </a:spcBef>
              <a:spcAft>
                <a:spcPts val="0"/>
              </a:spcAft>
              <a:buSzPct val="100000"/>
              <a:buAutoNum type="arabicPeriod"/>
            </a:pPr>
            <a:r>
              <a:rPr lang="en"/>
              <a:t>inherit - specifies that the margin should be inherited from the parent element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Margin - Shorthand Property</a:t>
            </a:r>
            <a:endParaRPr/>
          </a:p>
        </p:txBody>
      </p:sp>
      <p:sp>
        <p:nvSpPr>
          <p:cNvPr id="215" name="Google Shape;215;p27"/>
          <p:cNvSpPr txBox="1">
            <a:spLocks noGrp="1"/>
          </p:cNvSpPr>
          <p:nvPr>
            <p:ph type="body" idx="1"/>
          </p:nvPr>
        </p:nvSpPr>
        <p:spPr>
          <a:xfrm>
            <a:off x="311700" y="1234075"/>
            <a:ext cx="8520600" cy="3334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en"/>
              <a:t>To shorten the code, it is possible to specify all the margin properties in one property.If the margin property has four values:</a:t>
            </a:r>
            <a:endParaRPr/>
          </a:p>
          <a:p>
            <a:pPr marL="0" lvl="0" indent="0" algn="l" rtl="0">
              <a:lnSpc>
                <a:spcPct val="115000"/>
              </a:lnSpc>
              <a:spcBef>
                <a:spcPts val="1200"/>
              </a:spcBef>
              <a:spcAft>
                <a:spcPts val="0"/>
              </a:spcAft>
              <a:buSzPts val="1800"/>
              <a:buNone/>
            </a:pPr>
            <a:r>
              <a:rPr lang="en"/>
              <a:t>margin: 25px 50px 75px 100px;</a:t>
            </a:r>
            <a:endParaRPr/>
          </a:p>
          <a:p>
            <a:pPr marL="914400" lvl="1" indent="-301625" algn="l" rtl="0">
              <a:lnSpc>
                <a:spcPct val="115000"/>
              </a:lnSpc>
              <a:spcBef>
                <a:spcPts val="1200"/>
              </a:spcBef>
              <a:spcAft>
                <a:spcPts val="0"/>
              </a:spcAft>
              <a:buSzPts val="1150"/>
              <a:buFont typeface="Verdana"/>
              <a:buChar char="○"/>
            </a:pPr>
            <a:r>
              <a:rPr lang="en" sz="1800"/>
              <a:t>top margin is 25px</a:t>
            </a:r>
            <a:endParaRPr sz="1800"/>
          </a:p>
          <a:p>
            <a:pPr marL="914400" lvl="1" indent="-301625" algn="l" rtl="0">
              <a:lnSpc>
                <a:spcPct val="115000"/>
              </a:lnSpc>
              <a:spcBef>
                <a:spcPts val="0"/>
              </a:spcBef>
              <a:spcAft>
                <a:spcPts val="0"/>
              </a:spcAft>
              <a:buSzPts val="1150"/>
              <a:buFont typeface="Verdana"/>
              <a:buChar char="○"/>
            </a:pPr>
            <a:r>
              <a:rPr lang="en" sz="1800"/>
              <a:t>right margin is 50px</a:t>
            </a:r>
            <a:endParaRPr sz="1800"/>
          </a:p>
          <a:p>
            <a:pPr marL="914400" lvl="1" indent="-301625" algn="l" rtl="0">
              <a:lnSpc>
                <a:spcPct val="115000"/>
              </a:lnSpc>
              <a:spcBef>
                <a:spcPts val="0"/>
              </a:spcBef>
              <a:spcAft>
                <a:spcPts val="0"/>
              </a:spcAft>
              <a:buSzPts val="1150"/>
              <a:buFont typeface="Verdana"/>
              <a:buChar char="○"/>
            </a:pPr>
            <a:r>
              <a:rPr lang="en" sz="1800"/>
              <a:t>bottom margin is 75px</a:t>
            </a:r>
            <a:endParaRPr sz="1800"/>
          </a:p>
          <a:p>
            <a:pPr marL="914400" lvl="1" indent="-301625" algn="l" rtl="0">
              <a:lnSpc>
                <a:spcPct val="115000"/>
              </a:lnSpc>
              <a:spcBef>
                <a:spcPts val="0"/>
              </a:spcBef>
              <a:spcAft>
                <a:spcPts val="0"/>
              </a:spcAft>
              <a:buSzPts val="1150"/>
              <a:buFont typeface="Verdana"/>
              <a:buChar char="○"/>
            </a:pPr>
            <a:r>
              <a:rPr lang="en" sz="1800"/>
              <a:t>left margin is 100px</a:t>
            </a:r>
            <a:endParaRPr sz="1800"/>
          </a:p>
          <a:p>
            <a:pPr marL="0" lvl="0" indent="0" algn="l" rtl="0">
              <a:lnSpc>
                <a:spcPct val="115000"/>
              </a:lnSpc>
              <a:spcBef>
                <a:spcPts val="1100"/>
              </a:spcBef>
              <a:spcAft>
                <a:spcPts val="1200"/>
              </a:spcAft>
              <a:buSzPts val="1800"/>
              <a:buNone/>
            </a:pPr>
            <a:endParaRPr sz="1150" b="1">
              <a:highlight>
                <a:srgbClr val="FFFFFF"/>
              </a:highlight>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TotalTime>
  <Words>1893</Words>
  <Application>Microsoft Office PowerPoint</Application>
  <PresentationFormat>On-screen Show (16:9)</PresentationFormat>
  <Paragraphs>264</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Verdana</vt:lpstr>
      <vt:lpstr>Playfair Display</vt:lpstr>
      <vt:lpstr>Montserrat</vt:lpstr>
      <vt:lpstr>Oswald</vt:lpstr>
      <vt:lpstr>Old Standard TT</vt:lpstr>
      <vt:lpstr>Pop</vt:lpstr>
      <vt:lpstr>Introduction to CSS</vt:lpstr>
      <vt:lpstr>What is CSS? </vt:lpstr>
      <vt:lpstr>CSS Example </vt:lpstr>
      <vt:lpstr>CSS Solved a Big Problem </vt:lpstr>
      <vt:lpstr>CSS Syntax</vt:lpstr>
      <vt:lpstr>CSS Selectors</vt:lpstr>
      <vt:lpstr>The CSS Element Selector </vt:lpstr>
      <vt:lpstr>The CSS Id Selector</vt:lpstr>
      <vt:lpstr>The CSS Class Selector </vt:lpstr>
      <vt:lpstr>The CSS Class Selector (continued .. ) </vt:lpstr>
      <vt:lpstr>The CSS Universal Selector </vt:lpstr>
      <vt:lpstr>The CSS Grouping Selector  </vt:lpstr>
      <vt:lpstr>All CSS Simple Selectors - Summary</vt:lpstr>
      <vt:lpstr>Three Ways to Add CSS </vt:lpstr>
      <vt:lpstr>External CSS</vt:lpstr>
      <vt:lpstr>Example </vt:lpstr>
      <vt:lpstr>2.   Internal CSS</vt:lpstr>
      <vt:lpstr>3.   Inline CSS</vt:lpstr>
      <vt:lpstr>CSS Colors</vt:lpstr>
      <vt:lpstr>CSS Backgroud Colors </vt:lpstr>
      <vt:lpstr>CSS Text Colors</vt:lpstr>
      <vt:lpstr>CSS Border Colors</vt:lpstr>
      <vt:lpstr>CSS Backgrounds</vt:lpstr>
      <vt:lpstr>CSS Background Styles</vt:lpstr>
      <vt:lpstr>CSS Margins</vt:lpstr>
      <vt:lpstr>Margin - Individual Sides </vt:lpstr>
      <vt:lpstr>Margin - Shorthand Property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CSS</dc:title>
  <dc:creator>sadia saad</dc:creator>
  <cp:lastModifiedBy>sadia saad</cp:lastModifiedBy>
  <cp:revision>4</cp:revision>
  <dcterms:modified xsi:type="dcterms:W3CDTF">2022-11-03T06:17:24Z</dcterms:modified>
</cp:coreProperties>
</file>