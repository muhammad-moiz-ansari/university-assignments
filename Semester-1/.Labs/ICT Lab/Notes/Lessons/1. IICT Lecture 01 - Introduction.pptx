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25"/>
  </p:notesMasterIdLst>
  <p:handoutMasterIdLst>
    <p:handoutMasterId r:id="rId26"/>
  </p:handoutMasterIdLst>
  <p:sldIdLst>
    <p:sldId id="257" r:id="rId2"/>
    <p:sldId id="345" r:id="rId3"/>
    <p:sldId id="364" r:id="rId4"/>
    <p:sldId id="340" r:id="rId5"/>
    <p:sldId id="350" r:id="rId6"/>
    <p:sldId id="341" r:id="rId7"/>
    <p:sldId id="342" r:id="rId8"/>
    <p:sldId id="351" r:id="rId9"/>
    <p:sldId id="349" r:id="rId10"/>
    <p:sldId id="348" r:id="rId11"/>
    <p:sldId id="346" r:id="rId12"/>
    <p:sldId id="360" r:id="rId13"/>
    <p:sldId id="361" r:id="rId14"/>
    <p:sldId id="362" r:id="rId15"/>
    <p:sldId id="353" r:id="rId16"/>
    <p:sldId id="352" r:id="rId17"/>
    <p:sldId id="354" r:id="rId18"/>
    <p:sldId id="355" r:id="rId19"/>
    <p:sldId id="356" r:id="rId20"/>
    <p:sldId id="359" r:id="rId21"/>
    <p:sldId id="363" r:id="rId22"/>
    <p:sldId id="357" r:id="rId23"/>
    <p:sldId id="358" r:id="rId24"/>
  </p:sldIdLst>
  <p:sldSz cx="9144000" cy="6858000" type="screen4x3"/>
  <p:notesSz cx="6858000" cy="9144000"/>
  <p:defaultTex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8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8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8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8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65" autoAdjust="0"/>
    <p:restoredTop sz="81584" autoAdjust="0"/>
  </p:normalViewPr>
  <p:slideViewPr>
    <p:cSldViewPr>
      <p:cViewPr varScale="1">
        <p:scale>
          <a:sx n="59" d="100"/>
          <a:sy n="59" d="100"/>
        </p:scale>
        <p:origin x="166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5DDFB8-ACB5-4C7A-823A-7935D3589D19}" type="doc">
      <dgm:prSet loTypeId="urn:microsoft.com/office/officeart/2005/8/layout/vList6" loCatId="process" qsTypeId="urn:microsoft.com/office/officeart/2005/8/quickstyle/simple1" qsCatId="simple" csTypeId="urn:microsoft.com/office/officeart/2005/8/colors/colorful5" csCatId="colorful" phldr="1"/>
      <dgm:spPr/>
      <dgm:t>
        <a:bodyPr/>
        <a:lstStyle/>
        <a:p>
          <a:endParaRPr lang="en-US"/>
        </a:p>
      </dgm:t>
    </dgm:pt>
    <dgm:pt modelId="{A6AE4262-F1F0-464D-8AA3-59C1B1C8AEC6}">
      <dgm:prSet phldrT="[Text]"/>
      <dgm:spPr/>
      <dgm:t>
        <a:bodyPr/>
        <a:lstStyle/>
        <a:p>
          <a:r>
            <a:rPr lang="en-US" b="1" i="0" u="none" dirty="0"/>
            <a:t>Application Software</a:t>
          </a:r>
          <a:endParaRPr lang="en-US" dirty="0"/>
        </a:p>
      </dgm:t>
    </dgm:pt>
    <dgm:pt modelId="{F345C937-79B1-4D4D-9FF7-C2823BC7DF30}" type="parTrans" cxnId="{8293FE4F-11F0-48EE-BAB0-4BDD5889EDD7}">
      <dgm:prSet/>
      <dgm:spPr/>
      <dgm:t>
        <a:bodyPr/>
        <a:lstStyle/>
        <a:p>
          <a:endParaRPr lang="en-US"/>
        </a:p>
      </dgm:t>
    </dgm:pt>
    <dgm:pt modelId="{8201C793-F028-4D71-95DF-883D5CE0B8A8}" type="sibTrans" cxnId="{8293FE4F-11F0-48EE-BAB0-4BDD5889EDD7}">
      <dgm:prSet/>
      <dgm:spPr/>
      <dgm:t>
        <a:bodyPr/>
        <a:lstStyle/>
        <a:p>
          <a:endParaRPr lang="en-US"/>
        </a:p>
      </dgm:t>
    </dgm:pt>
    <dgm:pt modelId="{CAA31CAC-9074-4708-BC74-4982A82E67C1}">
      <dgm:prSet phldrT="[Text]"/>
      <dgm:spPr/>
      <dgm:t>
        <a:bodyPr/>
        <a:lstStyle/>
        <a:p>
          <a:r>
            <a:rPr lang="en-US" b="0" i="0" u="none" dirty="0">
              <a:latin typeface="Times New Roman" panose="02020603050405020304" pitchFamily="18" charset="0"/>
              <a:cs typeface="Times New Roman" panose="02020603050405020304" pitchFamily="18" charset="0"/>
            </a:rPr>
            <a:t>Uses the computer system to perform special functions or provide entertainment functions beyond the basic operation of the computer itself.</a:t>
          </a:r>
          <a:endParaRPr lang="en-US" b="0" dirty="0">
            <a:latin typeface="Times New Roman" panose="02020603050405020304" pitchFamily="18" charset="0"/>
            <a:cs typeface="Times New Roman" panose="02020603050405020304" pitchFamily="18" charset="0"/>
          </a:endParaRPr>
        </a:p>
      </dgm:t>
    </dgm:pt>
    <dgm:pt modelId="{85990CD8-3BD7-4969-BC5C-12B040825DBB}" type="parTrans" cxnId="{00001F0C-1763-4D21-AA19-608420557527}">
      <dgm:prSet/>
      <dgm:spPr/>
      <dgm:t>
        <a:bodyPr/>
        <a:lstStyle/>
        <a:p>
          <a:endParaRPr lang="en-US"/>
        </a:p>
      </dgm:t>
    </dgm:pt>
    <dgm:pt modelId="{69F7AFDC-DDDE-488D-A623-A5C7B6A246D7}" type="sibTrans" cxnId="{00001F0C-1763-4D21-AA19-608420557527}">
      <dgm:prSet/>
      <dgm:spPr/>
      <dgm:t>
        <a:bodyPr/>
        <a:lstStyle/>
        <a:p>
          <a:endParaRPr lang="en-US"/>
        </a:p>
      </dgm:t>
    </dgm:pt>
    <dgm:pt modelId="{2B75B551-E565-413D-94DB-CDBD8975FB8A}">
      <dgm:prSet phldrT="[Text]"/>
      <dgm:spPr/>
      <dgm:t>
        <a:bodyPr/>
        <a:lstStyle/>
        <a:p>
          <a:r>
            <a:rPr lang="en-US" b="1" i="0" u="none" dirty="0"/>
            <a:t>System </a:t>
          </a:r>
          <a:r>
            <a:rPr lang="en-US" b="1" i="0" u="none"/>
            <a:t>Software</a:t>
          </a:r>
          <a:r>
            <a:rPr lang="en-US" b="0" i="0" u="none"/>
            <a:t> </a:t>
          </a:r>
          <a:endParaRPr lang="en-US" dirty="0"/>
        </a:p>
      </dgm:t>
    </dgm:pt>
    <dgm:pt modelId="{26F91AA0-BF60-48F1-B450-8F15F58F167A}" type="parTrans" cxnId="{D972DCF3-251B-4E62-AE5A-939643D3B558}">
      <dgm:prSet/>
      <dgm:spPr/>
      <dgm:t>
        <a:bodyPr/>
        <a:lstStyle/>
        <a:p>
          <a:endParaRPr lang="en-US"/>
        </a:p>
      </dgm:t>
    </dgm:pt>
    <dgm:pt modelId="{4A6E9AE2-3FC9-4579-BE11-C3E45D966E6A}" type="sibTrans" cxnId="{D972DCF3-251B-4E62-AE5A-939643D3B558}">
      <dgm:prSet/>
      <dgm:spPr/>
      <dgm:t>
        <a:bodyPr/>
        <a:lstStyle/>
        <a:p>
          <a:endParaRPr lang="en-US"/>
        </a:p>
      </dgm:t>
    </dgm:pt>
    <dgm:pt modelId="{5DC5E674-9F38-4DCC-A28C-DE493FF73901}">
      <dgm:prSet phldrT="[Text]"/>
      <dgm:spPr/>
      <dgm:t>
        <a:bodyPr/>
        <a:lstStyle/>
        <a:p>
          <a:r>
            <a:rPr lang="en-US" b="0" i="0" u="none" dirty="0">
              <a:latin typeface="Times New Roman" panose="02020603050405020304" pitchFamily="18" charset="0"/>
              <a:cs typeface="Times New Roman" panose="02020603050405020304" pitchFamily="18" charset="0"/>
            </a:rPr>
            <a:t>It directly operates the Computer Hardware, to provide basic functionality needed by users and other software, and to provide a platform for running application software</a:t>
          </a:r>
          <a:endParaRPr lang="en-US" dirty="0">
            <a:latin typeface="Times New Roman" panose="02020603050405020304" pitchFamily="18" charset="0"/>
            <a:cs typeface="Times New Roman" panose="02020603050405020304" pitchFamily="18" charset="0"/>
          </a:endParaRPr>
        </a:p>
      </dgm:t>
    </dgm:pt>
    <dgm:pt modelId="{CD393F69-3418-4B21-ABE0-C87C7AF7564C}" type="sibTrans" cxnId="{A4C970F4-C70A-4F80-AAA6-5F88787F2CE2}">
      <dgm:prSet/>
      <dgm:spPr/>
      <dgm:t>
        <a:bodyPr/>
        <a:lstStyle/>
        <a:p>
          <a:endParaRPr lang="en-US"/>
        </a:p>
      </dgm:t>
    </dgm:pt>
    <dgm:pt modelId="{5EBD777B-BD41-4A17-B55C-B6E924F397DD}" type="parTrans" cxnId="{A4C970F4-C70A-4F80-AAA6-5F88787F2CE2}">
      <dgm:prSet/>
      <dgm:spPr/>
      <dgm:t>
        <a:bodyPr/>
        <a:lstStyle/>
        <a:p>
          <a:endParaRPr lang="en-US"/>
        </a:p>
      </dgm:t>
    </dgm:pt>
    <dgm:pt modelId="{CC8D3316-057B-42A7-B88E-DCD61B452693}" type="pres">
      <dgm:prSet presAssocID="{915DDFB8-ACB5-4C7A-823A-7935D3589D19}" presName="Name0" presStyleCnt="0">
        <dgm:presLayoutVars>
          <dgm:dir/>
          <dgm:animLvl val="lvl"/>
          <dgm:resizeHandles/>
        </dgm:presLayoutVars>
      </dgm:prSet>
      <dgm:spPr/>
    </dgm:pt>
    <dgm:pt modelId="{CE7B7371-36AC-49D8-9A05-1E349B5F842D}" type="pres">
      <dgm:prSet presAssocID="{A6AE4262-F1F0-464D-8AA3-59C1B1C8AEC6}" presName="linNode" presStyleCnt="0"/>
      <dgm:spPr/>
    </dgm:pt>
    <dgm:pt modelId="{C36851C4-C65E-4369-B648-DB2A553036A0}" type="pres">
      <dgm:prSet presAssocID="{A6AE4262-F1F0-464D-8AA3-59C1B1C8AEC6}" presName="parentShp" presStyleLbl="node1" presStyleIdx="0" presStyleCnt="2">
        <dgm:presLayoutVars>
          <dgm:bulletEnabled val="1"/>
        </dgm:presLayoutVars>
      </dgm:prSet>
      <dgm:spPr/>
    </dgm:pt>
    <dgm:pt modelId="{804EB529-943F-4122-8548-0DDF28C2A194}" type="pres">
      <dgm:prSet presAssocID="{A6AE4262-F1F0-464D-8AA3-59C1B1C8AEC6}" presName="childShp" presStyleLbl="bgAccFollowNode1" presStyleIdx="0" presStyleCnt="2">
        <dgm:presLayoutVars>
          <dgm:bulletEnabled val="1"/>
        </dgm:presLayoutVars>
      </dgm:prSet>
      <dgm:spPr/>
    </dgm:pt>
    <dgm:pt modelId="{B6CF8B11-76E1-4DA4-9080-16C610B24EC6}" type="pres">
      <dgm:prSet presAssocID="{8201C793-F028-4D71-95DF-883D5CE0B8A8}" presName="spacing" presStyleCnt="0"/>
      <dgm:spPr/>
    </dgm:pt>
    <dgm:pt modelId="{4BC507D9-2F12-4594-9B9C-98DCD95352E5}" type="pres">
      <dgm:prSet presAssocID="{2B75B551-E565-413D-94DB-CDBD8975FB8A}" presName="linNode" presStyleCnt="0"/>
      <dgm:spPr/>
    </dgm:pt>
    <dgm:pt modelId="{4E359483-7D5C-4A45-B29B-AB6F918B8D7F}" type="pres">
      <dgm:prSet presAssocID="{2B75B551-E565-413D-94DB-CDBD8975FB8A}" presName="parentShp" presStyleLbl="node1" presStyleIdx="1" presStyleCnt="2">
        <dgm:presLayoutVars>
          <dgm:bulletEnabled val="1"/>
        </dgm:presLayoutVars>
      </dgm:prSet>
      <dgm:spPr/>
    </dgm:pt>
    <dgm:pt modelId="{F4FB9736-8F2A-4B19-9051-E298512B4468}" type="pres">
      <dgm:prSet presAssocID="{2B75B551-E565-413D-94DB-CDBD8975FB8A}" presName="childShp" presStyleLbl="bgAccFollowNode1" presStyleIdx="1" presStyleCnt="2">
        <dgm:presLayoutVars>
          <dgm:bulletEnabled val="1"/>
        </dgm:presLayoutVars>
      </dgm:prSet>
      <dgm:spPr/>
    </dgm:pt>
  </dgm:ptLst>
  <dgm:cxnLst>
    <dgm:cxn modelId="{00001F0C-1763-4D21-AA19-608420557527}" srcId="{A6AE4262-F1F0-464D-8AA3-59C1B1C8AEC6}" destId="{CAA31CAC-9074-4708-BC74-4982A82E67C1}" srcOrd="0" destOrd="0" parTransId="{85990CD8-3BD7-4969-BC5C-12B040825DBB}" sibTransId="{69F7AFDC-DDDE-488D-A623-A5C7B6A246D7}"/>
    <dgm:cxn modelId="{91449212-FA9C-44DA-9697-B6065036F84F}" type="presOf" srcId="{5DC5E674-9F38-4DCC-A28C-DE493FF73901}" destId="{F4FB9736-8F2A-4B19-9051-E298512B4468}" srcOrd="0" destOrd="0" presId="urn:microsoft.com/office/officeart/2005/8/layout/vList6"/>
    <dgm:cxn modelId="{E076D33D-0F73-4F35-BF5C-B55209A5BE4A}" type="presOf" srcId="{CAA31CAC-9074-4708-BC74-4982A82E67C1}" destId="{804EB529-943F-4122-8548-0DDF28C2A194}" srcOrd="0" destOrd="0" presId="urn:microsoft.com/office/officeart/2005/8/layout/vList6"/>
    <dgm:cxn modelId="{9F631560-6456-46AC-823C-CD724C124689}" type="presOf" srcId="{2B75B551-E565-413D-94DB-CDBD8975FB8A}" destId="{4E359483-7D5C-4A45-B29B-AB6F918B8D7F}" srcOrd="0" destOrd="0" presId="urn:microsoft.com/office/officeart/2005/8/layout/vList6"/>
    <dgm:cxn modelId="{8293FE4F-11F0-48EE-BAB0-4BDD5889EDD7}" srcId="{915DDFB8-ACB5-4C7A-823A-7935D3589D19}" destId="{A6AE4262-F1F0-464D-8AA3-59C1B1C8AEC6}" srcOrd="0" destOrd="0" parTransId="{F345C937-79B1-4D4D-9FF7-C2823BC7DF30}" sibTransId="{8201C793-F028-4D71-95DF-883D5CE0B8A8}"/>
    <dgm:cxn modelId="{CFA5B2C9-1378-47FF-8BB4-9D213BC41C34}" type="presOf" srcId="{A6AE4262-F1F0-464D-8AA3-59C1B1C8AEC6}" destId="{C36851C4-C65E-4369-B648-DB2A553036A0}" srcOrd="0" destOrd="0" presId="urn:microsoft.com/office/officeart/2005/8/layout/vList6"/>
    <dgm:cxn modelId="{D972DCF3-251B-4E62-AE5A-939643D3B558}" srcId="{915DDFB8-ACB5-4C7A-823A-7935D3589D19}" destId="{2B75B551-E565-413D-94DB-CDBD8975FB8A}" srcOrd="1" destOrd="0" parTransId="{26F91AA0-BF60-48F1-B450-8F15F58F167A}" sibTransId="{4A6E9AE2-3FC9-4579-BE11-C3E45D966E6A}"/>
    <dgm:cxn modelId="{A4C970F4-C70A-4F80-AAA6-5F88787F2CE2}" srcId="{2B75B551-E565-413D-94DB-CDBD8975FB8A}" destId="{5DC5E674-9F38-4DCC-A28C-DE493FF73901}" srcOrd="0" destOrd="0" parTransId="{5EBD777B-BD41-4A17-B55C-B6E924F397DD}" sibTransId="{CD393F69-3418-4B21-ABE0-C87C7AF7564C}"/>
    <dgm:cxn modelId="{D40031FC-D7C9-4B21-97B2-EDCEB87FBF37}" type="presOf" srcId="{915DDFB8-ACB5-4C7A-823A-7935D3589D19}" destId="{CC8D3316-057B-42A7-B88E-DCD61B452693}" srcOrd="0" destOrd="0" presId="urn:microsoft.com/office/officeart/2005/8/layout/vList6"/>
    <dgm:cxn modelId="{2377D825-7066-4597-A1C0-828F53C06A19}" type="presParOf" srcId="{CC8D3316-057B-42A7-B88E-DCD61B452693}" destId="{CE7B7371-36AC-49D8-9A05-1E349B5F842D}" srcOrd="0" destOrd="0" presId="urn:microsoft.com/office/officeart/2005/8/layout/vList6"/>
    <dgm:cxn modelId="{7F5AC048-6B2E-41F6-B816-AA674A0249E2}" type="presParOf" srcId="{CE7B7371-36AC-49D8-9A05-1E349B5F842D}" destId="{C36851C4-C65E-4369-B648-DB2A553036A0}" srcOrd="0" destOrd="0" presId="urn:microsoft.com/office/officeart/2005/8/layout/vList6"/>
    <dgm:cxn modelId="{A941EF90-F3D1-4929-BA78-4EC8AE6F8AB3}" type="presParOf" srcId="{CE7B7371-36AC-49D8-9A05-1E349B5F842D}" destId="{804EB529-943F-4122-8548-0DDF28C2A194}" srcOrd="1" destOrd="0" presId="urn:microsoft.com/office/officeart/2005/8/layout/vList6"/>
    <dgm:cxn modelId="{4B287AD1-2CD3-4AF4-B7F4-E1C9D4A4112C}" type="presParOf" srcId="{CC8D3316-057B-42A7-B88E-DCD61B452693}" destId="{B6CF8B11-76E1-4DA4-9080-16C610B24EC6}" srcOrd="1" destOrd="0" presId="urn:microsoft.com/office/officeart/2005/8/layout/vList6"/>
    <dgm:cxn modelId="{D49F2810-168A-4071-9D7D-AC20AD0FD761}" type="presParOf" srcId="{CC8D3316-057B-42A7-B88E-DCD61B452693}" destId="{4BC507D9-2F12-4594-9B9C-98DCD95352E5}" srcOrd="2" destOrd="0" presId="urn:microsoft.com/office/officeart/2005/8/layout/vList6"/>
    <dgm:cxn modelId="{0D4B20FD-889B-440E-BA40-7D235DE8B67E}" type="presParOf" srcId="{4BC507D9-2F12-4594-9B9C-98DCD95352E5}" destId="{4E359483-7D5C-4A45-B29B-AB6F918B8D7F}" srcOrd="0" destOrd="0" presId="urn:microsoft.com/office/officeart/2005/8/layout/vList6"/>
    <dgm:cxn modelId="{F2D3D1F6-55B1-403D-B5DC-8740CD17F40B}" type="presParOf" srcId="{4BC507D9-2F12-4594-9B9C-98DCD95352E5}" destId="{F4FB9736-8F2A-4B19-9051-E298512B4468}"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4EB529-943F-4122-8548-0DDF28C2A194}">
      <dsp:nvSpPr>
        <dsp:cNvPr id="0" name=""/>
        <dsp:cNvSpPr/>
      </dsp:nvSpPr>
      <dsp:spPr>
        <a:xfrm>
          <a:off x="2987040" y="586"/>
          <a:ext cx="4480560" cy="2285441"/>
        </a:xfrm>
        <a:prstGeom prst="rightArrow">
          <a:avLst>
            <a:gd name="adj1" fmla="val 75000"/>
            <a:gd name="adj2" fmla="val 50000"/>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u="none" kern="1200" dirty="0">
              <a:latin typeface="Times New Roman" panose="02020603050405020304" pitchFamily="18" charset="0"/>
              <a:cs typeface="Times New Roman" panose="02020603050405020304" pitchFamily="18" charset="0"/>
            </a:rPr>
            <a:t>Uses the computer system to perform special functions or provide entertainment functions beyond the basic operation of the computer itself.</a:t>
          </a:r>
          <a:endParaRPr lang="en-US" sz="2000" b="0" kern="1200" dirty="0">
            <a:latin typeface="Times New Roman" panose="02020603050405020304" pitchFamily="18" charset="0"/>
            <a:cs typeface="Times New Roman" panose="02020603050405020304" pitchFamily="18" charset="0"/>
          </a:endParaRPr>
        </a:p>
      </dsp:txBody>
      <dsp:txXfrm>
        <a:off x="2987040" y="286266"/>
        <a:ext cx="3623520" cy="1714081"/>
      </dsp:txXfrm>
    </dsp:sp>
    <dsp:sp modelId="{C36851C4-C65E-4369-B648-DB2A553036A0}">
      <dsp:nvSpPr>
        <dsp:cNvPr id="0" name=""/>
        <dsp:cNvSpPr/>
      </dsp:nvSpPr>
      <dsp:spPr>
        <a:xfrm>
          <a:off x="0" y="586"/>
          <a:ext cx="2987040" cy="228544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b="1" i="0" u="none" kern="1200" dirty="0"/>
            <a:t>Application Software</a:t>
          </a:r>
          <a:endParaRPr lang="en-US" sz="3600" kern="1200" dirty="0"/>
        </a:p>
      </dsp:txBody>
      <dsp:txXfrm>
        <a:off x="111566" y="112152"/>
        <a:ext cx="2763908" cy="2062309"/>
      </dsp:txXfrm>
    </dsp:sp>
    <dsp:sp modelId="{F4FB9736-8F2A-4B19-9051-E298512B4468}">
      <dsp:nvSpPr>
        <dsp:cNvPr id="0" name=""/>
        <dsp:cNvSpPr/>
      </dsp:nvSpPr>
      <dsp:spPr>
        <a:xfrm>
          <a:off x="2987040" y="2514572"/>
          <a:ext cx="4480560" cy="2285441"/>
        </a:xfrm>
        <a:prstGeom prst="rightArrow">
          <a:avLst>
            <a:gd name="adj1" fmla="val 75000"/>
            <a:gd name="adj2" fmla="val 50000"/>
          </a:avLst>
        </a:prstGeom>
        <a:solidFill>
          <a:schemeClr val="accent5">
            <a:tint val="40000"/>
            <a:alpha val="90000"/>
            <a:hueOff val="3245083"/>
            <a:satOff val="-23015"/>
            <a:lumOff val="-13095"/>
            <a:alphaOff val="0"/>
          </a:schemeClr>
        </a:solidFill>
        <a:ln w="25400" cap="flat" cmpd="sng" algn="ctr">
          <a:solidFill>
            <a:schemeClr val="accent5">
              <a:tint val="40000"/>
              <a:alpha val="90000"/>
              <a:hueOff val="3245083"/>
              <a:satOff val="-23015"/>
              <a:lumOff val="-1309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u="none" kern="1200" dirty="0">
              <a:latin typeface="Times New Roman" panose="02020603050405020304" pitchFamily="18" charset="0"/>
              <a:cs typeface="Times New Roman" panose="02020603050405020304" pitchFamily="18" charset="0"/>
            </a:rPr>
            <a:t>It directly operates the Computer Hardware, to provide basic functionality needed by users and other software, and to provide a platform for running application software</a:t>
          </a:r>
          <a:endParaRPr lang="en-US" sz="2000" kern="1200" dirty="0">
            <a:latin typeface="Times New Roman" panose="02020603050405020304" pitchFamily="18" charset="0"/>
            <a:cs typeface="Times New Roman" panose="02020603050405020304" pitchFamily="18" charset="0"/>
          </a:endParaRPr>
        </a:p>
      </dsp:txBody>
      <dsp:txXfrm>
        <a:off x="2987040" y="2800252"/>
        <a:ext cx="3623520" cy="1714081"/>
      </dsp:txXfrm>
    </dsp:sp>
    <dsp:sp modelId="{4E359483-7D5C-4A45-B29B-AB6F918B8D7F}">
      <dsp:nvSpPr>
        <dsp:cNvPr id="0" name=""/>
        <dsp:cNvSpPr/>
      </dsp:nvSpPr>
      <dsp:spPr>
        <a:xfrm>
          <a:off x="0" y="2514572"/>
          <a:ext cx="2987040" cy="2285441"/>
        </a:xfrm>
        <a:prstGeom prst="roundRect">
          <a:avLst/>
        </a:prstGeom>
        <a:solidFill>
          <a:schemeClr val="accent5">
            <a:hueOff val="3257026"/>
            <a:satOff val="11196"/>
            <a:lumOff val="-53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b="1" i="0" u="none" kern="1200" dirty="0"/>
            <a:t>System </a:t>
          </a:r>
          <a:r>
            <a:rPr lang="en-US" sz="3600" b="1" i="0" u="none" kern="1200"/>
            <a:t>Software</a:t>
          </a:r>
          <a:r>
            <a:rPr lang="en-US" sz="3600" b="0" i="0" u="none" kern="1200"/>
            <a:t> </a:t>
          </a:r>
          <a:endParaRPr lang="en-US" sz="3600" kern="1200" dirty="0"/>
        </a:p>
      </dsp:txBody>
      <dsp:txXfrm>
        <a:off x="111566" y="2626138"/>
        <a:ext cx="2763908" cy="2062309"/>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0"/>
                <a:cs typeface="+mn-cs"/>
              </a:defRPr>
            </a:lvl1pPr>
          </a:lstStyle>
          <a:p>
            <a:pPr>
              <a:defRPr/>
            </a:pPr>
            <a:endParaRPr lang="en-US"/>
          </a:p>
        </p:txBody>
      </p:sp>
      <p:sp>
        <p:nvSpPr>
          <p:cNvPr id="8499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charset="0"/>
                <a:cs typeface="+mn-cs"/>
              </a:defRPr>
            </a:lvl1pPr>
          </a:lstStyle>
          <a:p>
            <a:pPr>
              <a:defRPr/>
            </a:pPr>
            <a:endParaRPr lang="en-US"/>
          </a:p>
        </p:txBody>
      </p:sp>
      <p:sp>
        <p:nvSpPr>
          <p:cNvPr id="8499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charset="0"/>
                <a:cs typeface="+mn-cs"/>
              </a:defRPr>
            </a:lvl1pPr>
          </a:lstStyle>
          <a:p>
            <a:pPr>
              <a:defRPr/>
            </a:pPr>
            <a:endParaRPr lang="en-US"/>
          </a:p>
        </p:txBody>
      </p:sp>
      <p:sp>
        <p:nvSpPr>
          <p:cNvPr id="8499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vl1pPr>
          </a:lstStyle>
          <a:p>
            <a:fld id="{45EB62C9-81C1-46FE-A107-6F2FBC822366}" type="slidenum">
              <a:rPr lang="en-US"/>
              <a:pPr/>
              <a:t>‹#›</a:t>
            </a:fld>
            <a:endParaRPr lang="en-US"/>
          </a:p>
        </p:txBody>
      </p:sp>
    </p:spTree>
    <p:extLst>
      <p:ext uri="{BB962C8B-B14F-4D97-AF65-F5344CB8AC3E}">
        <p14:creationId xmlns:p14="http://schemas.microsoft.com/office/powerpoint/2010/main" val="41164480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0"/>
                <a:cs typeface="+mn-cs"/>
              </a:defRPr>
            </a:lvl1pPr>
          </a:lstStyle>
          <a:p>
            <a:pPr>
              <a:defRPr/>
            </a:pPr>
            <a:endParaRPr lang="en-US"/>
          </a:p>
        </p:txBody>
      </p:sp>
      <p:sp>
        <p:nvSpPr>
          <p:cNvPr id="3584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charset="0"/>
                <a:cs typeface="+mn-cs"/>
              </a:defRPr>
            </a:lvl1pPr>
          </a:lstStyle>
          <a:p>
            <a:pPr>
              <a:defRPr/>
            </a:pPr>
            <a:endParaRPr lang="en-US"/>
          </a:p>
        </p:txBody>
      </p:sp>
      <p:sp>
        <p:nvSpPr>
          <p:cNvPr id="358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3584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584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charset="0"/>
                <a:cs typeface="+mn-cs"/>
              </a:defRPr>
            </a:lvl1pPr>
          </a:lstStyle>
          <a:p>
            <a:pPr>
              <a:defRPr/>
            </a:pPr>
            <a:endParaRPr lang="en-US"/>
          </a:p>
        </p:txBody>
      </p:sp>
      <p:sp>
        <p:nvSpPr>
          <p:cNvPr id="3584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vl1pPr>
          </a:lstStyle>
          <a:p>
            <a:fld id="{491D7DF2-8F41-4DAB-836A-105EB12E6468}" type="slidenum">
              <a:rPr lang="en-US"/>
              <a:pPr/>
              <a:t>‹#›</a:t>
            </a:fld>
            <a:endParaRPr lang="en-US"/>
          </a:p>
        </p:txBody>
      </p:sp>
    </p:spTree>
    <p:extLst>
      <p:ext uri="{BB962C8B-B14F-4D97-AF65-F5344CB8AC3E}">
        <p14:creationId xmlns:p14="http://schemas.microsoft.com/office/powerpoint/2010/main" val="40835549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fi.edu/augmented-reality" TargetMode="External"/><Relationship Id="rId7" Type="http://schemas.openxmlformats.org/officeDocument/2006/relationships/hyperlink" Target="https://www.techtarget.com/whatis/definition/bit-binary-digit" TargetMode="External"/><Relationship Id="rId2" Type="http://schemas.openxmlformats.org/officeDocument/2006/relationships/slide" Target="../slides/slide23.xml"/><Relationship Id="rId1" Type="http://schemas.openxmlformats.org/officeDocument/2006/relationships/notesMaster" Target="../notesMasters/notesMaster1.xml"/><Relationship Id="rId6" Type="http://schemas.openxmlformats.org/officeDocument/2006/relationships/hyperlink" Target="https://www.techtarget.com/whatis/definition/quantum" TargetMode="External"/><Relationship Id="rId5" Type="http://schemas.openxmlformats.org/officeDocument/2006/relationships/hyperlink" Target="https://www.techtarget.com/whatis/definition/quantum-theory" TargetMode="External"/><Relationship Id="rId4" Type="http://schemas.openxmlformats.org/officeDocument/2006/relationships/hyperlink" Target="https://www.fi.edu/virtual-reality"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fld id="{069A261A-4304-47B0-AF0E-82D931A3068E}" type="slidenum">
              <a:rPr lang="en-US"/>
              <a:pPr/>
              <a:t>1</a:t>
            </a:fld>
            <a:endParaRPr lang="en-US"/>
          </a:p>
        </p:txBody>
      </p:sp>
      <p:sp>
        <p:nvSpPr>
          <p:cNvPr id="36866" name="Rectangle 2"/>
          <p:cNvSpPr>
            <a:spLocks noGrp="1" noRot="1" noChangeAspect="1" noChangeArrowheads="1" noTextEdit="1"/>
          </p:cNvSpPr>
          <p:nvPr>
            <p:ph type="sldImg"/>
          </p:nvPr>
        </p:nvSpPr>
        <p:spPr>
          <a:xfrm>
            <a:off x="1144588" y="685800"/>
            <a:ext cx="4572000" cy="3429000"/>
          </a:xfrm>
          <a:ln/>
          <a:extLst>
            <a:ext uri="{FAA26D3D-D897-4be2-8F04-BA451C77F1D7}">
              <ma14:placeholderFlag xmlns="" xmlns:ma14="http://schemas.microsoft.com/office/mac/drawingml/2011/main" val="1"/>
            </a:ext>
          </a:extLst>
        </p:spPr>
      </p:sp>
      <p:sp>
        <p:nvSpPr>
          <p:cNvPr id="36867" name="Rectangle 3"/>
          <p:cNvSpPr>
            <a:spLocks noGrp="1" noChangeArrowheads="1"/>
          </p:cNvSpPr>
          <p:nvPr>
            <p:ph type="body" idx="1"/>
          </p:nvPr>
        </p:nvSpPr>
        <p:spPr>
          <a:xfrm>
            <a:off x="914400" y="4343400"/>
            <a:ext cx="5029200" cy="4114800"/>
          </a:xfrm>
        </p:spPr>
        <p:txBody>
          <a:bodyPr/>
          <a:lstStyle/>
          <a:p>
            <a:pPr eaLnBrk="1" hangingPunct="1">
              <a:defRPr/>
            </a:pPr>
            <a:endParaRPr lang="fr-FR">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4579" name="Notes Placeholder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defRPr/>
            </a:pPr>
            <a:endParaRPr lang="en-GB">
              <a:latin typeface="Calibri" charset="0"/>
              <a:cs typeface="+mn-cs"/>
            </a:endParaRPr>
          </a:p>
        </p:txBody>
      </p:sp>
      <p:sp>
        <p:nvSpPr>
          <p:cNvPr id="24580"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fld id="{BC134FB8-E1BA-4B13-94B8-73F613C9D799}" type="slidenum">
              <a:rPr lang="en-US"/>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4579" name="Notes Placeholder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defRPr/>
            </a:pPr>
            <a:endParaRPr lang="en-GB">
              <a:latin typeface="Calibri" charset="0"/>
              <a:cs typeface="+mn-cs"/>
            </a:endParaRPr>
          </a:p>
        </p:txBody>
      </p:sp>
      <p:sp>
        <p:nvSpPr>
          <p:cNvPr id="24580"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fld id="{BC134FB8-E1BA-4B13-94B8-73F613C9D799}" type="slidenum">
              <a:rPr lang="en-US"/>
              <a:pPr/>
              <a:t>5</a:t>
            </a:fld>
            <a:endParaRPr lang="en-US"/>
          </a:p>
        </p:txBody>
      </p:sp>
    </p:spTree>
    <p:extLst>
      <p:ext uri="{BB962C8B-B14F-4D97-AF65-F5344CB8AC3E}">
        <p14:creationId xmlns:p14="http://schemas.microsoft.com/office/powerpoint/2010/main" val="1822941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0723" name="Notes Placeholder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defRPr/>
            </a:pPr>
            <a:endParaRPr lang="en-GB">
              <a:latin typeface="Calibri" charset="0"/>
              <a:cs typeface="+mn-cs"/>
            </a:endParaRPr>
          </a:p>
        </p:txBody>
      </p:sp>
      <p:sp>
        <p:nvSpPr>
          <p:cNvPr id="30724"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fld id="{2118E8FC-C592-4830-914E-2DF876627EDE}" type="slidenum">
              <a:rPr lang="en-US"/>
              <a:pPr/>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0723" name="Notes Placeholder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defRPr/>
            </a:pPr>
            <a:endParaRPr lang="en-GB">
              <a:latin typeface="Calibri" charset="0"/>
              <a:cs typeface="+mn-cs"/>
            </a:endParaRPr>
          </a:p>
        </p:txBody>
      </p:sp>
      <p:sp>
        <p:nvSpPr>
          <p:cNvPr id="30724"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fld id="{A202DCCB-2AF9-422A-894E-F5C55D319936}" type="slidenum">
              <a:rPr lang="en-US"/>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1D7DF2-8F41-4DAB-836A-105EB12E6468}" type="slidenum">
              <a:rPr lang="en-US" smtClean="0"/>
              <a:pPr/>
              <a:t>12</a:t>
            </a:fld>
            <a:endParaRPr lang="en-US"/>
          </a:p>
        </p:txBody>
      </p:sp>
    </p:spTree>
    <p:extLst>
      <p:ext uri="{BB962C8B-B14F-4D97-AF65-F5344CB8AC3E}">
        <p14:creationId xmlns:p14="http://schemas.microsoft.com/office/powerpoint/2010/main" val="2382046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1E242F"/>
                </a:solidFill>
                <a:effectLst/>
                <a:latin typeface="untitled-sans"/>
              </a:rPr>
              <a:t>Data is a collection of facts, while information puts those facts into context.</a:t>
            </a:r>
          </a:p>
          <a:p>
            <a:endParaRPr lang="en-US" dirty="0"/>
          </a:p>
        </p:txBody>
      </p:sp>
      <p:sp>
        <p:nvSpPr>
          <p:cNvPr id="4" name="Slide Number Placeholder 3"/>
          <p:cNvSpPr>
            <a:spLocks noGrp="1"/>
          </p:cNvSpPr>
          <p:nvPr>
            <p:ph type="sldNum" sz="quarter" idx="5"/>
          </p:nvPr>
        </p:nvSpPr>
        <p:spPr/>
        <p:txBody>
          <a:bodyPr/>
          <a:lstStyle/>
          <a:p>
            <a:fld id="{491D7DF2-8F41-4DAB-836A-105EB12E6468}" type="slidenum">
              <a:rPr lang="en-US" smtClean="0"/>
              <a:pPr/>
              <a:t>16</a:t>
            </a:fld>
            <a:endParaRPr lang="en-US"/>
          </a:p>
        </p:txBody>
      </p:sp>
    </p:spTree>
    <p:extLst>
      <p:ext uri="{BB962C8B-B14F-4D97-AF65-F5344CB8AC3E}">
        <p14:creationId xmlns:p14="http://schemas.microsoft.com/office/powerpoint/2010/main" val="3157401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Virtual Reality and Augmented Reality:</a:t>
            </a:r>
          </a:p>
          <a:p>
            <a:pPr fontAlgn="base"/>
            <a:r>
              <a:rPr lang="en-US" b="1" i="0" u="none" strike="noStrike" dirty="0">
                <a:solidFill>
                  <a:srgbClr val="515668"/>
                </a:solidFill>
                <a:effectLst/>
                <a:hlinkClick r:id="rId3"/>
              </a:rPr>
              <a:t>Augmented reality (AR)</a:t>
            </a:r>
            <a:r>
              <a:rPr lang="en-US" b="0" i="0" dirty="0">
                <a:effectLst/>
              </a:rPr>
              <a:t> adds digital elements to a live view often by using the camera on a smartphone. Examples of augmented reality experiences include Snapchat lenses and the game </a:t>
            </a:r>
            <a:r>
              <a:rPr lang="en-US" b="0" i="0" dirty="0" err="1">
                <a:effectLst/>
              </a:rPr>
              <a:t>Pokemon</a:t>
            </a:r>
            <a:r>
              <a:rPr lang="en-US" b="0" i="0" dirty="0">
                <a:effectLst/>
              </a:rPr>
              <a:t> Go. </a:t>
            </a:r>
          </a:p>
          <a:p>
            <a:pPr fontAlgn="base"/>
            <a:r>
              <a:rPr lang="en-US" b="1" i="0" u="none" strike="noStrike" dirty="0">
                <a:solidFill>
                  <a:srgbClr val="515668"/>
                </a:solidFill>
                <a:effectLst/>
                <a:hlinkClick r:id="rId4"/>
              </a:rPr>
              <a:t>Virtual reality (VR)</a:t>
            </a:r>
            <a:r>
              <a:rPr lang="en-US" b="0" i="0" dirty="0">
                <a:effectLst/>
              </a:rPr>
              <a:t> implies a complete immersion experience that shuts out the physical world.</a:t>
            </a:r>
          </a:p>
          <a:p>
            <a:pPr fontAlgn="base"/>
            <a:endParaRPr lang="en-US" b="0" i="0" dirty="0">
              <a:effectLst/>
            </a:endParaRPr>
          </a:p>
          <a:p>
            <a:r>
              <a:rPr lang="en-US" b="1" i="0" u="sng" dirty="0">
                <a:solidFill>
                  <a:srgbClr val="00B050"/>
                </a:solidFill>
                <a:effectLst/>
                <a:latin typeface="Arial" panose="020B0604020202020204" pitchFamily="34" charset="0"/>
              </a:rPr>
              <a:t>Quantum computing </a:t>
            </a:r>
            <a:r>
              <a:rPr lang="en-US" b="0" i="0" dirty="0">
                <a:solidFill>
                  <a:srgbClr val="666666"/>
                </a:solidFill>
                <a:effectLst/>
                <a:latin typeface="Arial" panose="020B0604020202020204" pitchFamily="34" charset="0"/>
              </a:rPr>
              <a:t>is an area of study focused on the development of computer based technologies centered around the principles of </a:t>
            </a:r>
            <a:r>
              <a:rPr lang="en-US" b="0" i="0" u="sng" dirty="0">
                <a:solidFill>
                  <a:srgbClr val="007CAD"/>
                </a:solidFill>
                <a:effectLst/>
                <a:latin typeface="Arial" panose="020B0604020202020204" pitchFamily="34" charset="0"/>
                <a:hlinkClick r:id="rId5"/>
              </a:rPr>
              <a:t>quantum theory</a:t>
            </a:r>
            <a:r>
              <a:rPr lang="en-US" b="0" i="0" dirty="0">
                <a:solidFill>
                  <a:srgbClr val="666666"/>
                </a:solidFill>
                <a:effectLst/>
                <a:latin typeface="Arial" panose="020B0604020202020204" pitchFamily="34" charset="0"/>
              </a:rPr>
              <a:t>. Quantum theory explains the nature and behavior of energy and matter on the </a:t>
            </a:r>
            <a:r>
              <a:rPr lang="en-US" b="0" i="0" u="sng" dirty="0">
                <a:solidFill>
                  <a:srgbClr val="007CAD"/>
                </a:solidFill>
                <a:effectLst/>
                <a:latin typeface="Arial" panose="020B0604020202020204" pitchFamily="34" charset="0"/>
                <a:hlinkClick r:id="rId6"/>
              </a:rPr>
              <a:t>quantum</a:t>
            </a:r>
            <a:r>
              <a:rPr lang="en-US" b="0" i="0" dirty="0">
                <a:solidFill>
                  <a:srgbClr val="666666"/>
                </a:solidFill>
                <a:effectLst/>
                <a:latin typeface="Arial" panose="020B0604020202020204" pitchFamily="34" charset="0"/>
              </a:rPr>
              <a:t> (atomic and subatomic) level. Quantum computing uses a combination of </a:t>
            </a:r>
            <a:r>
              <a:rPr lang="en-US" b="0" i="0" u="sng" dirty="0">
                <a:solidFill>
                  <a:srgbClr val="007CAD"/>
                </a:solidFill>
                <a:effectLst/>
                <a:latin typeface="Arial" panose="020B0604020202020204" pitchFamily="34" charset="0"/>
                <a:hlinkClick r:id="rId7"/>
              </a:rPr>
              <a:t>bits</a:t>
            </a:r>
            <a:r>
              <a:rPr lang="en-US" b="0" i="0" dirty="0">
                <a:solidFill>
                  <a:srgbClr val="666666"/>
                </a:solidFill>
                <a:effectLst/>
                <a:latin typeface="Arial" panose="020B0604020202020204" pitchFamily="34" charset="0"/>
              </a:rPr>
              <a:t> to perform specific computational tasks. </a:t>
            </a:r>
          </a:p>
          <a:p>
            <a:endParaRPr lang="en-US" b="0" i="0" dirty="0">
              <a:solidFill>
                <a:srgbClr val="666666"/>
              </a:solidFill>
              <a:effectLst/>
              <a:latin typeface="Arial" panose="020B0604020202020204" pitchFamily="34" charset="0"/>
            </a:endParaRPr>
          </a:p>
          <a:p>
            <a:r>
              <a:rPr lang="en-US" b="1" i="0" u="sng" dirty="0">
                <a:solidFill>
                  <a:srgbClr val="4D5156"/>
                </a:solidFill>
                <a:effectLst/>
                <a:latin typeface="arial" panose="020B0604020202020204" pitchFamily="34" charset="0"/>
              </a:rPr>
              <a:t>Edge computing </a:t>
            </a:r>
            <a:r>
              <a:rPr lang="en-US" b="0" i="0" dirty="0">
                <a:solidFill>
                  <a:srgbClr val="4D5156"/>
                </a:solidFill>
                <a:effectLst/>
                <a:latin typeface="arial" panose="020B0604020202020204" pitchFamily="34" charset="0"/>
              </a:rPr>
              <a:t>is a distributed computing paradigm that brings computation and data storage closer to the sources of data. This is expected to improve response times and save bandwidth. It is an architecture rather than a specific technology.</a:t>
            </a:r>
          </a:p>
          <a:p>
            <a:endParaRPr lang="en-US" b="0" i="0" dirty="0">
              <a:solidFill>
                <a:srgbClr val="4D5156"/>
              </a:solidFill>
              <a:effectLst/>
              <a:latin typeface="arial" panose="020B0604020202020204" pitchFamily="34" charset="0"/>
            </a:endParaRPr>
          </a:p>
          <a:p>
            <a:r>
              <a:rPr lang="en-US" b="1" i="0" u="sng" dirty="0" err="1">
                <a:solidFill>
                  <a:srgbClr val="202124"/>
                </a:solidFill>
                <a:effectLst/>
                <a:latin typeface="arial" panose="020B0604020202020204" pitchFamily="34" charset="0"/>
              </a:rPr>
              <a:t>IoB</a:t>
            </a:r>
            <a:r>
              <a:rPr lang="en-US" b="0" i="0" dirty="0">
                <a:solidFill>
                  <a:srgbClr val="202124"/>
                </a:solidFill>
                <a:effectLst/>
                <a:latin typeface="arial" panose="020B0604020202020204" pitchFamily="34" charset="0"/>
              </a:rPr>
              <a:t> is a process where user data is analyzed in terms of behavioral psychology. Based on this analysis, new approaches to the development of user experience (UX), search experience optimization (SXO), and end products and companies' services and how to promote them are formed.</a:t>
            </a:r>
          </a:p>
          <a:p>
            <a:endParaRPr lang="en-US" b="0" i="0" dirty="0">
              <a:solidFill>
                <a:srgbClr val="202124"/>
              </a:solidFill>
              <a:effectLst/>
              <a:latin typeface="arial" panose="020B0604020202020204" pitchFamily="34" charset="0"/>
            </a:endParaRPr>
          </a:p>
          <a:p>
            <a:r>
              <a:rPr lang="en-US" b="1" i="0" u="sng" dirty="0">
                <a:solidFill>
                  <a:srgbClr val="202124"/>
                </a:solidFill>
                <a:effectLst/>
                <a:latin typeface="arial" panose="020B0604020202020204" pitchFamily="34" charset="0"/>
              </a:rPr>
              <a:t>Blockchain</a:t>
            </a:r>
            <a:r>
              <a:rPr lang="en-US" b="0" i="0" dirty="0">
                <a:solidFill>
                  <a:srgbClr val="202124"/>
                </a:solidFill>
                <a:effectLst/>
                <a:latin typeface="arial" panose="020B0604020202020204" pitchFamily="34" charset="0"/>
              </a:rPr>
              <a:t> is a shared, immutable ledger that facilitates the process of recording transactions and tracking assets in a business network. An asset can be tangible (a house, car, cash, land) or intangible (intellectual property, patents, copyrights, branding).</a:t>
            </a:r>
            <a:endParaRPr lang="en-US" dirty="0"/>
          </a:p>
          <a:p>
            <a:r>
              <a:rPr lang="en-US" b="0" i="0" dirty="0">
                <a:solidFill>
                  <a:srgbClr val="202124"/>
                </a:solidFill>
                <a:effectLst/>
                <a:latin typeface="arial" panose="020B0604020202020204" pitchFamily="34" charset="0"/>
              </a:rPr>
              <a:t>A Blockchain is a chain of blocks that contain information. The data which is stored inside a block depends on the type of blockchain. For Example, A Bitcoin Block contains information about the Sender, Receiver, number of bitcoins to be transferred.</a:t>
            </a:r>
          </a:p>
          <a:p>
            <a:endParaRPr lang="en-US" b="0" i="0" dirty="0">
              <a:solidFill>
                <a:srgbClr val="202124"/>
              </a:solidFill>
              <a:effectLst/>
              <a:latin typeface="arial" panose="020B0604020202020204" pitchFamily="34" charset="0"/>
            </a:endParaRPr>
          </a:p>
          <a:p>
            <a:pPr algn="l">
              <a:buFont typeface="Arial" panose="020B0604020202020204" pitchFamily="34" charset="0"/>
              <a:buChar char="•"/>
            </a:pPr>
            <a:r>
              <a:rPr lang="en-US" b="1" i="0" u="sng" dirty="0">
                <a:solidFill>
                  <a:srgbClr val="4D5156"/>
                </a:solidFill>
                <a:effectLst/>
                <a:latin typeface="arial" panose="020B0604020202020204" pitchFamily="34" charset="0"/>
              </a:rPr>
              <a:t>Artificial intelligence </a:t>
            </a:r>
            <a:r>
              <a:rPr lang="en-US" b="0" i="0" dirty="0">
                <a:solidFill>
                  <a:srgbClr val="4D5156"/>
                </a:solidFill>
                <a:effectLst/>
                <a:latin typeface="arial" panose="020B0604020202020204" pitchFamily="34" charset="0"/>
              </a:rPr>
              <a:t>is intelligence demonstrated by machines, </a:t>
            </a:r>
            <a:r>
              <a:rPr lang="en-US" b="0" i="0" dirty="0">
                <a:solidFill>
                  <a:srgbClr val="202124"/>
                </a:solidFill>
                <a:effectLst/>
                <a:latin typeface="arial" panose="020B0604020202020204" pitchFamily="34" charset="0"/>
              </a:rPr>
              <a:t>makes it possible for machines to learn from experience, adjust to new inputs and perform human-like tasks.</a:t>
            </a:r>
          </a:p>
          <a:p>
            <a:pPr algn="l">
              <a:buFont typeface="Arial" panose="020B0604020202020204" pitchFamily="34" charset="0"/>
              <a:buChar char="•"/>
            </a:pPr>
            <a:r>
              <a:rPr lang="en-US" b="0" i="0" dirty="0">
                <a:solidFill>
                  <a:srgbClr val="202124"/>
                </a:solidFill>
                <a:effectLst/>
                <a:latin typeface="arial" panose="020B0604020202020204" pitchFamily="34" charset="0"/>
              </a:rPr>
              <a:t> Face Detection and recognition.</a:t>
            </a:r>
          </a:p>
          <a:p>
            <a:pPr algn="l">
              <a:buFont typeface="Arial" panose="020B0604020202020204" pitchFamily="34" charset="0"/>
              <a:buChar char="•"/>
            </a:pPr>
            <a:r>
              <a:rPr lang="en-US" b="0" i="0" dirty="0">
                <a:solidFill>
                  <a:srgbClr val="202124"/>
                </a:solidFill>
                <a:effectLst/>
                <a:latin typeface="arial" panose="020B0604020202020204" pitchFamily="34" charset="0"/>
              </a:rPr>
              <a:t>Text Editors and Autocorrect.</a:t>
            </a:r>
          </a:p>
          <a:p>
            <a:pPr algn="l">
              <a:buFont typeface="Arial" panose="020B0604020202020204" pitchFamily="34" charset="0"/>
              <a:buChar char="•"/>
            </a:pPr>
            <a:r>
              <a:rPr lang="en-US" b="0" i="0" dirty="0">
                <a:solidFill>
                  <a:srgbClr val="202124"/>
                </a:solidFill>
                <a:effectLst/>
                <a:latin typeface="arial" panose="020B0604020202020204" pitchFamily="34" charset="0"/>
              </a:rPr>
              <a:t>Chatbots.</a:t>
            </a:r>
          </a:p>
          <a:p>
            <a:pPr algn="l">
              <a:buFont typeface="Arial" panose="020B0604020202020204" pitchFamily="34" charset="0"/>
              <a:buChar char="•"/>
            </a:pPr>
            <a:r>
              <a:rPr lang="en-US" b="0" i="0" dirty="0">
                <a:solidFill>
                  <a:srgbClr val="202124"/>
                </a:solidFill>
                <a:effectLst/>
                <a:latin typeface="arial" panose="020B0604020202020204" pitchFamily="34" charset="0"/>
              </a:rPr>
              <a:t>E-Payments.</a:t>
            </a:r>
          </a:p>
          <a:p>
            <a:pPr algn="l">
              <a:buFont typeface="Arial" panose="020B0604020202020204" pitchFamily="34" charset="0"/>
              <a:buChar char="•"/>
            </a:pPr>
            <a:r>
              <a:rPr lang="en-US" b="0" i="0" dirty="0">
                <a:solidFill>
                  <a:srgbClr val="202124"/>
                </a:solidFill>
                <a:effectLst/>
                <a:latin typeface="arial" panose="020B0604020202020204" pitchFamily="34" charset="0"/>
              </a:rPr>
              <a:t>Search and Recommendation algorithms.</a:t>
            </a:r>
          </a:p>
          <a:p>
            <a:pPr algn="l">
              <a:buFont typeface="Arial" panose="020B0604020202020204" pitchFamily="34" charset="0"/>
              <a:buChar char="•"/>
            </a:pPr>
            <a:endParaRPr lang="en-US" b="0" i="0" dirty="0">
              <a:solidFill>
                <a:srgbClr val="202124"/>
              </a:solidFill>
              <a:effectLst/>
              <a:latin typeface="arial" panose="020B0604020202020204" pitchFamily="34" charset="0"/>
            </a:endParaRPr>
          </a:p>
          <a:p>
            <a:pPr algn="l">
              <a:buFont typeface="Arial" panose="020B0604020202020204" pitchFamily="34" charset="0"/>
              <a:buNone/>
            </a:pPr>
            <a:r>
              <a:rPr lang="en-US" b="1" i="0" dirty="0">
                <a:solidFill>
                  <a:srgbClr val="202124"/>
                </a:solidFill>
                <a:effectLst/>
                <a:latin typeface="arial" panose="020B0604020202020204" pitchFamily="34" charset="0"/>
              </a:rPr>
              <a:t>Robotic process automation (RPA) </a:t>
            </a:r>
            <a:r>
              <a:rPr lang="en-US" b="0" i="0" dirty="0">
                <a:solidFill>
                  <a:srgbClr val="202124"/>
                </a:solidFill>
                <a:effectLst/>
                <a:latin typeface="arial" panose="020B0604020202020204" pitchFamily="34" charset="0"/>
              </a:rPr>
              <a:t>is a software technology that makes it easy to build, deploy, and manage software robots that emulate humans actions interacting with digital systems and software.</a:t>
            </a:r>
          </a:p>
          <a:p>
            <a:endParaRPr lang="en-US" b="0" i="0" dirty="0">
              <a:solidFill>
                <a:srgbClr val="202124"/>
              </a:solidFill>
              <a:effectLst/>
              <a:latin typeface="arial" panose="020B0604020202020204" pitchFamily="34" charset="0"/>
            </a:endParaRPr>
          </a:p>
          <a:p>
            <a:r>
              <a:rPr lang="en-US" b="1" i="0" dirty="0">
                <a:solidFill>
                  <a:srgbClr val="202124"/>
                </a:solidFill>
                <a:effectLst/>
                <a:latin typeface="arial" panose="020B0604020202020204" pitchFamily="34" charset="0"/>
              </a:rPr>
              <a:t>Cybersecurity</a:t>
            </a:r>
            <a:r>
              <a:rPr lang="en-US" b="0" i="0" dirty="0">
                <a:solidFill>
                  <a:srgbClr val="202124"/>
                </a:solidFill>
                <a:effectLst/>
                <a:latin typeface="arial" panose="020B0604020202020204" pitchFamily="34" charset="0"/>
              </a:rPr>
              <a:t> is the protection of internet-connected systems such as hardware, software and data from cyberthreats. The practice is used by individuals and enterprises to protect against unauthorized access to data centers and other computerized systems.</a:t>
            </a:r>
          </a:p>
          <a:p>
            <a:endParaRPr lang="en-US" b="0" i="0" dirty="0">
              <a:solidFill>
                <a:srgbClr val="202124"/>
              </a:solidFill>
              <a:effectLst/>
              <a:latin typeface="arial" panose="020B0604020202020204" pitchFamily="34" charset="0"/>
            </a:endParaRPr>
          </a:p>
          <a:p>
            <a:r>
              <a:rPr lang="en-US" b="1" i="0" dirty="0">
                <a:solidFill>
                  <a:srgbClr val="202124"/>
                </a:solidFill>
                <a:effectLst/>
                <a:latin typeface="arial" panose="020B0604020202020204" pitchFamily="34" charset="0"/>
              </a:rPr>
              <a:t>Low-code/no-code development </a:t>
            </a:r>
            <a:r>
              <a:rPr lang="en-US" b="0" i="0" dirty="0">
                <a:solidFill>
                  <a:srgbClr val="202124"/>
                </a:solidFill>
                <a:effectLst/>
                <a:latin typeface="arial" panose="020B0604020202020204" pitchFamily="34" charset="0"/>
              </a:rPr>
              <a:t>platforms are types of visual software development environments that allow enterprise developers and citizen developers to drag and drop application components, connect them together and create mobile or web apps.</a:t>
            </a:r>
          </a:p>
          <a:p>
            <a:endParaRPr lang="en-US" b="0" i="0" dirty="0">
              <a:solidFill>
                <a:srgbClr val="202124"/>
              </a:solidFill>
              <a:effectLst/>
              <a:latin typeface="arial" panose="020B0604020202020204" pitchFamily="34" charset="0"/>
            </a:endParaRPr>
          </a:p>
          <a:p>
            <a:r>
              <a:rPr lang="en-US" b="1" i="0" dirty="0">
                <a:solidFill>
                  <a:srgbClr val="4D5156"/>
                </a:solidFill>
                <a:effectLst/>
                <a:latin typeface="arial" panose="020B0604020202020204" pitchFamily="34" charset="0"/>
              </a:rPr>
              <a:t>Cloud computing </a:t>
            </a:r>
            <a:r>
              <a:rPr lang="en-US" b="0" i="0" dirty="0">
                <a:solidFill>
                  <a:srgbClr val="4D5156"/>
                </a:solidFill>
                <a:effectLst/>
                <a:latin typeface="arial" panose="020B0604020202020204" pitchFamily="34" charset="0"/>
              </a:rPr>
              <a:t>is the on-demand availability of computer system resources, especially data storage and computing power, without direct active management by the user.</a:t>
            </a:r>
            <a:endParaRPr lang="en-US" b="0" i="0" dirty="0">
              <a:solidFill>
                <a:srgbClr val="202124"/>
              </a:solidFill>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491D7DF2-8F41-4DAB-836A-105EB12E6468}" type="slidenum">
              <a:rPr lang="en-US" smtClean="0"/>
              <a:pPr/>
              <a:t>23</a:t>
            </a:fld>
            <a:endParaRPr lang="en-US"/>
          </a:p>
        </p:txBody>
      </p:sp>
    </p:spTree>
    <p:extLst>
      <p:ext uri="{BB962C8B-B14F-4D97-AF65-F5344CB8AC3E}">
        <p14:creationId xmlns:p14="http://schemas.microsoft.com/office/powerpoint/2010/main" val="2891470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685B5F5-D890-488D-AA38-D57C71DCEA7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20379EB-220D-43A8-B8BE-1687D0B2F165}"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F295C14-36C7-4BE6-904D-1D78614A9D61}"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119DC0E-8993-419C-8984-C165E1B5C75D}"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E0839F40-D761-4D7D-83C8-9AD8A37139EE}"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1647CD2-B7CB-475E-A614-BB7D20271080}"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B877EAC3-1789-4A16-9965-8832FF3D5E5C}"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97DF5E07-B919-408F-9EA2-F870277FAC26}"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A67BC1A-9149-422A-8B76-1770670A3C4C}"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265DFD3-CCCD-4516-B5E4-F0D97B8FEBDD}"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53200" y="457200"/>
            <a:ext cx="2133600" cy="5668963"/>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152400" y="457200"/>
            <a:ext cx="6248400" cy="566896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65F3F9DE-0857-43A0-87AB-7EE1F3F20F15}"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152400" y="457200"/>
            <a:ext cx="8229600" cy="990600"/>
          </a:xfrm>
        </p:spPr>
        <p:txBody>
          <a:bodyPr/>
          <a:lstStyle/>
          <a:p>
            <a:r>
              <a:rPr lang="fr-FR"/>
              <a:t>Cliquez et modifiez le titre</a:t>
            </a:r>
          </a:p>
        </p:txBody>
      </p:sp>
      <p:sp>
        <p:nvSpPr>
          <p:cNvPr id="3" name="Espace réservé du tableau 2"/>
          <p:cNvSpPr>
            <a:spLocks noGrp="1"/>
          </p:cNvSpPr>
          <p:nvPr>
            <p:ph type="tbl" idx="1"/>
          </p:nvPr>
        </p:nvSpPr>
        <p:spPr>
          <a:xfrm>
            <a:off x="457200" y="1600200"/>
            <a:ext cx="8229600" cy="4525963"/>
          </a:xfrm>
        </p:spPr>
        <p:txBody>
          <a:bodyPr/>
          <a:lstStyle/>
          <a:p>
            <a:pPr lvl="0"/>
            <a:endParaRPr lang="fr-FR"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A83B951-31C6-4DFC-A873-DACD0505D9E0}"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re. Texte et diagramme">
    <p:spTree>
      <p:nvGrpSpPr>
        <p:cNvPr id="1" name=""/>
        <p:cNvGrpSpPr/>
        <p:nvPr/>
      </p:nvGrpSpPr>
      <p:grpSpPr>
        <a:xfrm>
          <a:off x="0" y="0"/>
          <a:ext cx="0" cy="0"/>
          <a:chOff x="0" y="0"/>
          <a:chExt cx="0" cy="0"/>
        </a:xfrm>
      </p:grpSpPr>
      <p:sp>
        <p:nvSpPr>
          <p:cNvPr id="2" name="Titre 1"/>
          <p:cNvSpPr>
            <a:spLocks noGrp="1"/>
          </p:cNvSpPr>
          <p:nvPr>
            <p:ph type="title"/>
          </p:nvPr>
        </p:nvSpPr>
        <p:spPr>
          <a:xfrm>
            <a:off x="152400" y="457200"/>
            <a:ext cx="8229600" cy="990600"/>
          </a:xfrm>
        </p:spPr>
        <p:txBody>
          <a:bodyPr/>
          <a:lstStyle/>
          <a:p>
            <a:r>
              <a:rPr lang="fr-FR"/>
              <a:t>Cliquez et modifiez le titre</a:t>
            </a:r>
          </a:p>
        </p:txBody>
      </p:sp>
      <p:sp>
        <p:nvSpPr>
          <p:cNvPr id="3" name="Espace réservé du texte 2"/>
          <p:cNvSpPr>
            <a:spLocks noGrp="1"/>
          </p:cNvSpPr>
          <p:nvPr>
            <p:ph type="body" sz="half" idx="1"/>
          </p:nvPr>
        </p:nvSpPr>
        <p:spPr>
          <a:xfrm>
            <a:off x="457200" y="1600200"/>
            <a:ext cx="4038600" cy="452596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CD22540-0806-4A10-B94E-0E64BFF32DA5}"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w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152400" y="457200"/>
            <a:ext cx="8229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4099" name="Rectangle 3"/>
          <p:cNvSpPr>
            <a:spLocks noGrp="1" noChangeAspect="1" noChangeArrowheads="1"/>
          </p:cNvSpPr>
          <p:nvPr>
            <p:ph type="body" idx="1"/>
          </p:nvPr>
        </p:nvSpPr>
        <p:spPr bwMode="auto">
          <a:xfrm>
            <a:off x="457200" y="1600200"/>
            <a:ext cx="8247063" cy="453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00"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400">
                <a:latin typeface="Arial" charset="0"/>
                <a:ea typeface="ＭＳ Ｐゴシック" charset="0"/>
                <a:cs typeface="+mn-cs"/>
              </a:defRPr>
            </a:lvl1pPr>
          </a:lstStyle>
          <a:p>
            <a:pPr>
              <a:defRPr/>
            </a:pPr>
            <a:endParaRPr lang="en-US"/>
          </a:p>
        </p:txBody>
      </p:sp>
      <p:sp>
        <p:nvSpPr>
          <p:cNvPr id="4101"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a:defRPr sz="1400">
                <a:latin typeface="Arial" charset="0"/>
                <a:ea typeface="ＭＳ Ｐゴシック" charset="0"/>
                <a:cs typeface="+mn-cs"/>
              </a:defRPr>
            </a:lvl1pPr>
          </a:lstStyle>
          <a:p>
            <a:pPr>
              <a:defRPr/>
            </a:pPr>
            <a:endParaRPr lang="en-US"/>
          </a:p>
        </p:txBody>
      </p:sp>
      <p:sp>
        <p:nvSpPr>
          <p:cNvPr id="4102"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400"/>
            </a:lvl1pPr>
          </a:lstStyle>
          <a:p>
            <a:fld id="{E17EED59-360C-49B5-AE39-23853175A632}" type="slidenum">
              <a:rPr lang="en-US"/>
              <a:pPr/>
              <a:t>‹#›</a:t>
            </a:fld>
            <a:endParaRPr lang="en-US"/>
          </a:p>
        </p:txBody>
      </p:sp>
      <p:sp>
        <p:nvSpPr>
          <p:cNvPr id="4103" name="Text Box 7"/>
          <p:cNvSpPr txBox="1">
            <a:spLocks noChangeArrowheads="1"/>
          </p:cNvSpPr>
          <p:nvPr/>
        </p:nvSpPr>
        <p:spPr bwMode="auto">
          <a:xfrm>
            <a:off x="0" y="6511925"/>
            <a:ext cx="9144000" cy="346075"/>
          </a:xfrm>
          <a:prstGeom prst="rect">
            <a:avLst/>
          </a:prstGeom>
          <a:solidFill>
            <a:srgbClr val="99CCFF"/>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sz="1600" b="1">
                <a:solidFill>
                  <a:schemeClr val="accent2"/>
                </a:solidFill>
                <a:latin typeface="Arial" charset="0"/>
                <a:ea typeface="ＭＳ Ｐゴシック" charset="0"/>
              </a:rPr>
              <a:t>FAST, National University of Computer and Emerging Sciences, Islamabad</a:t>
            </a:r>
          </a:p>
        </p:txBody>
      </p:sp>
      <p:graphicFrame>
        <p:nvGraphicFramePr>
          <p:cNvPr id="1032" name="Object 8"/>
          <p:cNvGraphicFramePr>
            <a:graphicFrameLocks noChangeAspect="1"/>
          </p:cNvGraphicFramePr>
          <p:nvPr/>
        </p:nvGraphicFramePr>
        <p:xfrm>
          <a:off x="76200" y="6505575"/>
          <a:ext cx="476250" cy="352425"/>
        </p:xfrm>
        <a:graphic>
          <a:graphicData uri="http://schemas.openxmlformats.org/presentationml/2006/ole">
            <mc:AlternateContent xmlns:mc="http://schemas.openxmlformats.org/markup-compatibility/2006">
              <mc:Choice xmlns:v="urn:schemas-microsoft-com:vml" Requires="v">
                <p:oleObj r:id="rId15" imgW="71848" imgH="44334" progId="">
                  <p:embed/>
                </p:oleObj>
              </mc:Choice>
              <mc:Fallback>
                <p:oleObj r:id="rId15" imgW="71848" imgH="44334" progId="">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200" y="6505575"/>
                        <a:ext cx="47625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5" name="Text Box 9"/>
          <p:cNvSpPr txBox="1">
            <a:spLocks noChangeArrowheads="1"/>
          </p:cNvSpPr>
          <p:nvPr/>
        </p:nvSpPr>
        <p:spPr bwMode="auto">
          <a:xfrm>
            <a:off x="0" y="0"/>
            <a:ext cx="9144000" cy="406400"/>
          </a:xfrm>
          <a:prstGeom prst="rect">
            <a:avLst/>
          </a:prstGeom>
          <a:solidFill>
            <a:srgbClr val="99CCFF"/>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000" b="1">
                <a:solidFill>
                  <a:schemeClr val="accent2"/>
                </a:solidFill>
                <a:latin typeface="Arial" charset="0"/>
                <a:ea typeface="ＭＳ Ｐゴシック" charset="0"/>
              </a:rPr>
              <a:t>Lecture 1: Introduction</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xStyles>
    <p:titleStyle>
      <a:lvl1pPr algn="l" rtl="0" eaLnBrk="0" fontAlgn="base" hangingPunct="0">
        <a:spcBef>
          <a:spcPct val="0"/>
        </a:spcBef>
        <a:spcAft>
          <a:spcPct val="0"/>
        </a:spcAft>
        <a:defRPr sz="4000">
          <a:solidFill>
            <a:schemeClr val="tx2"/>
          </a:solidFill>
          <a:latin typeface="+mj-lt"/>
          <a:ea typeface="+mj-ea"/>
          <a:cs typeface="ＭＳ Ｐゴシック" charset="0"/>
        </a:defRPr>
      </a:lvl1pPr>
      <a:lvl2pPr algn="l" rtl="0" eaLnBrk="0" fontAlgn="base" hangingPunct="0">
        <a:spcBef>
          <a:spcPct val="0"/>
        </a:spcBef>
        <a:spcAft>
          <a:spcPct val="0"/>
        </a:spcAft>
        <a:defRPr sz="4000">
          <a:solidFill>
            <a:schemeClr val="tx2"/>
          </a:solidFill>
          <a:latin typeface="Trebuchet MS"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Trebuchet MS"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Trebuchet MS"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Trebuchet MS"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Trebuchet MS" charset="0"/>
          <a:ea typeface="ＭＳ Ｐゴシック" charset="0"/>
        </a:defRPr>
      </a:lvl6pPr>
      <a:lvl7pPr marL="914400" algn="l" rtl="0" fontAlgn="base">
        <a:spcBef>
          <a:spcPct val="0"/>
        </a:spcBef>
        <a:spcAft>
          <a:spcPct val="0"/>
        </a:spcAft>
        <a:defRPr sz="4000">
          <a:solidFill>
            <a:schemeClr val="tx2"/>
          </a:solidFill>
          <a:latin typeface="Trebuchet MS" charset="0"/>
          <a:ea typeface="ＭＳ Ｐゴシック" charset="0"/>
        </a:defRPr>
      </a:lvl7pPr>
      <a:lvl8pPr marL="1371600" algn="l" rtl="0" fontAlgn="base">
        <a:spcBef>
          <a:spcPct val="0"/>
        </a:spcBef>
        <a:spcAft>
          <a:spcPct val="0"/>
        </a:spcAft>
        <a:defRPr sz="4000">
          <a:solidFill>
            <a:schemeClr val="tx2"/>
          </a:solidFill>
          <a:latin typeface="Trebuchet MS" charset="0"/>
          <a:ea typeface="ＭＳ Ｐゴシック" charset="0"/>
        </a:defRPr>
      </a:lvl8pPr>
      <a:lvl9pPr marL="1828800" algn="l" rtl="0" fontAlgn="base">
        <a:spcBef>
          <a:spcPct val="0"/>
        </a:spcBef>
        <a:spcAft>
          <a:spcPct val="0"/>
        </a:spcAft>
        <a:defRPr sz="4000">
          <a:solidFill>
            <a:schemeClr val="tx2"/>
          </a:solidFill>
          <a:latin typeface="Trebuchet MS" charset="0"/>
          <a:ea typeface="ＭＳ Ｐゴシック"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800">
          <a:solidFill>
            <a:schemeClr val="tx1"/>
          </a:solidFill>
          <a:latin typeface="+mn-lt"/>
          <a:ea typeface="+mn-ea"/>
        </a:defRPr>
      </a:lvl5pPr>
      <a:lvl6pPr marL="2514600" indent="-228600" algn="l" rtl="0" fontAlgn="base">
        <a:spcBef>
          <a:spcPct val="20000"/>
        </a:spcBef>
        <a:spcAft>
          <a:spcPct val="0"/>
        </a:spcAft>
        <a:buChar char="»"/>
        <a:defRPr sz="2800">
          <a:solidFill>
            <a:schemeClr val="tx1"/>
          </a:solidFill>
          <a:latin typeface="+mn-lt"/>
          <a:ea typeface="+mn-ea"/>
        </a:defRPr>
      </a:lvl6pPr>
      <a:lvl7pPr marL="2971800" indent="-228600" algn="l" rtl="0" fontAlgn="base">
        <a:spcBef>
          <a:spcPct val="20000"/>
        </a:spcBef>
        <a:spcAft>
          <a:spcPct val="0"/>
        </a:spcAft>
        <a:buChar char="»"/>
        <a:defRPr sz="2800">
          <a:solidFill>
            <a:schemeClr val="tx1"/>
          </a:solidFill>
          <a:latin typeface="+mn-lt"/>
          <a:ea typeface="+mn-ea"/>
        </a:defRPr>
      </a:lvl7pPr>
      <a:lvl8pPr marL="3429000" indent="-228600" algn="l" rtl="0" fontAlgn="base">
        <a:spcBef>
          <a:spcPct val="20000"/>
        </a:spcBef>
        <a:spcAft>
          <a:spcPct val="0"/>
        </a:spcAft>
        <a:buChar char="»"/>
        <a:defRPr sz="2800">
          <a:solidFill>
            <a:schemeClr val="tx1"/>
          </a:solidFill>
          <a:latin typeface="+mn-lt"/>
          <a:ea typeface="+mn-ea"/>
        </a:defRPr>
      </a:lvl8pPr>
      <a:lvl9pPr marL="3886200" indent="-228600" algn="l" rtl="0" fontAlgn="base">
        <a:spcBef>
          <a:spcPct val="20000"/>
        </a:spcBef>
        <a:spcAft>
          <a:spcPct val="0"/>
        </a:spcAft>
        <a:buChar char="»"/>
        <a:defRPr sz="2800">
          <a:solidFill>
            <a:schemeClr val="tx1"/>
          </a:solidFill>
          <a:latin typeface="+mn-lt"/>
          <a:ea typeface="+mn-ea"/>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a:xfrm>
            <a:off x="609600" y="1143000"/>
            <a:ext cx="7696200" cy="4648200"/>
          </a:xfrm>
        </p:spPr>
        <p:txBody>
          <a:bodyPr/>
          <a:lstStyle/>
          <a:p>
            <a:pPr algn="ctr" eaLnBrk="1" hangingPunct="1">
              <a:defRPr/>
            </a:pPr>
            <a:r>
              <a:rPr lang="en-US" sz="3600" noProof="0" dirty="0">
                <a:solidFill>
                  <a:schemeClr val="tx1"/>
                </a:solidFill>
                <a:cs typeface="+mj-cs"/>
              </a:rPr>
              <a:t>FAST- National University of Computer and Emerging Sciences</a:t>
            </a:r>
            <a:br>
              <a:rPr lang="en-US" sz="3600" noProof="0" dirty="0">
                <a:solidFill>
                  <a:schemeClr val="bg2"/>
                </a:solidFill>
                <a:cs typeface="+mj-cs"/>
              </a:rPr>
            </a:br>
            <a:br>
              <a:rPr lang="en-US" sz="3600" noProof="0" dirty="0">
                <a:solidFill>
                  <a:schemeClr val="bg2"/>
                </a:solidFill>
                <a:cs typeface="+mj-cs"/>
              </a:rPr>
            </a:br>
            <a:r>
              <a:rPr lang="en-US" sz="3600" u="sng" noProof="0" dirty="0">
                <a:solidFill>
                  <a:schemeClr val="accent2"/>
                </a:solidFill>
                <a:cs typeface="+mj-cs"/>
              </a:rPr>
              <a:t>CL-1000 IICT</a:t>
            </a:r>
            <a:br>
              <a:rPr lang="en-US" sz="3600" b="1" u="sng" noProof="0" dirty="0">
                <a:solidFill>
                  <a:schemeClr val="accent2"/>
                </a:solidFill>
                <a:cs typeface="+mj-cs"/>
              </a:rPr>
            </a:br>
            <a:r>
              <a:rPr lang="en-US" sz="3600" noProof="0" dirty="0">
                <a:solidFill>
                  <a:srgbClr val="FF0000"/>
                </a:solidFill>
                <a:cs typeface="+mj-cs"/>
              </a:rPr>
              <a:t>Introduction to Information &amp; Communication Technologies</a:t>
            </a:r>
            <a:br>
              <a:rPr lang="en-US" sz="3600" noProof="0" dirty="0">
                <a:solidFill>
                  <a:srgbClr val="FF0000"/>
                </a:solidFill>
                <a:cs typeface="+mj-cs"/>
              </a:rPr>
            </a:br>
            <a:r>
              <a:rPr lang="en-US" sz="3200" noProof="0" dirty="0">
                <a:solidFill>
                  <a:schemeClr val="tx1"/>
                </a:solidFill>
                <a:cs typeface="+mj-cs"/>
              </a:rPr>
              <a:t>Fall 2022</a:t>
            </a:r>
            <a:endParaRPr lang="en-US" sz="3200" b="1" u="sng" noProof="0" dirty="0">
              <a:solidFill>
                <a:schemeClr val="tx1"/>
              </a:solidFill>
              <a:cs typeface="+mj-cs"/>
            </a:endParaRPr>
          </a:p>
        </p:txBody>
      </p:sp>
      <p:sp>
        <p:nvSpPr>
          <p:cNvPr id="34820" name="Rectangle 4"/>
          <p:cNvSpPr>
            <a:spLocks noChangeArrowheads="1"/>
          </p:cNvSpPr>
          <p:nvPr/>
        </p:nvSpPr>
        <p:spPr bwMode="auto">
          <a:xfrm>
            <a:off x="1219200" y="4038600"/>
            <a:ext cx="6400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defRPr/>
            </a:pPr>
            <a:endParaRPr lang="en-US" sz="4000" b="1" dirty="0">
              <a:solidFill>
                <a:srgbClr val="333399"/>
              </a:solidFill>
              <a:latin typeface="Arial" charset="0"/>
              <a:ea typeface="ＭＳ Ｐゴシック" charset="0"/>
            </a:endParaRPr>
          </a:p>
          <a:p>
            <a:pPr algn="ctr">
              <a:defRPr/>
            </a:pPr>
            <a:endParaRPr lang="en-US" sz="2400" dirty="0">
              <a:solidFill>
                <a:srgbClr val="333399"/>
              </a:solidFill>
              <a:latin typeface="Arial" charset="0"/>
              <a:ea typeface="ＭＳ Ｐゴシック"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just" eaLnBrk="1" hangingPunct="1">
              <a:defRPr/>
            </a:pPr>
            <a:r>
              <a:rPr lang="en-US" dirty="0">
                <a:latin typeface="Arial" charset="0"/>
                <a:cs typeface="+mj-cs"/>
              </a:rPr>
              <a:t>About Me</a:t>
            </a:r>
          </a:p>
        </p:txBody>
      </p:sp>
      <p:sp>
        <p:nvSpPr>
          <p:cNvPr id="4099" name="Espace réservé du contenu 2"/>
          <p:cNvSpPr>
            <a:spLocks noGrp="1"/>
          </p:cNvSpPr>
          <p:nvPr>
            <p:ph idx="1"/>
          </p:nvPr>
        </p:nvSpPr>
        <p:spPr/>
        <p:txBody>
          <a:bodyPr/>
          <a:lstStyle/>
          <a:p>
            <a:r>
              <a:rPr lang="en-US" sz="2400" b="1" dirty="0">
                <a:latin typeface="Trebuchet MS" panose="020B0603020202020204" pitchFamily="34" charset="0"/>
                <a:cs typeface="Times New Roman" panose="02020603050405020304" pitchFamily="18" charset="0"/>
              </a:rPr>
              <a:t>Name:</a:t>
            </a:r>
            <a:r>
              <a:rPr lang="en-US" sz="2400" dirty="0">
                <a:latin typeface="Trebuchet MS" panose="020B0603020202020204" pitchFamily="34" charset="0"/>
                <a:cs typeface="Times New Roman" panose="02020603050405020304" pitchFamily="18" charset="0"/>
              </a:rPr>
              <a:t> Sadia Saad</a:t>
            </a:r>
          </a:p>
          <a:p>
            <a:r>
              <a:rPr lang="en-US" sz="2400" b="1" dirty="0">
                <a:latin typeface="Trebuchet MS" panose="020B0603020202020204" pitchFamily="34" charset="0"/>
                <a:cs typeface="Times New Roman" panose="02020603050405020304" pitchFamily="18" charset="0"/>
              </a:rPr>
              <a:t>Education:</a:t>
            </a:r>
            <a:r>
              <a:rPr lang="en-US" sz="2400" dirty="0">
                <a:latin typeface="Trebuchet MS" panose="020B0603020202020204" pitchFamily="34" charset="0"/>
                <a:cs typeface="Times New Roman" panose="02020603050405020304" pitchFamily="18" charset="0"/>
              </a:rPr>
              <a:t> BS CS FAST NUCES, Islamabad (2018-2022)</a:t>
            </a:r>
          </a:p>
          <a:p>
            <a:r>
              <a:rPr lang="en-US" sz="2400" b="1" dirty="0">
                <a:latin typeface="Trebuchet MS" panose="020B0603020202020204" pitchFamily="34" charset="0"/>
                <a:cs typeface="Times New Roman" panose="02020603050405020304" pitchFamily="18" charset="0"/>
              </a:rPr>
              <a:t>Email:</a:t>
            </a:r>
            <a:r>
              <a:rPr lang="en-US" sz="2400" dirty="0">
                <a:latin typeface="Trebuchet MS" panose="020B0603020202020204" pitchFamily="34" charset="0"/>
                <a:cs typeface="Times New Roman" panose="02020603050405020304" pitchFamily="18" charset="0"/>
              </a:rPr>
              <a:t> sadia.saad@nu.edu.pk</a:t>
            </a:r>
          </a:p>
          <a:p>
            <a:r>
              <a:rPr lang="en-US" sz="2400" b="1" dirty="0">
                <a:latin typeface="Trebuchet MS" panose="020B0603020202020204" pitchFamily="34" charset="0"/>
                <a:cs typeface="Times New Roman" panose="02020603050405020304" pitchFamily="18" charset="0"/>
              </a:rPr>
              <a:t>Office:</a:t>
            </a:r>
            <a:r>
              <a:rPr lang="en-US" sz="2400" dirty="0">
                <a:latin typeface="Trebuchet MS" panose="020B0603020202020204" pitchFamily="34" charset="0"/>
                <a:cs typeface="Times New Roman" panose="02020603050405020304" pitchFamily="18" charset="0"/>
              </a:rPr>
              <a:t> A-307</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just" eaLnBrk="1" hangingPunct="1">
              <a:defRPr/>
            </a:pPr>
            <a:r>
              <a:rPr lang="en-US" dirty="0">
                <a:latin typeface="Arial" charset="0"/>
                <a:cs typeface="+mj-cs"/>
              </a:rPr>
              <a:t>Google Classroom Codes</a:t>
            </a:r>
          </a:p>
        </p:txBody>
      </p:sp>
      <p:sp>
        <p:nvSpPr>
          <p:cNvPr id="4099" name="Espace réservé du contenu 2"/>
          <p:cNvSpPr>
            <a:spLocks noGrp="1"/>
          </p:cNvSpPr>
          <p:nvPr>
            <p:ph idx="1"/>
          </p:nvPr>
        </p:nvSpPr>
        <p:spPr>
          <a:xfrm>
            <a:off x="381000" y="1447800"/>
            <a:ext cx="8323263" cy="3962400"/>
          </a:xfrm>
        </p:spPr>
        <p:txBody>
          <a:bodyPr/>
          <a:lstStyle/>
          <a:p>
            <a:r>
              <a:rPr lang="en-US" sz="2400" dirty="0">
                <a:latin typeface="Times New Roman" panose="02020603050405020304" pitchFamily="18" charset="0"/>
                <a:cs typeface="Times New Roman" panose="02020603050405020304" pitchFamily="18" charset="0"/>
              </a:rPr>
              <a:t>Google Classroom Code (Cy C):  </a:t>
            </a:r>
            <a:r>
              <a:rPr lang="en-US" sz="6000" b="0" i="0" dirty="0">
                <a:solidFill>
                  <a:srgbClr val="FF0000"/>
                </a:solidFill>
                <a:effectLst/>
                <a:latin typeface="Google Sans Display"/>
              </a:rPr>
              <a:t>qtxtaqe</a:t>
            </a:r>
          </a:p>
          <a:p>
            <a:r>
              <a:rPr lang="en-US" sz="2400" b="0" i="0" dirty="0">
                <a:effectLst/>
                <a:latin typeface="Times New Roman" panose="02020603050405020304" pitchFamily="18" charset="0"/>
                <a:cs typeface="Times New Roman" panose="02020603050405020304" pitchFamily="18" charset="0"/>
              </a:rPr>
              <a:t>Google Classroom Code (Cy D): </a:t>
            </a:r>
            <a:r>
              <a:rPr lang="en-US" sz="6000" b="0" i="0" dirty="0">
                <a:solidFill>
                  <a:schemeClr val="accent6">
                    <a:lumMod val="60000"/>
                    <a:lumOff val="40000"/>
                  </a:schemeClr>
                </a:solidFill>
                <a:effectLst/>
                <a:latin typeface="Google Sans Display"/>
              </a:rPr>
              <a:t>ks3kpq5</a:t>
            </a:r>
            <a:endParaRPr lang="en-US" sz="6000" b="0" i="0" dirty="0">
              <a:solidFill>
                <a:schemeClr val="accent6">
                  <a:lumMod val="60000"/>
                  <a:lumOff val="40000"/>
                </a:schemeClr>
              </a:solidFill>
              <a:effectLst/>
              <a:latin typeface="Google Sans Display"/>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Google Classroom Code (AI D):  </a:t>
            </a:r>
            <a:r>
              <a:rPr lang="en-US" sz="6000" b="0" i="0" dirty="0">
                <a:solidFill>
                  <a:srgbClr val="1967D2"/>
                </a:solidFill>
                <a:effectLst/>
                <a:latin typeface="Google Sans Display"/>
              </a:rPr>
              <a:t>tow574k</a:t>
            </a:r>
            <a:endParaRPr lang="en-US" sz="8000"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2913715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just" eaLnBrk="1" hangingPunct="1">
              <a:defRPr/>
            </a:pPr>
            <a:r>
              <a:rPr lang="en-US" noProof="0" dirty="0">
                <a:latin typeface="Arial" charset="0"/>
                <a:cs typeface="+mj-cs"/>
              </a:rPr>
              <a:t>Course Policy</a:t>
            </a:r>
          </a:p>
        </p:txBody>
      </p:sp>
      <p:sp>
        <p:nvSpPr>
          <p:cNvPr id="23555" name="Rectangle 3"/>
          <p:cNvSpPr>
            <a:spLocks noGrp="1" noChangeArrowheads="1"/>
          </p:cNvSpPr>
          <p:nvPr>
            <p:ph idx="1"/>
          </p:nvPr>
        </p:nvSpPr>
        <p:spPr>
          <a:xfrm>
            <a:off x="457200" y="1600200"/>
            <a:ext cx="8305800" cy="4724400"/>
          </a:xfrm>
        </p:spPr>
        <p:txBody>
          <a:bodyPr/>
          <a:lstStyle/>
          <a:p>
            <a:pPr algn="just">
              <a:buFont typeface="Wingdings" charset="2"/>
              <a:buChar char="ü"/>
            </a:pPr>
            <a:r>
              <a:rPr lang="en-US" sz="2000" dirty="0">
                <a:latin typeface="Trebuchet MS" panose="020B0603020202020204" pitchFamily="34" charset="0"/>
                <a:ea typeface="Times New Roman" charset="0"/>
                <a:cs typeface="Times New Roman" charset="0"/>
              </a:rPr>
              <a:t>Instead of hunting for teachers, drop an email to your teacher and wait!</a:t>
            </a:r>
          </a:p>
          <a:p>
            <a:pPr lvl="1" algn="just">
              <a:buFont typeface="Wingdings" charset="2"/>
              <a:buChar char="ü"/>
            </a:pPr>
            <a:r>
              <a:rPr lang="en-US" sz="2000" dirty="0">
                <a:solidFill>
                  <a:srgbClr val="00B050"/>
                </a:solidFill>
                <a:latin typeface="Trebuchet MS" panose="020B0603020202020204" pitchFamily="34" charset="0"/>
                <a:ea typeface="Times New Roman" charset="0"/>
                <a:cs typeface="Times New Roman" charset="0"/>
              </a:rPr>
              <a:t>Subject</a:t>
            </a:r>
            <a:r>
              <a:rPr lang="en-US" sz="2000" dirty="0">
                <a:latin typeface="Trebuchet MS" panose="020B0603020202020204" pitchFamily="34" charset="0"/>
                <a:ea typeface="Times New Roman" charset="0"/>
                <a:cs typeface="Times New Roman" charset="0"/>
              </a:rPr>
              <a:t> must be </a:t>
            </a:r>
            <a:r>
              <a:rPr lang="en-US" sz="2000" dirty="0" err="1">
                <a:solidFill>
                  <a:srgbClr val="00B050"/>
                </a:solidFill>
                <a:latin typeface="Trebuchet MS" panose="020B0603020202020204" pitchFamily="34" charset="0"/>
                <a:ea typeface="Times New Roman" charset="0"/>
                <a:cs typeface="Times New Roman" charset="0"/>
              </a:rPr>
              <a:t>IICT_Section</a:t>
            </a:r>
            <a:r>
              <a:rPr lang="en-US" sz="2000" dirty="0">
                <a:solidFill>
                  <a:srgbClr val="00B050"/>
                </a:solidFill>
                <a:latin typeface="Trebuchet MS" panose="020B0603020202020204" pitchFamily="34" charset="0"/>
                <a:ea typeface="Times New Roman" charset="0"/>
                <a:cs typeface="Times New Roman" charset="0"/>
              </a:rPr>
              <a:t>:&lt;Concern&gt; </a:t>
            </a:r>
          </a:p>
          <a:p>
            <a:pPr algn="just">
              <a:buFont typeface="Wingdings" charset="2"/>
              <a:buChar char="ü"/>
            </a:pPr>
            <a:r>
              <a:rPr lang="en-US" sz="2000" dirty="0">
                <a:latin typeface="Trebuchet MS" panose="020B0603020202020204" pitchFamily="34" charset="0"/>
                <a:ea typeface="Times New Roman" charset="0"/>
                <a:cs typeface="Times New Roman" charset="0"/>
              </a:rPr>
              <a:t>Report your queries within due time to not regret later.</a:t>
            </a:r>
          </a:p>
          <a:p>
            <a:pPr algn="just">
              <a:buFont typeface="Wingdings" charset="2"/>
              <a:buChar char="ü"/>
            </a:pPr>
            <a:r>
              <a:rPr lang="en-US" sz="2000" dirty="0">
                <a:latin typeface="Trebuchet MS" panose="020B0603020202020204" pitchFamily="34" charset="0"/>
                <a:ea typeface="Times New Roman" charset="0"/>
                <a:cs typeface="Times New Roman" charset="0"/>
              </a:rPr>
              <a:t>No extension in tasks so don’t expect ever.</a:t>
            </a:r>
          </a:p>
          <a:p>
            <a:pPr lvl="1" algn="just">
              <a:buFont typeface="Wingdings" charset="2"/>
              <a:buChar char="ü"/>
            </a:pPr>
            <a:r>
              <a:rPr lang="en-US" sz="2000" dirty="0">
                <a:latin typeface="Trebuchet MS" panose="020B0603020202020204" pitchFamily="34" charset="0"/>
                <a:ea typeface="Times New Roman" charset="0"/>
                <a:cs typeface="Times New Roman" charset="0"/>
              </a:rPr>
              <a:t>Deadlines will be based on semester’s practical constraints, already</a:t>
            </a:r>
          </a:p>
          <a:p>
            <a:pPr algn="just">
              <a:buFont typeface="Wingdings" charset="2"/>
              <a:buChar char="ü"/>
            </a:pPr>
            <a:r>
              <a:rPr lang="en-US" sz="2000" dirty="0">
                <a:solidFill>
                  <a:srgbClr val="FF0000"/>
                </a:solidFill>
                <a:latin typeface="Trebuchet MS" panose="020B0603020202020204" pitchFamily="34" charset="0"/>
                <a:ea typeface="Times New Roman" charset="0"/>
                <a:cs typeface="Times New Roman" charset="0"/>
              </a:rPr>
              <a:t>Warning! </a:t>
            </a:r>
            <a:r>
              <a:rPr lang="en-US" sz="2000" dirty="0">
                <a:latin typeface="Trebuchet MS" panose="020B0603020202020204" pitchFamily="34" charset="0"/>
                <a:ea typeface="Times New Roman" charset="0"/>
                <a:cs typeface="Times New Roman" charset="0"/>
              </a:rPr>
              <a:t>Be regular in class for not pleading later.</a:t>
            </a:r>
          </a:p>
          <a:p>
            <a:pPr lvl="1" algn="just">
              <a:buFont typeface="Wingdings" charset="2"/>
              <a:buChar char="ü"/>
            </a:pPr>
            <a:r>
              <a:rPr lang="en-US" sz="2000" dirty="0">
                <a:latin typeface="Trebuchet MS" panose="020B0603020202020204" pitchFamily="34" charset="0"/>
                <a:ea typeface="Times New Roman" charset="0"/>
                <a:cs typeface="Times New Roman" charset="0"/>
              </a:rPr>
              <a:t>Your attendance requirement is </a:t>
            </a:r>
            <a:r>
              <a:rPr lang="en-US" sz="2000" b="1" dirty="0">
                <a:latin typeface="Trebuchet MS" panose="020B0603020202020204" pitchFamily="34" charset="0"/>
                <a:ea typeface="Times New Roman" charset="0"/>
                <a:cs typeface="Times New Roman" charset="0"/>
              </a:rPr>
              <a:t>100% </a:t>
            </a:r>
            <a:r>
              <a:rPr lang="en-US" sz="2000" dirty="0">
                <a:latin typeface="Trebuchet MS" panose="020B0603020202020204" pitchFamily="34" charset="0"/>
                <a:ea typeface="Times New Roman" charset="0"/>
                <a:cs typeface="Times New Roman" charset="0"/>
              </a:rPr>
              <a:t>however you are given compensation of 20% considering routine life circumstances.</a:t>
            </a:r>
          </a:p>
          <a:p>
            <a:pPr lvl="1" algn="just">
              <a:buFont typeface="Wingdings" charset="2"/>
              <a:buChar char="ü"/>
            </a:pPr>
            <a:r>
              <a:rPr lang="en-US" sz="2000" noProof="0" dirty="0">
                <a:latin typeface="Trebuchet MS" panose="020B0603020202020204" pitchFamily="34" charset="0"/>
                <a:cs typeface="Times New Roman" charset="0"/>
              </a:rPr>
              <a:t>If </a:t>
            </a:r>
            <a:r>
              <a:rPr lang="en-US" sz="2000" dirty="0">
                <a:latin typeface="Trebuchet MS" panose="020B0603020202020204" pitchFamily="34" charset="0"/>
                <a:cs typeface="Times New Roman" charset="0"/>
              </a:rPr>
              <a:t>you are 15 minutes late, you will be marked absent.</a:t>
            </a:r>
            <a:endParaRPr lang="en-US" sz="2000" noProof="0" dirty="0">
              <a:latin typeface="Trebuchet MS" panose="020B0603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just" eaLnBrk="1" hangingPunct="1">
              <a:defRPr/>
            </a:pPr>
            <a:r>
              <a:rPr lang="en-US" noProof="0" dirty="0">
                <a:latin typeface="Arial" charset="0"/>
                <a:cs typeface="+mj-cs"/>
              </a:rPr>
              <a:t>Classroom etiquette</a:t>
            </a:r>
          </a:p>
        </p:txBody>
      </p:sp>
      <p:sp>
        <p:nvSpPr>
          <p:cNvPr id="23555" name="Rectangle 3"/>
          <p:cNvSpPr>
            <a:spLocks noGrp="1" noChangeArrowheads="1"/>
          </p:cNvSpPr>
          <p:nvPr>
            <p:ph idx="1"/>
          </p:nvPr>
        </p:nvSpPr>
        <p:spPr/>
        <p:txBody>
          <a:bodyPr/>
          <a:lstStyle/>
          <a:p>
            <a:r>
              <a:rPr lang="en-US" sz="2400" dirty="0">
                <a:solidFill>
                  <a:schemeClr val="bg2"/>
                </a:solidFill>
              </a:rPr>
              <a:t>–</a:t>
            </a:r>
            <a:r>
              <a:rPr lang="en-US" sz="2400" dirty="0"/>
              <a:t> </a:t>
            </a:r>
            <a:r>
              <a:rPr lang="en-US" sz="2400" dirty="0">
                <a:solidFill>
                  <a:schemeClr val="bg2"/>
                </a:solidFill>
              </a:rPr>
              <a:t>Raise your hand before asking any question </a:t>
            </a:r>
          </a:p>
          <a:p>
            <a:pPr marL="0" indent="0">
              <a:buNone/>
            </a:pPr>
            <a:r>
              <a:rPr lang="en-US" sz="2400" dirty="0">
                <a:solidFill>
                  <a:schemeClr val="bg2"/>
                </a:solidFill>
              </a:rPr>
              <a:t>      and then WAIT for the permission </a:t>
            </a:r>
          </a:p>
          <a:p>
            <a:r>
              <a:rPr lang="en-US" sz="2400" dirty="0">
                <a:solidFill>
                  <a:schemeClr val="bg2"/>
                </a:solidFill>
              </a:rPr>
              <a:t>– Never ever miss a class</a:t>
            </a:r>
          </a:p>
          <a:p>
            <a:r>
              <a:rPr lang="en-US" sz="2400" dirty="0">
                <a:solidFill>
                  <a:schemeClr val="bg2"/>
                </a:solidFill>
              </a:rPr>
              <a:t> – Never ever “sleep” in the class</a:t>
            </a:r>
          </a:p>
          <a:p>
            <a:r>
              <a:rPr lang="en-US" sz="2400" dirty="0">
                <a:solidFill>
                  <a:schemeClr val="bg2"/>
                </a:solidFill>
              </a:rPr>
              <a:t> – Never use mobile phones in the class </a:t>
            </a:r>
          </a:p>
          <a:p>
            <a:r>
              <a:rPr lang="en-US" sz="2400" dirty="0"/>
              <a:t>– Above all, whatever you do, please do not disturb</a:t>
            </a:r>
          </a:p>
          <a:p>
            <a:pPr marL="0" indent="0">
              <a:buNone/>
            </a:pPr>
            <a:r>
              <a:rPr lang="en-US" sz="2400" dirty="0"/>
              <a:t>      others.</a:t>
            </a:r>
          </a:p>
        </p:txBody>
      </p:sp>
    </p:spTree>
    <p:extLst>
      <p:ext uri="{BB962C8B-B14F-4D97-AF65-F5344CB8AC3E}">
        <p14:creationId xmlns:p14="http://schemas.microsoft.com/office/powerpoint/2010/main" val="682928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lgn="just" eaLnBrk="1" hangingPunct="1">
              <a:defRPr/>
            </a:pPr>
            <a:r>
              <a:rPr lang="en-US" noProof="0">
                <a:latin typeface="Arial" charset="0"/>
                <a:cs typeface="+mj-cs"/>
              </a:rPr>
              <a:t>Dishonesty, Plagiarism</a:t>
            </a:r>
          </a:p>
        </p:txBody>
      </p:sp>
      <p:sp>
        <p:nvSpPr>
          <p:cNvPr id="21507" name="Rectangle 3"/>
          <p:cNvSpPr>
            <a:spLocks noGrp="1" noChangeArrowheads="1"/>
          </p:cNvSpPr>
          <p:nvPr>
            <p:ph idx="1"/>
          </p:nvPr>
        </p:nvSpPr>
        <p:spPr>
          <a:xfrm>
            <a:off x="457200" y="1600200"/>
            <a:ext cx="8247063" cy="3657600"/>
          </a:xfrm>
        </p:spPr>
        <p:txBody>
          <a:bodyPr/>
          <a:lstStyle/>
          <a:p>
            <a:pPr algn="just" eaLnBrk="1" hangingPunct="1">
              <a:defRPr/>
            </a:pPr>
            <a:endParaRPr lang="en-US" noProof="0" dirty="0">
              <a:latin typeface="Arial" charset="0"/>
              <a:cs typeface="+mn-cs"/>
            </a:endParaRPr>
          </a:p>
          <a:p>
            <a:pPr algn="just" eaLnBrk="1" hangingPunct="1">
              <a:defRPr/>
            </a:pPr>
            <a:r>
              <a:rPr lang="en-US" noProof="0" dirty="0">
                <a:latin typeface="Arial" charset="0"/>
                <a:cs typeface="+mn-cs"/>
              </a:rPr>
              <a:t>Plagiarism</a:t>
            </a:r>
            <a:r>
              <a:rPr lang="en-US" dirty="0">
                <a:latin typeface="Arial" charset="0"/>
                <a:cs typeface="+mn-cs"/>
              </a:rPr>
              <a:t> in any one assignment will lead to a ZERO in the whole category.</a:t>
            </a:r>
            <a:endParaRPr lang="en-US" noProof="0" dirty="0">
              <a:latin typeface="Arial" charset="0"/>
              <a:cs typeface="+mn-cs"/>
            </a:endParaRPr>
          </a:p>
          <a:p>
            <a:pPr algn="just" eaLnBrk="1" hangingPunct="1">
              <a:defRPr/>
            </a:pPr>
            <a:r>
              <a:rPr lang="en-US" dirty="0">
                <a:latin typeface="Arial" charset="0"/>
                <a:cs typeface="+mn-cs"/>
              </a:rPr>
              <a:t>Habitual cases will be awarded F Grade in the course.</a:t>
            </a:r>
            <a:endParaRPr lang="en-US" noProof="0" dirty="0">
              <a:latin typeface="Arial" charset="0"/>
              <a:cs typeface="+mn-cs"/>
            </a:endParaRPr>
          </a:p>
          <a:p>
            <a:pPr marL="457200" lvl="1" indent="0" algn="just" eaLnBrk="1" hangingPunct="1">
              <a:buFontTx/>
              <a:buNone/>
              <a:defRPr/>
            </a:pPr>
            <a:r>
              <a:rPr lang="en-US" noProof="0" dirty="0">
                <a:latin typeface="Arial" charset="0"/>
                <a:cs typeface="+mn-cs"/>
              </a:rPr>
              <a:t>	</a:t>
            </a:r>
            <a:endParaRPr lang="en-US" noProof="0" dirty="0">
              <a:latin typeface="Arial" charset="0"/>
            </a:endParaRPr>
          </a:p>
          <a:p>
            <a:pPr marL="0" indent="0" algn="just" eaLnBrk="1" hangingPunct="1">
              <a:buFontTx/>
              <a:buNone/>
              <a:defRPr/>
            </a:pPr>
            <a:endParaRPr lang="en-US" noProof="0" dirty="0">
              <a:latin typeface="Arial" charset="0"/>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lgn="just" eaLnBrk="1" hangingPunct="1">
              <a:defRPr/>
            </a:pPr>
            <a:r>
              <a:rPr lang="en-US" noProof="0">
                <a:latin typeface="Arial" charset="0"/>
                <a:cs typeface="+mj-cs"/>
              </a:rPr>
              <a:t>Dishonesty, Plagiarism</a:t>
            </a:r>
          </a:p>
        </p:txBody>
      </p:sp>
      <p:sp>
        <p:nvSpPr>
          <p:cNvPr id="21507" name="Rectangle 3"/>
          <p:cNvSpPr>
            <a:spLocks noGrp="1" noChangeArrowheads="1"/>
          </p:cNvSpPr>
          <p:nvPr>
            <p:ph idx="1"/>
          </p:nvPr>
        </p:nvSpPr>
        <p:spPr>
          <a:xfrm>
            <a:off x="304800" y="1600200"/>
            <a:ext cx="8534400" cy="3962400"/>
          </a:xfrm>
        </p:spPr>
        <p:txBody>
          <a:bodyPr/>
          <a:lstStyle/>
          <a:p>
            <a:pPr marL="0" indent="0" algn="just" eaLnBrk="1" hangingPunct="1">
              <a:buFontTx/>
              <a:buNone/>
              <a:defRPr/>
            </a:pPr>
            <a:r>
              <a:rPr lang="en-US" noProof="0" dirty="0"/>
              <a:t>You can fool some of the people all of the time, and all of the people some of the time, </a:t>
            </a:r>
          </a:p>
          <a:p>
            <a:pPr marL="0" indent="0" algn="just" eaLnBrk="1" hangingPunct="1">
              <a:buFontTx/>
              <a:buNone/>
              <a:defRPr/>
            </a:pPr>
            <a:endParaRPr lang="en-US" dirty="0"/>
          </a:p>
          <a:p>
            <a:pPr marL="0" indent="0" algn="just" eaLnBrk="1" hangingPunct="1">
              <a:buFontTx/>
              <a:buNone/>
              <a:defRPr/>
            </a:pPr>
            <a:r>
              <a:rPr lang="en-US" noProof="0" dirty="0"/>
              <a:t>but you can not fool all of the people all of the time.</a:t>
            </a:r>
          </a:p>
          <a:p>
            <a:pPr marL="0" indent="0" algn="just" eaLnBrk="1" hangingPunct="1">
              <a:buFontTx/>
              <a:buNone/>
              <a:defRPr/>
            </a:pPr>
            <a:endParaRPr lang="en-US" sz="1800" noProof="0" dirty="0"/>
          </a:p>
          <a:p>
            <a:pPr marL="0" indent="0" algn="r" eaLnBrk="1" hangingPunct="1">
              <a:buFontTx/>
              <a:buNone/>
              <a:defRPr/>
            </a:pPr>
            <a:r>
              <a:rPr lang="en-US" sz="1800" noProof="0" dirty="0"/>
              <a:t>Abraham Lincoln, </a:t>
            </a:r>
          </a:p>
          <a:p>
            <a:pPr marL="0" indent="0" algn="r" eaLnBrk="1" hangingPunct="1">
              <a:buFontTx/>
              <a:buNone/>
              <a:defRPr/>
            </a:pPr>
            <a:r>
              <a:rPr lang="en-US" sz="1800" noProof="0" dirty="0"/>
              <a:t>16th president of US (1809 - 1865) </a:t>
            </a:r>
          </a:p>
          <a:p>
            <a:pPr marL="0" indent="0" algn="just" eaLnBrk="1" hangingPunct="1">
              <a:buFontTx/>
              <a:buNone/>
              <a:defRPr/>
            </a:pPr>
            <a:endParaRPr lang="en-US" noProof="0" dirty="0"/>
          </a:p>
          <a:p>
            <a:pPr marL="0" indent="0" algn="just" eaLnBrk="1" hangingPunct="1">
              <a:buFontTx/>
              <a:buNone/>
              <a:defRPr/>
            </a:pPr>
            <a:endParaRPr lang="en-US" noProof="0" dirty="0">
              <a:latin typeface="Arial" charset="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0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ea typeface="Arial" charset="0"/>
                <a:cs typeface="Arial" charset="0"/>
              </a:rPr>
              <a:t>Marks distribution (Tentative)</a:t>
            </a:r>
          </a:p>
        </p:txBody>
      </p:sp>
      <p:graphicFrame>
        <p:nvGraphicFramePr>
          <p:cNvPr id="10" name="Table 9">
            <a:extLst>
              <a:ext uri="{FF2B5EF4-FFF2-40B4-BE49-F238E27FC236}">
                <a16:creationId xmlns:a16="http://schemas.microsoft.com/office/drawing/2014/main" id="{DEA6A8D7-F5CF-7E03-9751-F1913610D108}"/>
              </a:ext>
            </a:extLst>
          </p:cNvPr>
          <p:cNvGraphicFramePr>
            <a:graphicFrameLocks noGrp="1"/>
          </p:cNvGraphicFramePr>
          <p:nvPr>
            <p:extLst>
              <p:ext uri="{D42A27DB-BD31-4B8C-83A1-F6EECF244321}">
                <p14:modId xmlns:p14="http://schemas.microsoft.com/office/powerpoint/2010/main" val="2219842015"/>
              </p:ext>
            </p:extLst>
          </p:nvPr>
        </p:nvGraphicFramePr>
        <p:xfrm>
          <a:off x="1371600" y="1981200"/>
          <a:ext cx="6095999" cy="3657600"/>
        </p:xfrm>
        <a:graphic>
          <a:graphicData uri="http://schemas.openxmlformats.org/drawingml/2006/table">
            <a:tbl>
              <a:tblPr firstRow="1">
                <a:tableStyleId>{616DA210-FB5B-4158-B5E0-FEB733F419BA}</a:tableStyleId>
              </a:tblPr>
              <a:tblGrid>
                <a:gridCol w="2309567">
                  <a:extLst>
                    <a:ext uri="{9D8B030D-6E8A-4147-A177-3AD203B41FA5}">
                      <a16:colId xmlns:a16="http://schemas.microsoft.com/office/drawing/2014/main" val="1338157979"/>
                    </a:ext>
                  </a:extLst>
                </a:gridCol>
                <a:gridCol w="1225484">
                  <a:extLst>
                    <a:ext uri="{9D8B030D-6E8A-4147-A177-3AD203B41FA5}">
                      <a16:colId xmlns:a16="http://schemas.microsoft.com/office/drawing/2014/main" val="1481144193"/>
                    </a:ext>
                  </a:extLst>
                </a:gridCol>
                <a:gridCol w="2560948">
                  <a:extLst>
                    <a:ext uri="{9D8B030D-6E8A-4147-A177-3AD203B41FA5}">
                      <a16:colId xmlns:a16="http://schemas.microsoft.com/office/drawing/2014/main" val="931815965"/>
                    </a:ext>
                  </a:extLst>
                </a:gridCol>
              </a:tblGrid>
              <a:tr h="609600">
                <a:tc>
                  <a:txBody>
                    <a:bodyPr/>
                    <a:lstStyle/>
                    <a:p>
                      <a:pPr rtl="0" fontAlgn="t">
                        <a:spcBef>
                          <a:spcPts val="200"/>
                        </a:spcBef>
                        <a:spcAft>
                          <a:spcPts val="200"/>
                        </a:spcAft>
                      </a:pPr>
                      <a:r>
                        <a:rPr lang="en-US" sz="2000" b="1" u="none" strike="noStrike" dirty="0">
                          <a:solidFill>
                            <a:srgbClr val="000000"/>
                          </a:solidFill>
                          <a:effectLst/>
                        </a:rPr>
                        <a:t>Assessment Item</a:t>
                      </a:r>
                      <a:endParaRPr lang="en-US" sz="2000" dirty="0">
                        <a:effectLst/>
                      </a:endParaRPr>
                    </a:p>
                  </a:txBody>
                  <a:tcPr marL="68580" marR="68580"/>
                </a:tc>
                <a:tc>
                  <a:txBody>
                    <a:bodyPr/>
                    <a:lstStyle/>
                    <a:p>
                      <a:pPr rtl="0" fontAlgn="t">
                        <a:spcBef>
                          <a:spcPts val="200"/>
                        </a:spcBef>
                        <a:spcAft>
                          <a:spcPts val="200"/>
                        </a:spcAft>
                      </a:pPr>
                      <a:r>
                        <a:rPr lang="en-US" sz="2000" b="1" u="none" strike="noStrike">
                          <a:solidFill>
                            <a:srgbClr val="000000"/>
                          </a:solidFill>
                          <a:effectLst/>
                        </a:rPr>
                        <a:t>Number</a:t>
                      </a:r>
                      <a:endParaRPr lang="en-US" sz="2000">
                        <a:effectLst/>
                      </a:endParaRPr>
                    </a:p>
                  </a:txBody>
                  <a:tcPr marL="68580" marR="68580"/>
                </a:tc>
                <a:tc>
                  <a:txBody>
                    <a:bodyPr/>
                    <a:lstStyle/>
                    <a:p>
                      <a:pPr rtl="0" fontAlgn="t">
                        <a:spcBef>
                          <a:spcPts val="200"/>
                        </a:spcBef>
                        <a:spcAft>
                          <a:spcPts val="200"/>
                        </a:spcAft>
                      </a:pPr>
                      <a:r>
                        <a:rPr lang="en-US" sz="2000" b="1" u="none" strike="noStrike" dirty="0">
                          <a:solidFill>
                            <a:srgbClr val="000000"/>
                          </a:solidFill>
                          <a:effectLst/>
                        </a:rPr>
                        <a:t>Weight (%)</a:t>
                      </a:r>
                      <a:endParaRPr lang="en-US" sz="2000" dirty="0">
                        <a:effectLst/>
                      </a:endParaRPr>
                    </a:p>
                  </a:txBody>
                  <a:tcPr marL="68580" marR="68580"/>
                </a:tc>
                <a:extLst>
                  <a:ext uri="{0D108BD9-81ED-4DB2-BD59-A6C34878D82A}">
                    <a16:rowId xmlns:a16="http://schemas.microsoft.com/office/drawing/2014/main" val="1095556710"/>
                  </a:ext>
                </a:extLst>
              </a:tr>
              <a:tr h="609600">
                <a:tc>
                  <a:txBody>
                    <a:bodyPr/>
                    <a:lstStyle/>
                    <a:p>
                      <a:pPr rtl="0" fontAlgn="t">
                        <a:spcBef>
                          <a:spcPts val="200"/>
                        </a:spcBef>
                        <a:spcAft>
                          <a:spcPts val="200"/>
                        </a:spcAft>
                      </a:pPr>
                      <a:r>
                        <a:rPr lang="en-US" sz="2000" b="0" u="none" strike="noStrike" dirty="0">
                          <a:solidFill>
                            <a:srgbClr val="000000"/>
                          </a:solidFill>
                          <a:effectLst/>
                        </a:rPr>
                        <a:t>Assignments</a:t>
                      </a:r>
                      <a:endParaRPr lang="en-US" sz="2000" dirty="0">
                        <a:effectLst/>
                      </a:endParaRPr>
                    </a:p>
                  </a:txBody>
                  <a:tcPr marL="68580" marR="68580"/>
                </a:tc>
                <a:tc>
                  <a:txBody>
                    <a:bodyPr/>
                    <a:lstStyle/>
                    <a:p>
                      <a:pPr rtl="0" fontAlgn="t">
                        <a:spcBef>
                          <a:spcPts val="200"/>
                        </a:spcBef>
                        <a:spcAft>
                          <a:spcPts val="200"/>
                        </a:spcAft>
                      </a:pPr>
                      <a:r>
                        <a:rPr lang="en-US" sz="2000" b="0" u="none" strike="noStrike">
                          <a:solidFill>
                            <a:srgbClr val="000000"/>
                          </a:solidFill>
                          <a:effectLst/>
                        </a:rPr>
                        <a:t>1</a:t>
                      </a:r>
                      <a:endParaRPr lang="en-US" sz="2000">
                        <a:effectLst/>
                      </a:endParaRPr>
                    </a:p>
                  </a:txBody>
                  <a:tcPr marL="68580" marR="68580"/>
                </a:tc>
                <a:tc>
                  <a:txBody>
                    <a:bodyPr/>
                    <a:lstStyle/>
                    <a:p>
                      <a:pPr rtl="0" fontAlgn="t">
                        <a:spcBef>
                          <a:spcPts val="200"/>
                        </a:spcBef>
                        <a:spcAft>
                          <a:spcPts val="200"/>
                        </a:spcAft>
                      </a:pPr>
                      <a:r>
                        <a:rPr lang="en-US" sz="2000" b="0" u="none" strike="noStrike">
                          <a:solidFill>
                            <a:srgbClr val="000000"/>
                          </a:solidFill>
                          <a:effectLst/>
                        </a:rPr>
                        <a:t>10</a:t>
                      </a:r>
                      <a:endParaRPr lang="en-US" sz="2000">
                        <a:effectLst/>
                      </a:endParaRPr>
                    </a:p>
                  </a:txBody>
                  <a:tcPr marL="68580" marR="68580"/>
                </a:tc>
                <a:extLst>
                  <a:ext uri="{0D108BD9-81ED-4DB2-BD59-A6C34878D82A}">
                    <a16:rowId xmlns:a16="http://schemas.microsoft.com/office/drawing/2014/main" val="1444463686"/>
                  </a:ext>
                </a:extLst>
              </a:tr>
              <a:tr h="609600">
                <a:tc>
                  <a:txBody>
                    <a:bodyPr/>
                    <a:lstStyle/>
                    <a:p>
                      <a:pPr rtl="0" fontAlgn="t">
                        <a:spcBef>
                          <a:spcPts val="200"/>
                        </a:spcBef>
                        <a:spcAft>
                          <a:spcPts val="200"/>
                        </a:spcAft>
                      </a:pPr>
                      <a:r>
                        <a:rPr lang="en-US" sz="2000" b="0" u="none" strike="noStrike" dirty="0">
                          <a:solidFill>
                            <a:srgbClr val="000000"/>
                          </a:solidFill>
                          <a:effectLst/>
                        </a:rPr>
                        <a:t>Lab Task</a:t>
                      </a:r>
                      <a:endParaRPr lang="en-US" sz="2000" dirty="0">
                        <a:effectLst/>
                      </a:endParaRPr>
                    </a:p>
                  </a:txBody>
                  <a:tcPr marL="68580" marR="68580"/>
                </a:tc>
                <a:tc>
                  <a:txBody>
                    <a:bodyPr/>
                    <a:lstStyle/>
                    <a:p>
                      <a:pPr rtl="0" fontAlgn="t">
                        <a:spcBef>
                          <a:spcPts val="200"/>
                        </a:spcBef>
                        <a:spcAft>
                          <a:spcPts val="200"/>
                        </a:spcAft>
                      </a:pPr>
                      <a:r>
                        <a:rPr lang="en-US" sz="2000" b="0" u="none" strike="noStrike">
                          <a:solidFill>
                            <a:srgbClr val="000000"/>
                          </a:solidFill>
                          <a:effectLst/>
                        </a:rPr>
                        <a:t>10</a:t>
                      </a:r>
                      <a:endParaRPr lang="en-US" sz="2000">
                        <a:effectLst/>
                      </a:endParaRPr>
                    </a:p>
                  </a:txBody>
                  <a:tcPr marL="68580" marR="68580"/>
                </a:tc>
                <a:tc>
                  <a:txBody>
                    <a:bodyPr/>
                    <a:lstStyle/>
                    <a:p>
                      <a:pPr rtl="0" fontAlgn="t">
                        <a:spcBef>
                          <a:spcPts val="200"/>
                        </a:spcBef>
                        <a:spcAft>
                          <a:spcPts val="200"/>
                        </a:spcAft>
                      </a:pPr>
                      <a:r>
                        <a:rPr lang="en-US" sz="2000" b="0" u="none" strike="noStrike" dirty="0">
                          <a:solidFill>
                            <a:srgbClr val="000000"/>
                          </a:solidFill>
                          <a:effectLst/>
                        </a:rPr>
                        <a:t>15</a:t>
                      </a:r>
                      <a:endParaRPr lang="en-US" sz="2000" dirty="0">
                        <a:effectLst/>
                      </a:endParaRPr>
                    </a:p>
                  </a:txBody>
                  <a:tcPr marL="68580" marR="68580"/>
                </a:tc>
                <a:extLst>
                  <a:ext uri="{0D108BD9-81ED-4DB2-BD59-A6C34878D82A}">
                    <a16:rowId xmlns:a16="http://schemas.microsoft.com/office/drawing/2014/main" val="2132148482"/>
                  </a:ext>
                </a:extLst>
              </a:tr>
              <a:tr h="609600">
                <a:tc>
                  <a:txBody>
                    <a:bodyPr/>
                    <a:lstStyle/>
                    <a:p>
                      <a:pPr rtl="0" fontAlgn="t">
                        <a:spcBef>
                          <a:spcPts val="200"/>
                        </a:spcBef>
                        <a:spcAft>
                          <a:spcPts val="200"/>
                        </a:spcAft>
                      </a:pPr>
                      <a:r>
                        <a:rPr lang="en-US" sz="2000" b="0" u="none" strike="noStrike">
                          <a:solidFill>
                            <a:srgbClr val="000000"/>
                          </a:solidFill>
                          <a:effectLst/>
                        </a:rPr>
                        <a:t>Presentation</a:t>
                      </a:r>
                      <a:endParaRPr lang="en-US" sz="2000">
                        <a:effectLst/>
                      </a:endParaRPr>
                    </a:p>
                  </a:txBody>
                  <a:tcPr marL="68580" marR="68580"/>
                </a:tc>
                <a:tc>
                  <a:txBody>
                    <a:bodyPr/>
                    <a:lstStyle/>
                    <a:p>
                      <a:pPr rtl="0" fontAlgn="t">
                        <a:spcBef>
                          <a:spcPts val="200"/>
                        </a:spcBef>
                        <a:spcAft>
                          <a:spcPts val="200"/>
                        </a:spcAft>
                      </a:pPr>
                      <a:r>
                        <a:rPr lang="en-US" sz="2000" b="0" u="none" strike="noStrike">
                          <a:solidFill>
                            <a:srgbClr val="000000"/>
                          </a:solidFill>
                          <a:effectLst/>
                        </a:rPr>
                        <a:t>1</a:t>
                      </a:r>
                      <a:endParaRPr lang="en-US" sz="2000">
                        <a:effectLst/>
                      </a:endParaRPr>
                    </a:p>
                  </a:txBody>
                  <a:tcPr marL="68580" marR="68580"/>
                </a:tc>
                <a:tc>
                  <a:txBody>
                    <a:bodyPr/>
                    <a:lstStyle/>
                    <a:p>
                      <a:pPr rtl="0" fontAlgn="t">
                        <a:spcBef>
                          <a:spcPts val="200"/>
                        </a:spcBef>
                        <a:spcAft>
                          <a:spcPts val="200"/>
                        </a:spcAft>
                      </a:pPr>
                      <a:r>
                        <a:rPr lang="en-US" sz="2000" b="0" u="none" strike="noStrike" dirty="0">
                          <a:solidFill>
                            <a:srgbClr val="000000"/>
                          </a:solidFill>
                          <a:effectLst/>
                        </a:rPr>
                        <a:t>15</a:t>
                      </a:r>
                      <a:endParaRPr lang="en-US" sz="2000" dirty="0">
                        <a:effectLst/>
                      </a:endParaRPr>
                    </a:p>
                  </a:txBody>
                  <a:tcPr marL="68580" marR="68580"/>
                </a:tc>
                <a:extLst>
                  <a:ext uri="{0D108BD9-81ED-4DB2-BD59-A6C34878D82A}">
                    <a16:rowId xmlns:a16="http://schemas.microsoft.com/office/drawing/2014/main" val="6099154"/>
                  </a:ext>
                </a:extLst>
              </a:tr>
              <a:tr h="609600">
                <a:tc>
                  <a:txBody>
                    <a:bodyPr/>
                    <a:lstStyle/>
                    <a:p>
                      <a:pPr rtl="0" fontAlgn="t">
                        <a:spcBef>
                          <a:spcPts val="200"/>
                        </a:spcBef>
                        <a:spcAft>
                          <a:spcPts val="200"/>
                        </a:spcAft>
                      </a:pPr>
                      <a:r>
                        <a:rPr lang="en-US" sz="2000" b="0" u="none" strike="noStrike" dirty="0">
                          <a:solidFill>
                            <a:srgbClr val="000000"/>
                          </a:solidFill>
                          <a:effectLst/>
                        </a:rPr>
                        <a:t>Project</a:t>
                      </a:r>
                      <a:endParaRPr lang="en-US" sz="2000" dirty="0">
                        <a:effectLst/>
                      </a:endParaRPr>
                    </a:p>
                  </a:txBody>
                  <a:tcPr marL="68580" marR="68580"/>
                </a:tc>
                <a:tc>
                  <a:txBody>
                    <a:bodyPr/>
                    <a:lstStyle/>
                    <a:p>
                      <a:pPr rtl="0" fontAlgn="t">
                        <a:spcBef>
                          <a:spcPts val="200"/>
                        </a:spcBef>
                        <a:spcAft>
                          <a:spcPts val="200"/>
                        </a:spcAft>
                      </a:pPr>
                      <a:r>
                        <a:rPr lang="en-US" sz="2000" b="0" u="none" strike="noStrike">
                          <a:solidFill>
                            <a:srgbClr val="000000"/>
                          </a:solidFill>
                          <a:effectLst/>
                        </a:rPr>
                        <a:t>1</a:t>
                      </a:r>
                      <a:endParaRPr lang="en-US" sz="2000">
                        <a:effectLst/>
                      </a:endParaRPr>
                    </a:p>
                  </a:txBody>
                  <a:tcPr marL="68580" marR="68580"/>
                </a:tc>
                <a:tc>
                  <a:txBody>
                    <a:bodyPr/>
                    <a:lstStyle/>
                    <a:p>
                      <a:pPr rtl="0" fontAlgn="t">
                        <a:spcBef>
                          <a:spcPts val="200"/>
                        </a:spcBef>
                        <a:spcAft>
                          <a:spcPts val="200"/>
                        </a:spcAft>
                      </a:pPr>
                      <a:r>
                        <a:rPr lang="en-US" sz="2000" b="0" u="none" strike="noStrike" dirty="0">
                          <a:solidFill>
                            <a:srgbClr val="000000"/>
                          </a:solidFill>
                          <a:effectLst/>
                        </a:rPr>
                        <a:t>20</a:t>
                      </a:r>
                      <a:endParaRPr lang="en-US" sz="2000" dirty="0">
                        <a:effectLst/>
                      </a:endParaRPr>
                    </a:p>
                  </a:txBody>
                  <a:tcPr marL="68580" marR="68580"/>
                </a:tc>
                <a:extLst>
                  <a:ext uri="{0D108BD9-81ED-4DB2-BD59-A6C34878D82A}">
                    <a16:rowId xmlns:a16="http://schemas.microsoft.com/office/drawing/2014/main" val="2559159289"/>
                  </a:ext>
                </a:extLst>
              </a:tr>
              <a:tr h="609600">
                <a:tc>
                  <a:txBody>
                    <a:bodyPr/>
                    <a:lstStyle/>
                    <a:p>
                      <a:pPr rtl="0" fontAlgn="t">
                        <a:spcBef>
                          <a:spcPts val="200"/>
                        </a:spcBef>
                        <a:spcAft>
                          <a:spcPts val="200"/>
                        </a:spcAft>
                      </a:pPr>
                      <a:r>
                        <a:rPr lang="en-US" sz="2000" b="0" u="none" strike="noStrike">
                          <a:solidFill>
                            <a:srgbClr val="000000"/>
                          </a:solidFill>
                          <a:effectLst/>
                        </a:rPr>
                        <a:t>Final Exam</a:t>
                      </a:r>
                      <a:endParaRPr lang="en-US" sz="2000">
                        <a:effectLst/>
                      </a:endParaRPr>
                    </a:p>
                  </a:txBody>
                  <a:tcPr marL="68580" marR="68580"/>
                </a:tc>
                <a:tc>
                  <a:txBody>
                    <a:bodyPr/>
                    <a:lstStyle/>
                    <a:p>
                      <a:pPr rtl="0" fontAlgn="t">
                        <a:spcBef>
                          <a:spcPts val="200"/>
                        </a:spcBef>
                        <a:spcAft>
                          <a:spcPts val="200"/>
                        </a:spcAft>
                      </a:pPr>
                      <a:r>
                        <a:rPr lang="en-US" sz="2000" b="0" u="none" strike="noStrike">
                          <a:solidFill>
                            <a:srgbClr val="000000"/>
                          </a:solidFill>
                          <a:effectLst/>
                        </a:rPr>
                        <a:t>1</a:t>
                      </a:r>
                      <a:endParaRPr lang="en-US" sz="2000">
                        <a:effectLst/>
                      </a:endParaRPr>
                    </a:p>
                  </a:txBody>
                  <a:tcPr marL="68580" marR="68580"/>
                </a:tc>
                <a:tc>
                  <a:txBody>
                    <a:bodyPr/>
                    <a:lstStyle/>
                    <a:p>
                      <a:pPr rtl="0" fontAlgn="t">
                        <a:spcBef>
                          <a:spcPts val="200"/>
                        </a:spcBef>
                        <a:spcAft>
                          <a:spcPts val="200"/>
                        </a:spcAft>
                      </a:pPr>
                      <a:r>
                        <a:rPr lang="en-US" sz="2000" b="0" u="none" strike="noStrike" dirty="0">
                          <a:solidFill>
                            <a:srgbClr val="000000"/>
                          </a:solidFill>
                          <a:effectLst/>
                        </a:rPr>
                        <a:t>40</a:t>
                      </a:r>
                      <a:endParaRPr lang="en-US" sz="2000" dirty="0">
                        <a:effectLst/>
                      </a:endParaRPr>
                    </a:p>
                  </a:txBody>
                  <a:tcPr marL="68580" marR="68580"/>
                </a:tc>
                <a:extLst>
                  <a:ext uri="{0D108BD9-81ED-4DB2-BD59-A6C34878D82A}">
                    <a16:rowId xmlns:a16="http://schemas.microsoft.com/office/drawing/2014/main" val="1001454540"/>
                  </a:ext>
                </a:extLst>
              </a:tr>
            </a:tbl>
          </a:graphicData>
        </a:graphic>
      </p:graphicFrame>
      <p:sp>
        <p:nvSpPr>
          <p:cNvPr id="11" name="Rectangle 2">
            <a:extLst>
              <a:ext uri="{FF2B5EF4-FFF2-40B4-BE49-F238E27FC236}">
                <a16:creationId xmlns:a16="http://schemas.microsoft.com/office/drawing/2014/main" id="{533FB0B5-06F9-3FBA-500C-B16FAA10C29E}"/>
              </a:ext>
            </a:extLst>
          </p:cNvPr>
          <p:cNvSpPr>
            <a:spLocks noChangeArrowheads="1"/>
          </p:cNvSpPr>
          <p:nvPr/>
        </p:nvSpPr>
        <p:spPr bwMode="auto">
          <a:xfrm>
            <a:off x="2732088" y="31369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26174382-07C3-0EDB-76C5-72C966CD98C9}"/>
              </a:ext>
            </a:extLst>
          </p:cNvPr>
          <p:cNvSpPr txBox="1"/>
          <p:nvPr/>
        </p:nvSpPr>
        <p:spPr>
          <a:xfrm>
            <a:off x="1371600" y="1302434"/>
            <a:ext cx="6095999" cy="523220"/>
          </a:xfrm>
          <a:prstGeom prst="rect">
            <a:avLst/>
          </a:prstGeom>
          <a:noFill/>
        </p:spPr>
        <p:txBody>
          <a:bodyPr wrap="square" rtlCol="0">
            <a:spAutoFit/>
          </a:bodyPr>
          <a:lstStyle/>
          <a:p>
            <a:pPr algn="ctr"/>
            <a:r>
              <a:rPr lang="en-US" dirty="0">
                <a:latin typeface="+mn-lt"/>
              </a:rPr>
              <a:t>Grading will be absolute!</a:t>
            </a:r>
          </a:p>
        </p:txBody>
      </p:sp>
    </p:spTree>
    <p:extLst>
      <p:ext uri="{BB962C8B-B14F-4D97-AF65-F5344CB8AC3E}">
        <p14:creationId xmlns:p14="http://schemas.microsoft.com/office/powerpoint/2010/main" val="112764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just">
              <a:defRPr/>
            </a:pPr>
            <a:r>
              <a:rPr lang="en-US" noProof="0" dirty="0"/>
              <a:t>About you?</a:t>
            </a:r>
          </a:p>
        </p:txBody>
      </p:sp>
      <p:sp>
        <p:nvSpPr>
          <p:cNvPr id="3" name="Espace réservé du contenu 2"/>
          <p:cNvSpPr>
            <a:spLocks noGrp="1"/>
          </p:cNvSpPr>
          <p:nvPr>
            <p:ph idx="1"/>
          </p:nvPr>
        </p:nvSpPr>
        <p:spPr/>
        <p:txBody>
          <a:bodyPr/>
          <a:lstStyle/>
          <a:p>
            <a:pPr algn="just"/>
            <a:r>
              <a:rPr lang="en-US" noProof="0" dirty="0"/>
              <a:t>You are here because?</a:t>
            </a:r>
          </a:p>
          <a:p>
            <a:pPr algn="just"/>
            <a:endParaRPr lang="en-US" noProof="0" dirty="0"/>
          </a:p>
          <a:p>
            <a:pPr lvl="1" algn="just"/>
            <a:r>
              <a:rPr lang="en-US" noProof="0" dirty="0"/>
              <a:t>There is no other option </a:t>
            </a:r>
            <a:r>
              <a:rPr lang="en-US" noProof="0" dirty="0">
                <a:sym typeface="Wingdings" pitchFamily="2" charset="2"/>
              </a:rPr>
              <a:t></a:t>
            </a:r>
          </a:p>
          <a:p>
            <a:pPr lvl="1" algn="just"/>
            <a:r>
              <a:rPr lang="en-US" noProof="0" dirty="0">
                <a:sym typeface="Wingdings" pitchFamily="2" charset="2"/>
              </a:rPr>
              <a:t>What if you had an option?</a:t>
            </a:r>
          </a:p>
          <a:p>
            <a:pPr lvl="1" algn="just"/>
            <a:r>
              <a:rPr lang="en-US" dirty="0">
                <a:sym typeface="Wingdings" pitchFamily="2" charset="2"/>
              </a:rPr>
              <a:t>Let’s get to know you!</a:t>
            </a:r>
            <a:r>
              <a:rPr lang="en-US" noProof="0" dirty="0">
                <a:sym typeface="Wingdings" pitchFamily="2" charset="2"/>
              </a:rPr>
              <a:t> </a:t>
            </a:r>
          </a:p>
        </p:txBody>
      </p:sp>
      <p:pic>
        <p:nvPicPr>
          <p:cNvPr id="21507" name="Image 3"/>
          <p:cNvPicPr>
            <a:picLocks noChangeAspect="1"/>
          </p:cNvPicPr>
          <p:nvPr/>
        </p:nvPicPr>
        <p:blipFill>
          <a:blip r:embed="rId2"/>
          <a:srcRect/>
          <a:stretch>
            <a:fillRect/>
          </a:stretch>
        </p:blipFill>
        <p:spPr bwMode="auto">
          <a:xfrm>
            <a:off x="5715000" y="609600"/>
            <a:ext cx="2387600" cy="3403600"/>
          </a:xfrm>
          <a:prstGeom prst="rect">
            <a:avLst/>
          </a:prstGeom>
          <a:noFill/>
          <a:ln w="9525">
            <a:noFill/>
            <a:miter lim="800000"/>
            <a:headEnd/>
            <a:tailEnd/>
          </a:ln>
        </p:spPr>
      </p:pic>
    </p:spTree>
    <p:extLst>
      <p:ext uri="{BB962C8B-B14F-4D97-AF65-F5344CB8AC3E}">
        <p14:creationId xmlns:p14="http://schemas.microsoft.com/office/powerpoint/2010/main" val="10424772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just">
              <a:defRPr/>
            </a:pPr>
            <a:r>
              <a:rPr lang="en-US" noProof="0" dirty="0"/>
              <a:t>Course Content Overview</a:t>
            </a:r>
          </a:p>
        </p:txBody>
      </p:sp>
      <p:sp>
        <p:nvSpPr>
          <p:cNvPr id="3" name="Espace réservé du contenu 2"/>
          <p:cNvSpPr>
            <a:spLocks noGrp="1"/>
          </p:cNvSpPr>
          <p:nvPr>
            <p:ph idx="1"/>
          </p:nvPr>
        </p:nvSpPr>
        <p:spPr/>
        <p:txBody>
          <a:bodyPr/>
          <a:lstStyle/>
          <a:p>
            <a:pPr algn="just">
              <a:defRPr/>
            </a:pPr>
            <a:r>
              <a:rPr lang="en-US" sz="2400" b="0" i="0" u="none" strike="noStrike" dirty="0">
                <a:solidFill>
                  <a:srgbClr val="000000"/>
                </a:solidFill>
                <a:effectLst/>
                <a:latin typeface="Arial" panose="020B0604020202020204" pitchFamily="34" charset="0"/>
              </a:rPr>
              <a:t>Basic computer knowledge</a:t>
            </a:r>
          </a:p>
          <a:p>
            <a:pPr algn="just">
              <a:defRPr/>
            </a:pPr>
            <a:r>
              <a:rPr lang="en-US" sz="2400" dirty="0">
                <a:solidFill>
                  <a:srgbClr val="000000"/>
                </a:solidFill>
                <a:latin typeface="Arial" panose="020B0604020202020204" pitchFamily="34" charset="0"/>
              </a:rPr>
              <a:t>B</a:t>
            </a:r>
            <a:r>
              <a:rPr lang="en-US" sz="2400" b="0" i="0" u="none" strike="noStrike" dirty="0">
                <a:solidFill>
                  <a:srgbClr val="000000"/>
                </a:solidFill>
                <a:effectLst/>
                <a:latin typeface="Arial" panose="020B0604020202020204" pitchFamily="34" charset="0"/>
              </a:rPr>
              <a:t>asic introduction to system and application software</a:t>
            </a:r>
          </a:p>
          <a:p>
            <a:pPr algn="just">
              <a:defRPr/>
            </a:pPr>
            <a:r>
              <a:rPr lang="en-US" sz="2400" b="0" i="0" u="none" strike="noStrike" dirty="0">
                <a:solidFill>
                  <a:srgbClr val="000000"/>
                </a:solidFill>
                <a:effectLst/>
                <a:latin typeface="Arial" panose="020B0604020202020204" pitchFamily="34" charset="0"/>
              </a:rPr>
              <a:t>Number system</a:t>
            </a:r>
          </a:p>
          <a:p>
            <a:pPr algn="just">
              <a:defRPr/>
            </a:pPr>
            <a:r>
              <a:rPr lang="en-US" sz="2400" b="0" i="0" u="none" strike="noStrike" dirty="0">
                <a:solidFill>
                  <a:srgbClr val="000000"/>
                </a:solidFill>
                <a:effectLst/>
                <a:latin typeface="Arial" panose="020B0604020202020204" pitchFamily="34" charset="0"/>
              </a:rPr>
              <a:t>Data representation</a:t>
            </a:r>
          </a:p>
          <a:p>
            <a:pPr algn="just">
              <a:defRPr/>
            </a:pPr>
            <a:r>
              <a:rPr lang="en-US" sz="2400" b="0" i="0" u="none" strike="noStrike" dirty="0">
                <a:solidFill>
                  <a:srgbClr val="000000"/>
                </a:solidFill>
                <a:effectLst/>
                <a:latin typeface="Arial" panose="020B0604020202020204" pitchFamily="34" charset="0"/>
              </a:rPr>
              <a:t>Modes of communication</a:t>
            </a:r>
          </a:p>
          <a:p>
            <a:pPr algn="just">
              <a:defRPr/>
            </a:pPr>
            <a:r>
              <a:rPr lang="en-US" sz="2400" dirty="0">
                <a:solidFill>
                  <a:srgbClr val="000000"/>
                </a:solidFill>
                <a:latin typeface="Arial" panose="020B0604020202020204" pitchFamily="34" charset="0"/>
              </a:rPr>
              <a:t>W</a:t>
            </a:r>
            <a:r>
              <a:rPr lang="en-US" sz="2400" b="0" i="0" u="none" strike="noStrike" dirty="0">
                <a:solidFill>
                  <a:srgbClr val="000000"/>
                </a:solidFill>
                <a:effectLst/>
                <a:latin typeface="Arial" panose="020B0604020202020204" pitchFamily="34" charset="0"/>
              </a:rPr>
              <a:t>eb development</a:t>
            </a:r>
          </a:p>
          <a:p>
            <a:pPr algn="just">
              <a:defRPr/>
            </a:pPr>
            <a:r>
              <a:rPr lang="en-US" sz="2400" dirty="0">
                <a:solidFill>
                  <a:srgbClr val="000000"/>
                </a:solidFill>
                <a:latin typeface="Arial" panose="020B0604020202020204" pitchFamily="34" charset="0"/>
              </a:rPr>
              <a:t>O</a:t>
            </a:r>
            <a:r>
              <a:rPr lang="en-US" sz="2400" b="0" i="0" u="none" strike="noStrike" dirty="0">
                <a:solidFill>
                  <a:srgbClr val="000000"/>
                </a:solidFill>
                <a:effectLst/>
                <a:latin typeface="Arial" panose="020B0604020202020204" pitchFamily="34" charset="0"/>
              </a:rPr>
              <a:t>perating system</a:t>
            </a:r>
          </a:p>
          <a:p>
            <a:pPr algn="just">
              <a:defRPr/>
            </a:pPr>
            <a:r>
              <a:rPr lang="en-US" sz="2400" b="0" i="0" u="none" strike="noStrike" dirty="0">
                <a:solidFill>
                  <a:srgbClr val="000000"/>
                </a:solidFill>
                <a:effectLst/>
                <a:latin typeface="Arial" panose="020B0604020202020204" pitchFamily="34" charset="0"/>
              </a:rPr>
              <a:t>Computer networks</a:t>
            </a:r>
          </a:p>
          <a:p>
            <a:pPr algn="just">
              <a:defRPr/>
            </a:pPr>
            <a:r>
              <a:rPr lang="en-US" sz="2400" b="0" i="0" u="none" strike="noStrike" dirty="0">
                <a:solidFill>
                  <a:srgbClr val="000000"/>
                </a:solidFill>
                <a:effectLst/>
                <a:latin typeface="Arial" panose="020B0604020202020204" pitchFamily="34" charset="0"/>
              </a:rPr>
              <a:t> </a:t>
            </a:r>
            <a:r>
              <a:rPr lang="en-US" sz="2400" dirty="0">
                <a:solidFill>
                  <a:srgbClr val="000000"/>
                </a:solidFill>
                <a:latin typeface="Arial" panose="020B0604020202020204" pitchFamily="34" charset="0"/>
              </a:rPr>
              <a:t>D</a:t>
            </a:r>
            <a:r>
              <a:rPr lang="en-US" sz="2400" b="0" i="0" u="none" strike="noStrike" dirty="0">
                <a:solidFill>
                  <a:srgbClr val="000000"/>
                </a:solidFill>
                <a:effectLst/>
                <a:latin typeface="Arial" panose="020B0604020202020204" pitchFamily="34" charset="0"/>
              </a:rPr>
              <a:t>ata management</a:t>
            </a:r>
          </a:p>
          <a:p>
            <a:pPr algn="just">
              <a:defRPr/>
            </a:pPr>
            <a:r>
              <a:rPr lang="en-US" sz="2400" dirty="0">
                <a:solidFill>
                  <a:srgbClr val="000000"/>
                </a:solidFill>
                <a:latin typeface="Arial" panose="020B0604020202020204" pitchFamily="34" charset="0"/>
              </a:rPr>
              <a:t>Advance Technologies</a:t>
            </a:r>
            <a:r>
              <a:rPr lang="en-US" sz="2400" b="0" i="0" u="none" strike="noStrike" dirty="0">
                <a:solidFill>
                  <a:srgbClr val="000000"/>
                </a:solidFill>
                <a:effectLst/>
                <a:latin typeface="Arial" panose="020B0604020202020204" pitchFamily="34" charset="0"/>
              </a:rPr>
              <a:t> </a:t>
            </a:r>
            <a:endParaRPr lang="en-US" sz="2400" noProof="0" dirty="0"/>
          </a:p>
        </p:txBody>
      </p:sp>
    </p:spTree>
    <p:extLst>
      <p:ext uri="{BB962C8B-B14F-4D97-AF65-F5344CB8AC3E}">
        <p14:creationId xmlns:p14="http://schemas.microsoft.com/office/powerpoint/2010/main" val="1855066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28600" y="762000"/>
            <a:ext cx="8686800" cy="5562600"/>
          </a:xfrm>
        </p:spPr>
        <p:txBody>
          <a:bodyPr/>
          <a:lstStyle/>
          <a:p>
            <a:pPr>
              <a:defRPr/>
            </a:pPr>
            <a:r>
              <a:rPr lang="en-US" noProof="0" dirty="0">
                <a:solidFill>
                  <a:schemeClr val="accent6">
                    <a:lumMod val="60000"/>
                    <a:lumOff val="40000"/>
                  </a:schemeClr>
                </a:solidFill>
                <a:latin typeface="Trebuchet MS" panose="020B0603020202020204" pitchFamily="34" charset="0"/>
              </a:rPr>
              <a:t>Computer</a:t>
            </a:r>
            <a:br>
              <a:rPr lang="en-US" noProof="0" dirty="0"/>
            </a:br>
            <a:r>
              <a:rPr lang="en-US" sz="2400" i="0" dirty="0">
                <a:solidFill>
                  <a:srgbClr val="202124"/>
                </a:solidFill>
                <a:effectLst/>
                <a:latin typeface="Trebuchet MS" panose="020B0603020202020204" pitchFamily="34" charset="0"/>
              </a:rPr>
              <a:t>A computer is a machine or device that performs processes, calculations and operations based on instructions provided by a software or hardware program.</a:t>
            </a:r>
            <a:br>
              <a:rPr lang="en-US" sz="2400" i="0" dirty="0">
                <a:solidFill>
                  <a:srgbClr val="202124"/>
                </a:solidFill>
                <a:effectLst/>
                <a:latin typeface="Trebuchet MS" panose="020B0603020202020204" pitchFamily="34" charset="0"/>
              </a:rPr>
            </a:br>
            <a:br>
              <a:rPr lang="en-US" sz="2400" i="0" dirty="0">
                <a:solidFill>
                  <a:srgbClr val="202124"/>
                </a:solidFill>
                <a:effectLst/>
                <a:latin typeface="Trebuchet MS" panose="020B0603020202020204" pitchFamily="34" charset="0"/>
              </a:rPr>
            </a:br>
            <a:r>
              <a:rPr lang="en-US" sz="2400" i="0" dirty="0">
                <a:solidFill>
                  <a:srgbClr val="202124"/>
                </a:solidFill>
                <a:effectLst/>
                <a:latin typeface="Trebuchet MS" panose="020B0603020202020204" pitchFamily="34" charset="0"/>
              </a:rPr>
              <a:t>A computer has the ability to:</a:t>
            </a:r>
            <a:br>
              <a:rPr lang="en-US" sz="2400" i="0" dirty="0">
                <a:solidFill>
                  <a:srgbClr val="202124"/>
                </a:solidFill>
                <a:effectLst/>
                <a:latin typeface="Trebuchet MS" panose="020B0603020202020204" pitchFamily="34" charset="0"/>
              </a:rPr>
            </a:br>
            <a:r>
              <a:rPr lang="en-US" sz="2400" i="0" dirty="0">
                <a:solidFill>
                  <a:srgbClr val="202124"/>
                </a:solidFill>
                <a:effectLst/>
                <a:latin typeface="Trebuchet MS" panose="020B0603020202020204" pitchFamily="34" charset="0"/>
              </a:rPr>
              <a:t>      accept data (input)</a:t>
            </a:r>
            <a:br>
              <a:rPr lang="en-US" sz="2400" i="0" dirty="0">
                <a:solidFill>
                  <a:srgbClr val="202124"/>
                </a:solidFill>
                <a:effectLst/>
                <a:latin typeface="Trebuchet MS" panose="020B0603020202020204" pitchFamily="34" charset="0"/>
              </a:rPr>
            </a:br>
            <a:r>
              <a:rPr lang="en-US" sz="2400" dirty="0">
                <a:solidFill>
                  <a:srgbClr val="202124"/>
                </a:solidFill>
                <a:latin typeface="Trebuchet MS" panose="020B0603020202020204" pitchFamily="34" charset="0"/>
              </a:rPr>
              <a:t>      </a:t>
            </a:r>
            <a:r>
              <a:rPr lang="en-US" sz="2400" i="0" dirty="0">
                <a:solidFill>
                  <a:srgbClr val="202124"/>
                </a:solidFill>
                <a:effectLst/>
                <a:latin typeface="Trebuchet MS" panose="020B0603020202020204" pitchFamily="34" charset="0"/>
              </a:rPr>
              <a:t>process it</a:t>
            </a:r>
            <a:br>
              <a:rPr lang="en-US" sz="2400" i="0" dirty="0">
                <a:solidFill>
                  <a:srgbClr val="202124"/>
                </a:solidFill>
                <a:effectLst/>
                <a:latin typeface="Trebuchet MS" panose="020B0603020202020204" pitchFamily="34" charset="0"/>
              </a:rPr>
            </a:br>
            <a:r>
              <a:rPr lang="en-US" sz="2400" i="0" dirty="0">
                <a:solidFill>
                  <a:srgbClr val="202124"/>
                </a:solidFill>
                <a:effectLst/>
                <a:latin typeface="Trebuchet MS" panose="020B0603020202020204" pitchFamily="34" charset="0"/>
              </a:rPr>
              <a:t>      produce outputs</a:t>
            </a:r>
            <a:br>
              <a:rPr lang="en-US" sz="2400" i="0" dirty="0">
                <a:solidFill>
                  <a:srgbClr val="202124"/>
                </a:solidFill>
                <a:effectLst/>
                <a:latin typeface="Trebuchet MS" panose="020B0603020202020204" pitchFamily="34" charset="0"/>
              </a:rPr>
            </a:br>
            <a:r>
              <a:rPr lang="en-US" sz="2400" i="0" dirty="0">
                <a:solidFill>
                  <a:srgbClr val="202124"/>
                </a:solidFill>
                <a:effectLst/>
                <a:latin typeface="Trebuchet MS" panose="020B0603020202020204" pitchFamily="34" charset="0"/>
              </a:rPr>
              <a:t>      store it for later use</a:t>
            </a:r>
            <a:br>
              <a:rPr lang="en-US" sz="2400" noProof="0" dirty="0">
                <a:latin typeface="Trebuchet MS" panose="020B0603020202020204" pitchFamily="34" charset="0"/>
              </a:rPr>
            </a:br>
            <a:br>
              <a:rPr lang="en-US" sz="2400" noProof="0" dirty="0">
                <a:latin typeface="Trebuchet MS" panose="020B0603020202020204" pitchFamily="34" charset="0"/>
              </a:rPr>
            </a:br>
            <a:endParaRPr lang="en-US" sz="2400" noProof="0" dirty="0">
              <a:latin typeface="Trebuchet MS" panose="020B0603020202020204" pitchFamily="34" charset="0"/>
            </a:endParaRPr>
          </a:p>
        </p:txBody>
      </p:sp>
      <p:pic>
        <p:nvPicPr>
          <p:cNvPr id="4" name="Picture 3">
            <a:extLst>
              <a:ext uri="{FF2B5EF4-FFF2-40B4-BE49-F238E27FC236}">
                <a16:creationId xmlns:a16="http://schemas.microsoft.com/office/drawing/2014/main" id="{F9907856-C030-F6AD-267A-A10C6B2AADE0}"/>
              </a:ext>
            </a:extLst>
          </p:cNvPr>
          <p:cNvPicPr>
            <a:picLocks noChangeAspect="1"/>
          </p:cNvPicPr>
          <p:nvPr/>
        </p:nvPicPr>
        <p:blipFill>
          <a:blip r:embed="rId2"/>
          <a:stretch>
            <a:fillRect/>
          </a:stretch>
        </p:blipFill>
        <p:spPr>
          <a:xfrm>
            <a:off x="4800600" y="3124200"/>
            <a:ext cx="3733800" cy="2738120"/>
          </a:xfrm>
          <a:prstGeom prst="rect">
            <a:avLst/>
          </a:prstGeom>
        </p:spPr>
      </p:pic>
    </p:spTree>
    <p:extLst>
      <p:ext uri="{BB962C8B-B14F-4D97-AF65-F5344CB8AC3E}">
        <p14:creationId xmlns:p14="http://schemas.microsoft.com/office/powerpoint/2010/main" val="2313306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28600" y="762000"/>
            <a:ext cx="8686800" cy="5562600"/>
          </a:xfrm>
        </p:spPr>
        <p:txBody>
          <a:bodyPr/>
          <a:lstStyle/>
          <a:p>
            <a:pPr>
              <a:defRPr/>
            </a:pPr>
            <a:r>
              <a:rPr lang="en-US" noProof="0" dirty="0">
                <a:solidFill>
                  <a:schemeClr val="accent6">
                    <a:lumMod val="60000"/>
                    <a:lumOff val="40000"/>
                  </a:schemeClr>
                </a:solidFill>
                <a:latin typeface="Trebuchet MS" panose="020B0603020202020204" pitchFamily="34" charset="0"/>
              </a:rPr>
              <a:t>Computer</a:t>
            </a:r>
            <a:br>
              <a:rPr lang="en-US" noProof="0" dirty="0"/>
            </a:br>
            <a:r>
              <a:rPr lang="en-US" sz="2400" i="0" dirty="0">
                <a:solidFill>
                  <a:srgbClr val="202124"/>
                </a:solidFill>
                <a:effectLst/>
                <a:latin typeface="Trebuchet MS" panose="020B0603020202020204" pitchFamily="34" charset="0"/>
              </a:rPr>
              <a:t>A computer is a machine or device that performs processes, calculations and operations based on instructions provided by a software or hardware program.</a:t>
            </a:r>
            <a:br>
              <a:rPr lang="en-US" sz="2400" i="0" dirty="0">
                <a:solidFill>
                  <a:srgbClr val="202124"/>
                </a:solidFill>
                <a:effectLst/>
                <a:latin typeface="Trebuchet MS" panose="020B0603020202020204" pitchFamily="34" charset="0"/>
              </a:rPr>
            </a:br>
            <a:br>
              <a:rPr lang="en-US" sz="2400" i="0" dirty="0">
                <a:solidFill>
                  <a:srgbClr val="202124"/>
                </a:solidFill>
                <a:effectLst/>
                <a:latin typeface="Trebuchet MS" panose="020B0603020202020204" pitchFamily="34" charset="0"/>
              </a:rPr>
            </a:br>
            <a:r>
              <a:rPr lang="en-US" sz="2400" i="0" dirty="0">
                <a:solidFill>
                  <a:srgbClr val="202124"/>
                </a:solidFill>
                <a:effectLst/>
                <a:latin typeface="Trebuchet MS" panose="020B0603020202020204" pitchFamily="34" charset="0"/>
              </a:rPr>
              <a:t>A computer has the ability to:</a:t>
            </a:r>
            <a:br>
              <a:rPr lang="en-US" sz="2400" i="0" dirty="0">
                <a:solidFill>
                  <a:srgbClr val="202124"/>
                </a:solidFill>
                <a:effectLst/>
                <a:latin typeface="Trebuchet MS" panose="020B0603020202020204" pitchFamily="34" charset="0"/>
              </a:rPr>
            </a:br>
            <a:r>
              <a:rPr lang="en-US" sz="2400" i="0" dirty="0">
                <a:solidFill>
                  <a:srgbClr val="202124"/>
                </a:solidFill>
                <a:effectLst/>
                <a:latin typeface="Trebuchet MS" panose="020B0603020202020204" pitchFamily="34" charset="0"/>
              </a:rPr>
              <a:t>      accept data (input)</a:t>
            </a:r>
            <a:br>
              <a:rPr lang="en-US" sz="2400" i="0" dirty="0">
                <a:solidFill>
                  <a:srgbClr val="202124"/>
                </a:solidFill>
                <a:effectLst/>
                <a:latin typeface="Trebuchet MS" panose="020B0603020202020204" pitchFamily="34" charset="0"/>
              </a:rPr>
            </a:br>
            <a:r>
              <a:rPr lang="en-US" sz="2400" dirty="0">
                <a:solidFill>
                  <a:srgbClr val="202124"/>
                </a:solidFill>
                <a:latin typeface="Trebuchet MS" panose="020B0603020202020204" pitchFamily="34" charset="0"/>
              </a:rPr>
              <a:t>      </a:t>
            </a:r>
            <a:r>
              <a:rPr lang="en-US" sz="2400" i="0" dirty="0">
                <a:solidFill>
                  <a:srgbClr val="202124"/>
                </a:solidFill>
                <a:effectLst/>
                <a:latin typeface="Trebuchet MS" panose="020B0603020202020204" pitchFamily="34" charset="0"/>
              </a:rPr>
              <a:t>process it</a:t>
            </a:r>
            <a:br>
              <a:rPr lang="en-US" sz="2400" i="0" dirty="0">
                <a:solidFill>
                  <a:srgbClr val="202124"/>
                </a:solidFill>
                <a:effectLst/>
                <a:latin typeface="Trebuchet MS" panose="020B0603020202020204" pitchFamily="34" charset="0"/>
              </a:rPr>
            </a:br>
            <a:r>
              <a:rPr lang="en-US" sz="2400" i="0" dirty="0">
                <a:solidFill>
                  <a:srgbClr val="202124"/>
                </a:solidFill>
                <a:effectLst/>
                <a:latin typeface="Trebuchet MS" panose="020B0603020202020204" pitchFamily="34" charset="0"/>
              </a:rPr>
              <a:t>      produce outputs</a:t>
            </a:r>
            <a:br>
              <a:rPr lang="en-US" sz="2400" i="0" dirty="0">
                <a:solidFill>
                  <a:srgbClr val="202124"/>
                </a:solidFill>
                <a:effectLst/>
                <a:latin typeface="Trebuchet MS" panose="020B0603020202020204" pitchFamily="34" charset="0"/>
              </a:rPr>
            </a:br>
            <a:r>
              <a:rPr lang="en-US" sz="2400" i="0" dirty="0">
                <a:solidFill>
                  <a:srgbClr val="202124"/>
                </a:solidFill>
                <a:effectLst/>
                <a:latin typeface="Trebuchet MS" panose="020B0603020202020204" pitchFamily="34" charset="0"/>
              </a:rPr>
              <a:t>      store it for later use</a:t>
            </a:r>
            <a:br>
              <a:rPr lang="en-US" sz="2400" noProof="0" dirty="0">
                <a:latin typeface="Trebuchet MS" panose="020B0603020202020204" pitchFamily="34" charset="0"/>
              </a:rPr>
            </a:br>
            <a:br>
              <a:rPr lang="en-US" sz="2400" noProof="0" dirty="0">
                <a:latin typeface="Trebuchet MS" panose="020B0603020202020204" pitchFamily="34" charset="0"/>
              </a:rPr>
            </a:br>
            <a:endParaRPr lang="en-US" sz="2400" noProof="0" dirty="0">
              <a:latin typeface="Trebuchet MS" panose="020B0603020202020204" pitchFamily="34" charset="0"/>
            </a:endParaRPr>
          </a:p>
        </p:txBody>
      </p:sp>
      <p:pic>
        <p:nvPicPr>
          <p:cNvPr id="4" name="Picture 3">
            <a:extLst>
              <a:ext uri="{FF2B5EF4-FFF2-40B4-BE49-F238E27FC236}">
                <a16:creationId xmlns:a16="http://schemas.microsoft.com/office/drawing/2014/main" id="{F9907856-C030-F6AD-267A-A10C6B2AADE0}"/>
              </a:ext>
            </a:extLst>
          </p:cNvPr>
          <p:cNvPicPr>
            <a:picLocks noChangeAspect="1"/>
          </p:cNvPicPr>
          <p:nvPr/>
        </p:nvPicPr>
        <p:blipFill>
          <a:blip r:embed="rId3"/>
          <a:stretch>
            <a:fillRect/>
          </a:stretch>
        </p:blipFill>
        <p:spPr>
          <a:xfrm>
            <a:off x="4800600" y="3124200"/>
            <a:ext cx="3733800" cy="2738120"/>
          </a:xfrm>
          <a:prstGeom prst="rect">
            <a:avLst/>
          </a:prstGeom>
        </p:spPr>
      </p:pic>
    </p:spTree>
    <p:extLst>
      <p:ext uri="{BB962C8B-B14F-4D97-AF65-F5344CB8AC3E}">
        <p14:creationId xmlns:p14="http://schemas.microsoft.com/office/powerpoint/2010/main" val="3714823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6729D9-CA1C-B20C-BF28-CFDEBE53F37D}"/>
              </a:ext>
            </a:extLst>
          </p:cNvPr>
          <p:cNvSpPr txBox="1"/>
          <p:nvPr/>
        </p:nvSpPr>
        <p:spPr>
          <a:xfrm>
            <a:off x="228600" y="533399"/>
            <a:ext cx="8686800" cy="769441"/>
          </a:xfrm>
          <a:prstGeom prst="rect">
            <a:avLst/>
          </a:prstGeom>
          <a:noFill/>
        </p:spPr>
        <p:txBody>
          <a:bodyPr wrap="square" rtlCol="0">
            <a:spAutoFit/>
          </a:bodyPr>
          <a:lstStyle/>
          <a:p>
            <a:pPr algn="ctr"/>
            <a:r>
              <a:rPr lang="en-US" sz="4400" noProof="0" dirty="0">
                <a:solidFill>
                  <a:schemeClr val="accent6">
                    <a:lumMod val="60000"/>
                    <a:lumOff val="40000"/>
                  </a:schemeClr>
                </a:solidFill>
                <a:latin typeface="Trebuchet MS" panose="020B0603020202020204" pitchFamily="34" charset="0"/>
              </a:rPr>
              <a:t>Evolution of Computers</a:t>
            </a:r>
            <a:endParaRPr lang="en-US" sz="4400" dirty="0"/>
          </a:p>
        </p:txBody>
      </p:sp>
      <p:pic>
        <p:nvPicPr>
          <p:cNvPr id="6" name="Picture 5">
            <a:extLst>
              <a:ext uri="{FF2B5EF4-FFF2-40B4-BE49-F238E27FC236}">
                <a16:creationId xmlns:a16="http://schemas.microsoft.com/office/drawing/2014/main" id="{E27F3EF6-C31A-2570-CE9D-5EF2E93213D3}"/>
              </a:ext>
            </a:extLst>
          </p:cNvPr>
          <p:cNvPicPr>
            <a:picLocks noChangeAspect="1"/>
          </p:cNvPicPr>
          <p:nvPr/>
        </p:nvPicPr>
        <p:blipFill rotWithShape="1">
          <a:blip r:embed="rId2"/>
          <a:srcRect l="5104" t="17639" r="5104" b="5190"/>
          <a:stretch/>
        </p:blipFill>
        <p:spPr>
          <a:xfrm>
            <a:off x="0" y="1600200"/>
            <a:ext cx="8934994" cy="2743200"/>
          </a:xfrm>
          <a:prstGeom prst="rect">
            <a:avLst/>
          </a:prstGeom>
        </p:spPr>
      </p:pic>
      <p:pic>
        <p:nvPicPr>
          <p:cNvPr id="8" name="Picture 7">
            <a:extLst>
              <a:ext uri="{FF2B5EF4-FFF2-40B4-BE49-F238E27FC236}">
                <a16:creationId xmlns:a16="http://schemas.microsoft.com/office/drawing/2014/main" id="{ED9E69F8-48F9-AA10-A578-507C47D9274C}"/>
              </a:ext>
            </a:extLst>
          </p:cNvPr>
          <p:cNvPicPr>
            <a:picLocks noChangeAspect="1"/>
          </p:cNvPicPr>
          <p:nvPr/>
        </p:nvPicPr>
        <p:blipFill>
          <a:blip r:embed="rId3"/>
          <a:stretch>
            <a:fillRect/>
          </a:stretch>
        </p:blipFill>
        <p:spPr>
          <a:xfrm>
            <a:off x="1676400" y="3409951"/>
            <a:ext cx="5181600" cy="2914650"/>
          </a:xfrm>
          <a:prstGeom prst="rect">
            <a:avLst/>
          </a:prstGeom>
        </p:spPr>
      </p:pic>
    </p:spTree>
    <p:extLst>
      <p:ext uri="{BB962C8B-B14F-4D97-AF65-F5344CB8AC3E}">
        <p14:creationId xmlns:p14="http://schemas.microsoft.com/office/powerpoint/2010/main" val="219257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A61CD5A-413B-3A46-1FAB-A69536A4678A}"/>
              </a:ext>
            </a:extLst>
          </p:cNvPr>
          <p:cNvPicPr>
            <a:picLocks noChangeAspect="1"/>
          </p:cNvPicPr>
          <p:nvPr/>
        </p:nvPicPr>
        <p:blipFill>
          <a:blip r:embed="rId2"/>
          <a:stretch>
            <a:fillRect/>
          </a:stretch>
        </p:blipFill>
        <p:spPr>
          <a:xfrm>
            <a:off x="8206" y="2209800"/>
            <a:ext cx="9144000" cy="3835950"/>
          </a:xfrm>
          <a:prstGeom prst="rect">
            <a:avLst/>
          </a:prstGeom>
        </p:spPr>
      </p:pic>
      <p:sp>
        <p:nvSpPr>
          <p:cNvPr id="9" name="TextBox 8">
            <a:extLst>
              <a:ext uri="{FF2B5EF4-FFF2-40B4-BE49-F238E27FC236}">
                <a16:creationId xmlns:a16="http://schemas.microsoft.com/office/drawing/2014/main" id="{E7660044-B1CB-DD79-21AE-B93006E84024}"/>
              </a:ext>
            </a:extLst>
          </p:cNvPr>
          <p:cNvSpPr txBox="1"/>
          <p:nvPr/>
        </p:nvSpPr>
        <p:spPr>
          <a:xfrm>
            <a:off x="236806" y="782942"/>
            <a:ext cx="8686800" cy="769441"/>
          </a:xfrm>
          <a:prstGeom prst="rect">
            <a:avLst/>
          </a:prstGeom>
          <a:noFill/>
        </p:spPr>
        <p:txBody>
          <a:bodyPr wrap="square" rtlCol="0">
            <a:spAutoFit/>
          </a:bodyPr>
          <a:lstStyle/>
          <a:p>
            <a:pPr algn="ctr"/>
            <a:r>
              <a:rPr lang="en-US" sz="4400" noProof="0" dirty="0">
                <a:solidFill>
                  <a:schemeClr val="accent6">
                    <a:lumMod val="60000"/>
                    <a:lumOff val="40000"/>
                  </a:schemeClr>
                </a:solidFill>
                <a:latin typeface="Trebuchet MS" panose="020B0603020202020204" pitchFamily="34" charset="0"/>
              </a:rPr>
              <a:t>Classification of Computers</a:t>
            </a:r>
            <a:endParaRPr lang="en-US" sz="4400" dirty="0"/>
          </a:p>
        </p:txBody>
      </p:sp>
    </p:spTree>
    <p:extLst>
      <p:ext uri="{BB962C8B-B14F-4D97-AF65-F5344CB8AC3E}">
        <p14:creationId xmlns:p14="http://schemas.microsoft.com/office/powerpoint/2010/main" val="3056856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06FDC3F-772D-830A-5A5C-57655F7728A3}"/>
              </a:ext>
            </a:extLst>
          </p:cNvPr>
          <p:cNvSpPr txBox="1"/>
          <p:nvPr/>
        </p:nvSpPr>
        <p:spPr>
          <a:xfrm>
            <a:off x="152400" y="795278"/>
            <a:ext cx="8458200" cy="2862322"/>
          </a:xfrm>
          <a:prstGeom prst="rect">
            <a:avLst/>
          </a:prstGeom>
          <a:noFill/>
        </p:spPr>
        <p:txBody>
          <a:bodyPr wrap="square">
            <a:spAutoFit/>
          </a:bodyPr>
          <a:lstStyle/>
          <a:p>
            <a:r>
              <a:rPr lang="en-US" sz="4000" noProof="0" dirty="0">
                <a:solidFill>
                  <a:schemeClr val="accent6">
                    <a:lumMod val="60000"/>
                    <a:lumOff val="40000"/>
                  </a:schemeClr>
                </a:solidFill>
                <a:latin typeface="+mj-lt"/>
              </a:rPr>
              <a:t>Computer Science</a:t>
            </a:r>
            <a:br>
              <a:rPr lang="en-US" noProof="0" dirty="0"/>
            </a:br>
            <a:r>
              <a:rPr lang="en-US" sz="2800" b="0" i="0" dirty="0">
                <a:solidFill>
                  <a:srgbClr val="333333"/>
                </a:solidFill>
                <a:effectLst/>
                <a:latin typeface="Trebuchet MS" panose="020B0603020202020204" pitchFamily="34" charset="0"/>
              </a:rPr>
              <a:t>Computer science is the study of computers, including computational theory, hardware and software design, algorithms and the way humans interact with technology.</a:t>
            </a:r>
            <a:br>
              <a:rPr lang="en-US" sz="2800" noProof="0" dirty="0">
                <a:latin typeface="Trebuchet MS" panose="020B0603020202020204" pitchFamily="34" charset="0"/>
              </a:rPr>
            </a:br>
            <a:endParaRPr lang="en-US" dirty="0"/>
          </a:p>
        </p:txBody>
      </p:sp>
      <p:pic>
        <p:nvPicPr>
          <p:cNvPr id="8" name="Picture 7">
            <a:extLst>
              <a:ext uri="{FF2B5EF4-FFF2-40B4-BE49-F238E27FC236}">
                <a16:creationId xmlns:a16="http://schemas.microsoft.com/office/drawing/2014/main" id="{40DF4222-08FC-94BC-05E0-040DEAD858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5420" y="3587246"/>
            <a:ext cx="4951456" cy="2862322"/>
          </a:xfrm>
          <a:prstGeom prst="rect">
            <a:avLst/>
          </a:prstGeom>
          <a:solidFill>
            <a:schemeClr val="tx2">
              <a:lumMod val="75000"/>
            </a:schemeClr>
          </a:solidFill>
        </p:spPr>
      </p:pic>
    </p:spTree>
    <p:extLst>
      <p:ext uri="{BB962C8B-B14F-4D97-AF65-F5344CB8AC3E}">
        <p14:creationId xmlns:p14="http://schemas.microsoft.com/office/powerpoint/2010/main" val="2760193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C033B2-946F-0E28-4F2E-08F539F1A85F}"/>
              </a:ext>
            </a:extLst>
          </p:cNvPr>
          <p:cNvPicPr>
            <a:picLocks noChangeAspect="1"/>
          </p:cNvPicPr>
          <p:nvPr/>
        </p:nvPicPr>
        <p:blipFill>
          <a:blip r:embed="rId3"/>
          <a:stretch>
            <a:fillRect/>
          </a:stretch>
        </p:blipFill>
        <p:spPr>
          <a:xfrm>
            <a:off x="365630" y="1066800"/>
            <a:ext cx="8412739" cy="4953000"/>
          </a:xfrm>
          <a:prstGeom prst="rect">
            <a:avLst/>
          </a:prstGeom>
        </p:spPr>
      </p:pic>
    </p:spTree>
    <p:extLst>
      <p:ext uri="{BB962C8B-B14F-4D97-AF65-F5344CB8AC3E}">
        <p14:creationId xmlns:p14="http://schemas.microsoft.com/office/powerpoint/2010/main" val="4001633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en-US" i="0" dirty="0">
                <a:solidFill>
                  <a:srgbClr val="000000"/>
                </a:solidFill>
                <a:effectLst/>
                <a:latin typeface="Trebuchet MS" panose="020B0603020202020204" pitchFamily="34" charset="0"/>
              </a:rPr>
              <a:t>Basic Computer Terminologies</a:t>
            </a:r>
          </a:p>
        </p:txBody>
      </p:sp>
      <p:sp>
        <p:nvSpPr>
          <p:cNvPr id="3" name="Espace réservé du contenu 2"/>
          <p:cNvSpPr>
            <a:spLocks noGrp="1"/>
          </p:cNvSpPr>
          <p:nvPr>
            <p:ph idx="1"/>
          </p:nvPr>
        </p:nvSpPr>
        <p:spPr>
          <a:xfrm>
            <a:off x="152400" y="1219200"/>
            <a:ext cx="8686800" cy="4953000"/>
          </a:xfrm>
        </p:spPr>
        <p:txBody>
          <a:bodyPr/>
          <a:lstStyle/>
          <a:p>
            <a:pPr marL="0" indent="0">
              <a:buNone/>
            </a:pPr>
            <a:endParaRPr lang="en-US" sz="2400" b="1" dirty="0">
              <a:solidFill>
                <a:srgbClr val="000000"/>
              </a:solidFill>
              <a:latin typeface="Open Sans" panose="020B0606030504020204" pitchFamily="34" charset="0"/>
            </a:endParaRPr>
          </a:p>
          <a:p>
            <a:pPr algn="just"/>
            <a:r>
              <a:rPr lang="en-US" sz="2400" b="1" i="0" dirty="0">
                <a:solidFill>
                  <a:srgbClr val="000000"/>
                </a:solidFill>
                <a:effectLst/>
                <a:latin typeface="Open Sans" panose="020B0606030504020204" pitchFamily="34" charset="0"/>
              </a:rPr>
              <a:t> </a:t>
            </a:r>
            <a:r>
              <a:rPr lang="en-US" sz="2400" b="1" i="0" dirty="0">
                <a:solidFill>
                  <a:srgbClr val="000000"/>
                </a:solidFill>
                <a:effectLst/>
                <a:latin typeface="Trebuchet MS" panose="020B0603020202020204" pitchFamily="34" charset="0"/>
              </a:rPr>
              <a:t>CPU</a:t>
            </a:r>
            <a:endParaRPr lang="en-US" sz="2400" b="0" i="0" dirty="0">
              <a:solidFill>
                <a:srgbClr val="000000"/>
              </a:solidFill>
              <a:effectLst/>
              <a:latin typeface="Trebuchet MS" panose="020B0603020202020204" pitchFamily="34" charset="0"/>
            </a:endParaRPr>
          </a:p>
          <a:p>
            <a:pPr marL="0" indent="0" algn="just">
              <a:buNone/>
            </a:pPr>
            <a:r>
              <a:rPr lang="en-US" sz="2400" b="0" i="0" dirty="0">
                <a:effectLst/>
                <a:latin typeface="Minion Pro"/>
              </a:rPr>
              <a:t>            CPU </a:t>
            </a:r>
            <a:r>
              <a:rPr lang="en-US" sz="2400" i="0" dirty="0">
                <a:effectLst/>
                <a:latin typeface="Minion Pro"/>
              </a:rPr>
              <a:t>means </a:t>
            </a:r>
            <a:r>
              <a:rPr lang="en-US" sz="2400" b="1" i="0" dirty="0">
                <a:effectLst/>
                <a:latin typeface="Minion Pro"/>
              </a:rPr>
              <a:t>‘Central Processing Unit’</a:t>
            </a:r>
            <a:r>
              <a:rPr lang="en-US" sz="2400" i="0" dirty="0">
                <a:effectLst/>
                <a:latin typeface="Minion Pro"/>
              </a:rPr>
              <a:t>. </a:t>
            </a:r>
            <a:r>
              <a:rPr lang="en-US" sz="2400" b="0" i="0" dirty="0">
                <a:effectLst/>
                <a:latin typeface="Minion Pro"/>
              </a:rPr>
              <a:t>This is the place of   </a:t>
            </a:r>
          </a:p>
          <a:p>
            <a:pPr marL="0" indent="0" algn="just">
              <a:buNone/>
            </a:pPr>
            <a:r>
              <a:rPr lang="en-US" sz="2400" b="0" i="0" dirty="0">
                <a:effectLst/>
                <a:latin typeface="Minion Pro"/>
              </a:rPr>
              <a:t>            computer data handling. Moreover, it does all the data</a:t>
            </a:r>
          </a:p>
          <a:p>
            <a:pPr marL="0" indent="0" algn="just">
              <a:buNone/>
            </a:pPr>
            <a:r>
              <a:rPr lang="en-US" sz="2400" b="0" i="0" dirty="0">
                <a:effectLst/>
                <a:latin typeface="Minion Pro"/>
              </a:rPr>
              <a:t>            manipulation, calculations and formatting data for output.</a:t>
            </a:r>
          </a:p>
          <a:p>
            <a:pPr algn="just"/>
            <a:r>
              <a:rPr lang="en-US" sz="2400" b="1" i="0" dirty="0">
                <a:solidFill>
                  <a:srgbClr val="000000"/>
                </a:solidFill>
                <a:effectLst/>
                <a:latin typeface="Trebuchet MS" panose="020B0603020202020204" pitchFamily="34" charset="0"/>
              </a:rPr>
              <a:t>RAM</a:t>
            </a:r>
            <a:endParaRPr lang="en-US" sz="2400" b="0" i="0" dirty="0">
              <a:solidFill>
                <a:srgbClr val="000000"/>
              </a:solidFill>
              <a:effectLst/>
              <a:latin typeface="Trebuchet MS" panose="020B0603020202020204" pitchFamily="34" charset="0"/>
            </a:endParaRPr>
          </a:p>
          <a:p>
            <a:pPr marL="0" indent="0" algn="just">
              <a:buNone/>
            </a:pPr>
            <a:r>
              <a:rPr lang="en-US" sz="2400" b="0" i="0" dirty="0">
                <a:effectLst/>
                <a:latin typeface="Minion Pro"/>
              </a:rPr>
              <a:t>	Specifically, RAM stands for </a:t>
            </a:r>
            <a:r>
              <a:rPr lang="en-US" sz="2400" b="1" i="0" dirty="0">
                <a:effectLst/>
                <a:latin typeface="Minion Pro"/>
              </a:rPr>
              <a:t>“Random Access Memory” </a:t>
            </a:r>
            <a:r>
              <a:rPr lang="en-US" sz="2400" b="0" i="0" dirty="0">
                <a:effectLst/>
                <a:latin typeface="Minion Pro"/>
              </a:rPr>
              <a:t>or 	“Ready Access Memory”. It is a temporary notepad where 	your computer sends information to disk, or to the storage 	place of instructions from other input devices.</a:t>
            </a:r>
            <a:br>
              <a:rPr lang="en-US" sz="1600" dirty="0"/>
            </a:br>
            <a:endParaRPr lang="en-US" sz="2400" noProof="0" dirty="0"/>
          </a:p>
        </p:txBody>
      </p:sp>
    </p:spTree>
    <p:extLst>
      <p:ext uri="{BB962C8B-B14F-4D97-AF65-F5344CB8AC3E}">
        <p14:creationId xmlns:p14="http://schemas.microsoft.com/office/powerpoint/2010/main" val="330916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en-US" i="0" dirty="0">
                <a:solidFill>
                  <a:srgbClr val="000000"/>
                </a:solidFill>
                <a:effectLst/>
                <a:latin typeface="Trebuchet MS" panose="020B0603020202020204" pitchFamily="34" charset="0"/>
              </a:rPr>
              <a:t>Basic Computer Terminologies</a:t>
            </a:r>
          </a:p>
        </p:txBody>
      </p:sp>
      <p:sp>
        <p:nvSpPr>
          <p:cNvPr id="3" name="Espace réservé du contenu 2"/>
          <p:cNvSpPr>
            <a:spLocks noGrp="1"/>
          </p:cNvSpPr>
          <p:nvPr>
            <p:ph idx="1"/>
          </p:nvPr>
        </p:nvSpPr>
        <p:spPr>
          <a:xfrm>
            <a:off x="152400" y="1219200"/>
            <a:ext cx="8686800" cy="4953000"/>
          </a:xfrm>
        </p:spPr>
        <p:txBody>
          <a:bodyPr/>
          <a:lstStyle/>
          <a:p>
            <a:pPr marL="0" indent="0">
              <a:buNone/>
            </a:pPr>
            <a:endParaRPr lang="en-US" sz="2400" b="1" dirty="0">
              <a:solidFill>
                <a:srgbClr val="000000"/>
              </a:solidFill>
              <a:latin typeface="Open Sans" panose="020B0606030504020204" pitchFamily="34" charset="0"/>
            </a:endParaRPr>
          </a:p>
          <a:p>
            <a:pPr algn="l"/>
            <a:r>
              <a:rPr lang="en-US" sz="2400" b="1" i="0" dirty="0">
                <a:solidFill>
                  <a:srgbClr val="000000"/>
                </a:solidFill>
                <a:effectLst/>
                <a:latin typeface="Open Sans" panose="020B0606030504020204" pitchFamily="34" charset="0"/>
              </a:rPr>
              <a:t> </a:t>
            </a:r>
            <a:r>
              <a:rPr lang="en-US" sz="2400" b="1" i="0" dirty="0">
                <a:solidFill>
                  <a:srgbClr val="000000"/>
                </a:solidFill>
                <a:effectLst/>
                <a:latin typeface="Trebuchet MS" panose="020B0603020202020204" pitchFamily="34" charset="0"/>
              </a:rPr>
              <a:t>Hard-disk Drive</a:t>
            </a:r>
          </a:p>
          <a:p>
            <a:pPr marL="0" indent="0" algn="l">
              <a:buNone/>
            </a:pPr>
            <a:r>
              <a:rPr lang="en-US" sz="2400" b="1" dirty="0">
                <a:solidFill>
                  <a:srgbClr val="000000"/>
                </a:solidFill>
                <a:latin typeface="Open Sans" panose="020B0606030504020204" pitchFamily="34" charset="0"/>
              </a:rPr>
              <a:t>	</a:t>
            </a:r>
            <a:r>
              <a:rPr lang="en-US" sz="2400" b="0" i="0" dirty="0">
                <a:effectLst/>
                <a:latin typeface="Minion Pro"/>
              </a:rPr>
              <a:t>Your computers hard disk drive is like an audio CD that you 	possess at home – except your computer can read and write 	to it. In other words, your computer can take data from your 	hard drive (to process it in the CPU or place it in RAM to 	work with).</a:t>
            </a:r>
          </a:p>
          <a:p>
            <a:pPr algn="l"/>
            <a:r>
              <a:rPr lang="en-US" sz="2400" b="1" i="0" dirty="0">
                <a:solidFill>
                  <a:srgbClr val="000000"/>
                </a:solidFill>
                <a:effectLst/>
                <a:latin typeface="Trebuchet MS" panose="020B0603020202020204" pitchFamily="34" charset="0"/>
              </a:rPr>
              <a:t>Hardware</a:t>
            </a:r>
            <a:endParaRPr lang="en-US" sz="2400" b="0" i="0" dirty="0">
              <a:solidFill>
                <a:srgbClr val="000000"/>
              </a:solidFill>
              <a:effectLst/>
              <a:latin typeface="Trebuchet MS" panose="020B0603020202020204" pitchFamily="34" charset="0"/>
            </a:endParaRPr>
          </a:p>
          <a:p>
            <a:pPr marL="0" indent="0" algn="l">
              <a:buNone/>
            </a:pPr>
            <a:r>
              <a:rPr lang="en-US" sz="2400" b="0" i="0" dirty="0">
                <a:effectLst/>
                <a:latin typeface="Minion Pro"/>
              </a:rPr>
              <a:t>	Hardware is the term referring to all the physical parts in a 	computer system. It includes the monitor, the keyboard, the 	mouse, the main case which stores the RAM, CPU and the 	motherboard.</a:t>
            </a:r>
          </a:p>
        </p:txBody>
      </p:sp>
    </p:spTree>
    <p:extLst>
      <p:ext uri="{BB962C8B-B14F-4D97-AF65-F5344CB8AC3E}">
        <p14:creationId xmlns:p14="http://schemas.microsoft.com/office/powerpoint/2010/main" val="3755472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en-US" i="0" dirty="0">
                <a:solidFill>
                  <a:srgbClr val="000000"/>
                </a:solidFill>
                <a:effectLst/>
                <a:latin typeface="Trebuchet MS" panose="020B0603020202020204" pitchFamily="34" charset="0"/>
              </a:rPr>
              <a:t>Basic Computer Terminologies</a:t>
            </a:r>
          </a:p>
        </p:txBody>
      </p:sp>
      <p:sp>
        <p:nvSpPr>
          <p:cNvPr id="3" name="Espace réservé du contenu 2"/>
          <p:cNvSpPr>
            <a:spLocks noGrp="1"/>
          </p:cNvSpPr>
          <p:nvPr>
            <p:ph idx="1"/>
          </p:nvPr>
        </p:nvSpPr>
        <p:spPr>
          <a:xfrm>
            <a:off x="152400" y="1219200"/>
            <a:ext cx="8686800" cy="4953000"/>
          </a:xfrm>
        </p:spPr>
        <p:txBody>
          <a:bodyPr/>
          <a:lstStyle/>
          <a:p>
            <a:pPr marL="0" indent="0">
              <a:buNone/>
            </a:pPr>
            <a:endParaRPr lang="en-US" sz="2400" b="1" dirty="0">
              <a:solidFill>
                <a:srgbClr val="000000"/>
              </a:solidFill>
              <a:latin typeface="Open Sans" panose="020B0606030504020204" pitchFamily="34" charset="0"/>
            </a:endParaRPr>
          </a:p>
          <a:p>
            <a:pPr marL="0" indent="0" algn="l">
              <a:buNone/>
            </a:pPr>
            <a:r>
              <a:rPr lang="en-US" sz="2400" b="1" i="0" dirty="0">
                <a:solidFill>
                  <a:srgbClr val="000000"/>
                </a:solidFill>
                <a:effectLst/>
                <a:latin typeface="Open Sans" panose="020B0606030504020204" pitchFamily="34" charset="0"/>
              </a:rPr>
              <a:t> </a:t>
            </a:r>
          </a:p>
          <a:p>
            <a:pPr algn="just"/>
            <a:r>
              <a:rPr lang="en-US" sz="2400" b="1" i="0" dirty="0">
                <a:solidFill>
                  <a:srgbClr val="000000"/>
                </a:solidFill>
                <a:effectLst/>
                <a:latin typeface="Open Sans" panose="020B0606030504020204" pitchFamily="34" charset="0"/>
              </a:rPr>
              <a:t>Software</a:t>
            </a:r>
            <a:endParaRPr lang="en-US" sz="2400" b="0" i="0" dirty="0">
              <a:solidFill>
                <a:srgbClr val="000000"/>
              </a:solidFill>
              <a:effectLst/>
              <a:latin typeface="Open Sans" panose="020B0606030504020204" pitchFamily="34" charset="0"/>
            </a:endParaRPr>
          </a:p>
          <a:p>
            <a:pPr marL="0" indent="0" algn="just">
              <a:buNone/>
            </a:pPr>
            <a:r>
              <a:rPr lang="en-US" sz="2400" b="0" i="0" dirty="0">
                <a:effectLst/>
                <a:latin typeface="Minion Pro"/>
              </a:rPr>
              <a:t>	‘Software’ is the term which refers to the instructions 	needed to make a computer work. It is intangible in nature. 	The software is also known as a “program”. Also, it is a set of 	computer files which are used to perform various actions on 	the computer.</a:t>
            </a:r>
            <a:r>
              <a:rPr lang="en-US" sz="2400" dirty="0">
                <a:latin typeface="Minion Pro"/>
              </a:rPr>
              <a:t> Google Chrome, MS Office, Gmail, Facebook </a:t>
            </a:r>
          </a:p>
          <a:p>
            <a:pPr marL="0" indent="0" algn="just">
              <a:buNone/>
            </a:pPr>
            <a:r>
              <a:rPr lang="en-US" sz="2400" b="0" i="0" dirty="0">
                <a:effectLst/>
                <a:latin typeface="Minion Pro"/>
              </a:rPr>
              <a:t>	are examples of soft</a:t>
            </a:r>
            <a:r>
              <a:rPr lang="en-US" sz="2400" dirty="0">
                <a:latin typeface="Minion Pro"/>
              </a:rPr>
              <a:t>ware.</a:t>
            </a:r>
            <a:endParaRPr lang="en-US" sz="2400" b="0" i="0" dirty="0">
              <a:effectLst/>
              <a:latin typeface="Minion Pro"/>
            </a:endParaRPr>
          </a:p>
        </p:txBody>
      </p:sp>
    </p:spTree>
    <p:extLst>
      <p:ext uri="{BB962C8B-B14F-4D97-AF65-F5344CB8AC3E}">
        <p14:creationId xmlns:p14="http://schemas.microsoft.com/office/powerpoint/2010/main" val="129566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en-US" i="0" dirty="0">
                <a:solidFill>
                  <a:srgbClr val="000000"/>
                </a:solidFill>
                <a:effectLst/>
                <a:latin typeface="Trebuchet MS" panose="020B0603020202020204" pitchFamily="34" charset="0"/>
              </a:rPr>
              <a:t>Basic Computer Terminologies</a:t>
            </a:r>
          </a:p>
        </p:txBody>
      </p:sp>
      <p:sp>
        <p:nvSpPr>
          <p:cNvPr id="3" name="Espace réservé du contenu 2"/>
          <p:cNvSpPr>
            <a:spLocks noGrp="1"/>
          </p:cNvSpPr>
          <p:nvPr>
            <p:ph idx="1"/>
          </p:nvPr>
        </p:nvSpPr>
        <p:spPr>
          <a:xfrm>
            <a:off x="152400" y="762000"/>
            <a:ext cx="8686800" cy="5410200"/>
          </a:xfrm>
        </p:spPr>
        <p:txBody>
          <a:bodyPr/>
          <a:lstStyle/>
          <a:p>
            <a:pPr marL="0" indent="0" algn="l">
              <a:buNone/>
            </a:pPr>
            <a:endParaRPr lang="en-US" sz="2400" b="1" dirty="0">
              <a:solidFill>
                <a:srgbClr val="000000"/>
              </a:solidFill>
              <a:latin typeface="Open Sans" panose="020B0606030504020204" pitchFamily="34" charset="0"/>
            </a:endParaRPr>
          </a:p>
          <a:p>
            <a:pPr marL="0" indent="0" algn="l">
              <a:buNone/>
            </a:pPr>
            <a:endParaRPr lang="en-US" sz="2400" b="1" i="0" dirty="0">
              <a:solidFill>
                <a:srgbClr val="000000"/>
              </a:solidFill>
              <a:effectLst/>
              <a:latin typeface="Open Sans" panose="020B0606030504020204" pitchFamily="34" charset="0"/>
            </a:endParaRPr>
          </a:p>
          <a:p>
            <a:pPr marL="0" indent="0" algn="l">
              <a:buNone/>
            </a:pPr>
            <a:endParaRPr lang="en-US" sz="2400" b="1" i="0" dirty="0">
              <a:solidFill>
                <a:srgbClr val="000000"/>
              </a:solidFill>
              <a:effectLst/>
              <a:latin typeface="Open Sans" panose="020B0606030504020204" pitchFamily="34" charset="0"/>
            </a:endParaRPr>
          </a:p>
          <a:p>
            <a:pPr marL="0" indent="0" algn="l">
              <a:buNone/>
            </a:pPr>
            <a:endParaRPr lang="en-US" sz="2400" b="1" i="0" dirty="0">
              <a:solidFill>
                <a:srgbClr val="000000"/>
              </a:solidFill>
              <a:effectLst/>
              <a:latin typeface="Open Sans" panose="020B0606030504020204" pitchFamily="34" charset="0"/>
            </a:endParaRPr>
          </a:p>
        </p:txBody>
      </p:sp>
      <p:graphicFrame>
        <p:nvGraphicFramePr>
          <p:cNvPr id="4" name="Diagram 3">
            <a:extLst>
              <a:ext uri="{FF2B5EF4-FFF2-40B4-BE49-F238E27FC236}">
                <a16:creationId xmlns:a16="http://schemas.microsoft.com/office/drawing/2014/main" id="{68FEFAC6-244B-25D1-C973-8B4EAC6E20F0}"/>
              </a:ext>
            </a:extLst>
          </p:cNvPr>
          <p:cNvGraphicFramePr/>
          <p:nvPr>
            <p:extLst>
              <p:ext uri="{D42A27DB-BD31-4B8C-83A1-F6EECF244321}">
                <p14:modId xmlns:p14="http://schemas.microsoft.com/office/powerpoint/2010/main" val="2615642069"/>
              </p:ext>
            </p:extLst>
          </p:nvPr>
        </p:nvGraphicFramePr>
        <p:xfrm>
          <a:off x="609600" y="1600200"/>
          <a:ext cx="74676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3402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52400" y="1219200"/>
            <a:ext cx="8686800" cy="4953000"/>
          </a:xfrm>
        </p:spPr>
        <p:txBody>
          <a:bodyPr/>
          <a:lstStyle/>
          <a:p>
            <a:pPr marL="0" indent="0">
              <a:buNone/>
            </a:pPr>
            <a:endParaRPr lang="en-US" sz="2400" b="1" dirty="0">
              <a:solidFill>
                <a:srgbClr val="000000"/>
              </a:solidFill>
              <a:latin typeface="Open Sans" panose="020B0606030504020204" pitchFamily="34" charset="0"/>
            </a:endParaRPr>
          </a:p>
          <a:p>
            <a:pPr marL="0" indent="0" algn="l">
              <a:buNone/>
            </a:pPr>
            <a:endParaRPr lang="en-US" sz="2400" b="1" i="0" dirty="0">
              <a:solidFill>
                <a:srgbClr val="000000"/>
              </a:solidFill>
              <a:effectLst/>
              <a:latin typeface="Open Sans" panose="020B0606030504020204" pitchFamily="34" charset="0"/>
            </a:endParaRPr>
          </a:p>
          <a:p>
            <a:pPr marL="0" indent="0" algn="l">
              <a:buNone/>
            </a:pPr>
            <a:endParaRPr lang="en-US" sz="2400" b="1" i="0" dirty="0">
              <a:solidFill>
                <a:srgbClr val="000000"/>
              </a:solidFill>
              <a:effectLst/>
              <a:latin typeface="Open Sans" panose="020B0606030504020204" pitchFamily="34" charset="0"/>
            </a:endParaRPr>
          </a:p>
          <a:p>
            <a:pPr marL="0" indent="0" algn="l">
              <a:buNone/>
            </a:pPr>
            <a:endParaRPr lang="en-US" sz="2400" b="1" i="0" dirty="0">
              <a:solidFill>
                <a:srgbClr val="000000"/>
              </a:solidFill>
              <a:effectLst/>
              <a:latin typeface="Open Sans" panose="020B0606030504020204" pitchFamily="34" charset="0"/>
            </a:endParaRPr>
          </a:p>
        </p:txBody>
      </p:sp>
      <p:pic>
        <p:nvPicPr>
          <p:cNvPr id="1026" name="Picture 2">
            <a:extLst>
              <a:ext uri="{FF2B5EF4-FFF2-40B4-BE49-F238E27FC236}">
                <a16:creationId xmlns:a16="http://schemas.microsoft.com/office/drawing/2014/main" id="{F5EA2E88-201B-6003-6747-AD1C0B6CCF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33" b="8314"/>
          <a:stretch/>
        </p:blipFill>
        <p:spPr bwMode="auto">
          <a:xfrm>
            <a:off x="1633783" y="360696"/>
            <a:ext cx="5876434" cy="6136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412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z="4000" b="1" i="0" dirty="0">
                <a:solidFill>
                  <a:srgbClr val="000000"/>
                </a:solidFill>
                <a:effectLst/>
                <a:latin typeface="+mn-lt"/>
              </a:rPr>
              <a:t>Computer Languages</a:t>
            </a:r>
            <a:endParaRPr lang="en-US" i="0" dirty="0">
              <a:solidFill>
                <a:srgbClr val="000000"/>
              </a:solidFill>
              <a:effectLst/>
              <a:latin typeface="+mn-lt"/>
            </a:endParaRPr>
          </a:p>
        </p:txBody>
      </p:sp>
      <p:sp>
        <p:nvSpPr>
          <p:cNvPr id="3" name="Espace réservé du contenu 2"/>
          <p:cNvSpPr>
            <a:spLocks noGrp="1"/>
          </p:cNvSpPr>
          <p:nvPr>
            <p:ph idx="1"/>
          </p:nvPr>
        </p:nvSpPr>
        <p:spPr>
          <a:xfrm>
            <a:off x="152400" y="952500"/>
            <a:ext cx="8686800" cy="4953000"/>
          </a:xfrm>
        </p:spPr>
        <p:txBody>
          <a:bodyPr/>
          <a:lstStyle/>
          <a:p>
            <a:pPr marL="0" indent="0">
              <a:buNone/>
            </a:pPr>
            <a:endParaRPr lang="en-US" sz="2400" b="1" dirty="0">
              <a:solidFill>
                <a:srgbClr val="000000"/>
              </a:solidFill>
              <a:latin typeface="Open Sans" panose="020B0606030504020204" pitchFamily="34" charset="0"/>
            </a:endParaRPr>
          </a:p>
          <a:p>
            <a:pPr marL="0" indent="0" algn="just">
              <a:buNone/>
            </a:pPr>
            <a:r>
              <a:rPr lang="en-US" b="0" i="0" dirty="0">
                <a:effectLst/>
                <a:latin typeface="Minion Pro"/>
              </a:rPr>
              <a:t>The user of a computer must be able to communicate with it. That means, he must be able to give the computer commands and understand the output that the computer generates. This is possible due to the invention of computer languages.</a:t>
            </a:r>
          </a:p>
        </p:txBody>
      </p:sp>
      <p:pic>
        <p:nvPicPr>
          <p:cNvPr id="5" name="Picture 4">
            <a:extLst>
              <a:ext uri="{FF2B5EF4-FFF2-40B4-BE49-F238E27FC236}">
                <a16:creationId xmlns:a16="http://schemas.microsoft.com/office/drawing/2014/main" id="{CF322F79-A9A7-3810-ECD8-600F616F32A0}"/>
              </a:ext>
            </a:extLst>
          </p:cNvPr>
          <p:cNvPicPr>
            <a:picLocks noChangeAspect="1"/>
          </p:cNvPicPr>
          <p:nvPr/>
        </p:nvPicPr>
        <p:blipFill>
          <a:blip r:embed="rId2"/>
          <a:stretch>
            <a:fillRect/>
          </a:stretch>
        </p:blipFill>
        <p:spPr>
          <a:xfrm>
            <a:off x="2426494" y="3695700"/>
            <a:ext cx="4138612" cy="2843388"/>
          </a:xfrm>
          <a:prstGeom prst="rect">
            <a:avLst/>
          </a:prstGeom>
        </p:spPr>
      </p:pic>
    </p:spTree>
    <p:extLst>
      <p:ext uri="{BB962C8B-B14F-4D97-AF65-F5344CB8AC3E}">
        <p14:creationId xmlns:p14="http://schemas.microsoft.com/office/powerpoint/2010/main" val="3216907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1D42C57-368A-8308-CDC9-51247D97AC15}"/>
              </a:ext>
            </a:extLst>
          </p:cNvPr>
          <p:cNvPicPr>
            <a:picLocks noChangeAspect="1"/>
          </p:cNvPicPr>
          <p:nvPr/>
        </p:nvPicPr>
        <p:blipFill>
          <a:blip r:embed="rId3"/>
          <a:stretch>
            <a:fillRect/>
          </a:stretch>
        </p:blipFill>
        <p:spPr>
          <a:xfrm>
            <a:off x="0" y="1447800"/>
            <a:ext cx="9384992" cy="4903292"/>
          </a:xfrm>
          <a:prstGeom prst="rect">
            <a:avLst/>
          </a:prstGeom>
        </p:spPr>
      </p:pic>
      <p:sp>
        <p:nvSpPr>
          <p:cNvPr id="12" name="Titre 1">
            <a:extLst>
              <a:ext uri="{FF2B5EF4-FFF2-40B4-BE49-F238E27FC236}">
                <a16:creationId xmlns:a16="http://schemas.microsoft.com/office/drawing/2014/main" id="{766917E2-9488-450B-7CA7-96B70A061C1E}"/>
              </a:ext>
            </a:extLst>
          </p:cNvPr>
          <p:cNvSpPr>
            <a:spLocks noGrp="1"/>
          </p:cNvSpPr>
          <p:nvPr>
            <p:ph type="title"/>
          </p:nvPr>
        </p:nvSpPr>
        <p:spPr>
          <a:xfrm>
            <a:off x="152400" y="457200"/>
            <a:ext cx="8229600" cy="990600"/>
          </a:xfrm>
        </p:spPr>
        <p:txBody>
          <a:bodyPr/>
          <a:lstStyle/>
          <a:p>
            <a:pPr algn="ctr"/>
            <a:r>
              <a:rPr lang="en-US" sz="4000" b="1" i="0" dirty="0">
                <a:solidFill>
                  <a:srgbClr val="000000"/>
                </a:solidFill>
                <a:effectLst/>
                <a:latin typeface="+mn-lt"/>
              </a:rPr>
              <a:t>Technology Trends in 2022</a:t>
            </a:r>
            <a:endParaRPr lang="en-US" i="0" dirty="0">
              <a:solidFill>
                <a:srgbClr val="000000"/>
              </a:solidFill>
              <a:effectLst/>
              <a:latin typeface="+mn-lt"/>
            </a:endParaRPr>
          </a:p>
        </p:txBody>
      </p:sp>
    </p:spTree>
    <p:extLst>
      <p:ext uri="{BB962C8B-B14F-4D97-AF65-F5344CB8AC3E}">
        <p14:creationId xmlns:p14="http://schemas.microsoft.com/office/powerpoint/2010/main" val="666421695"/>
      </p:ext>
    </p:extLst>
  </p:cSld>
  <p:clrMapOvr>
    <a:masterClrMapping/>
  </p:clrMapOvr>
</p:sld>
</file>

<file path=ppt/theme/theme1.xml><?xml version="1.0" encoding="utf-8"?>
<a:theme xmlns:a="http://schemas.openxmlformats.org/drawingml/2006/main" name="Lecture1 Course Overview">
  <a:themeElements>
    <a:clrScheme name="Lecture1 Course Overview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cture1 Course Overview">
      <a:majorFont>
        <a:latin typeface="Trebuchet MS"/>
        <a:ea typeface="ＭＳ Ｐゴシック"/>
        <a:cs typeface=""/>
      </a:majorFont>
      <a:minorFont>
        <a:latin typeface="Trebuchet MS"/>
        <a:ea typeface="ＭＳ Ｐゴシック"/>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Lecture1 Course Overview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cture1 Course Overview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cture1 Course Overview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cture1 Course Overview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cture1 Course Overview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cture1 Course Overview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cture1 Course Overview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cture1 Course Overview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cture1 Course Overview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cture1 Course Overview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cture1 Course Overview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cture1 Course Overview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9126</TotalTime>
  <Words>1453</Words>
  <Application>Microsoft Office PowerPoint</Application>
  <PresentationFormat>On-screen Show (4:3)</PresentationFormat>
  <Paragraphs>150</Paragraphs>
  <Slides>23</Slides>
  <Notes>8</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0</vt:i4>
      </vt:variant>
      <vt:variant>
        <vt:lpstr>Slide Titles</vt:lpstr>
      </vt:variant>
      <vt:variant>
        <vt:i4>23</vt:i4>
      </vt:variant>
    </vt:vector>
  </HeadingPairs>
  <TitlesOfParts>
    <vt:vector size="34" baseType="lpstr">
      <vt:lpstr>Arial</vt:lpstr>
      <vt:lpstr>Arial</vt:lpstr>
      <vt:lpstr>Calibri</vt:lpstr>
      <vt:lpstr>Google Sans Display</vt:lpstr>
      <vt:lpstr>Minion Pro</vt:lpstr>
      <vt:lpstr>Open Sans</vt:lpstr>
      <vt:lpstr>Times New Roman</vt:lpstr>
      <vt:lpstr>Trebuchet MS</vt:lpstr>
      <vt:lpstr>untitled-sans</vt:lpstr>
      <vt:lpstr>Wingdings</vt:lpstr>
      <vt:lpstr>Lecture1 Course Overview</vt:lpstr>
      <vt:lpstr>FAST- National University of Computer and Emerging Sciences  CL-1000 IICT Introduction to Information &amp; Communication Technologies Fall 2022</vt:lpstr>
      <vt:lpstr>About Me</vt:lpstr>
      <vt:lpstr>Google Classroom Codes</vt:lpstr>
      <vt:lpstr>Course Policy</vt:lpstr>
      <vt:lpstr>Classroom etiquette</vt:lpstr>
      <vt:lpstr>Dishonesty, Plagiarism</vt:lpstr>
      <vt:lpstr>Dishonesty, Plagiarism</vt:lpstr>
      <vt:lpstr>Marks distribution (Tentative)</vt:lpstr>
      <vt:lpstr>About you?</vt:lpstr>
      <vt:lpstr>Course Content Overview</vt:lpstr>
      <vt:lpstr>Computer A computer is a machine or device that performs processes, calculations and operations based on instructions provided by a software or hardware program.  A computer has the ability to:       accept data (input)       process it       produce outputs       store it for later use  </vt:lpstr>
      <vt:lpstr>Computer A computer is a machine or device that performs processes, calculations and operations based on instructions provided by a software or hardware program.  A computer has the ability to:       accept data (input)       process it       produce outputs       store it for later use  </vt:lpstr>
      <vt:lpstr>PowerPoint Presentation</vt:lpstr>
      <vt:lpstr>PowerPoint Presentation</vt:lpstr>
      <vt:lpstr>PowerPoint Presentation</vt:lpstr>
      <vt:lpstr>PowerPoint Presentation</vt:lpstr>
      <vt:lpstr>Basic Computer Terminologies</vt:lpstr>
      <vt:lpstr>Basic Computer Terminologies</vt:lpstr>
      <vt:lpstr>Basic Computer Terminologies</vt:lpstr>
      <vt:lpstr>Basic Computer Terminologies</vt:lpstr>
      <vt:lpstr>PowerPoint Presentation</vt:lpstr>
      <vt:lpstr>Computer Languages</vt:lpstr>
      <vt:lpstr>Technology Trends in 2022</vt:lpstr>
    </vt:vector>
  </TitlesOfParts>
  <Company>NUCES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National University of Computer and Emerging Sciences  Programming for Engineers (1) Introduction to  “C” Language</dc:title>
  <dc:creator>Shariq Bashir</dc:creator>
  <cp:lastModifiedBy>sadia saad</cp:lastModifiedBy>
  <cp:revision>194</cp:revision>
  <dcterms:created xsi:type="dcterms:W3CDTF">2006-10-05T22:51:40Z</dcterms:created>
  <dcterms:modified xsi:type="dcterms:W3CDTF">2022-08-26T11:34:48Z</dcterms:modified>
</cp:coreProperties>
</file>