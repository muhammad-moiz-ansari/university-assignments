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8" r:id="rId3"/>
    <p:sldId id="259" r:id="rId4"/>
    <p:sldId id="260" r:id="rId5"/>
    <p:sldId id="282" r:id="rId6"/>
    <p:sldId id="283" r:id="rId7"/>
    <p:sldId id="261" r:id="rId8"/>
    <p:sldId id="262" r:id="rId9"/>
    <p:sldId id="263" r:id="rId10"/>
    <p:sldId id="264" r:id="rId11"/>
    <p:sldId id="265" r:id="rId12"/>
    <p:sldId id="266" r:id="rId13"/>
    <p:sldId id="267" r:id="rId14"/>
    <p:sldId id="268" r:id="rId15"/>
    <p:sldId id="269" r:id="rId16"/>
    <p:sldId id="284" r:id="rId17"/>
    <p:sldId id="271" r:id="rId18"/>
    <p:sldId id="285" r:id="rId19"/>
    <p:sldId id="272" r:id="rId20"/>
    <p:sldId id="286" r:id="rId21"/>
    <p:sldId id="273" r:id="rId22"/>
    <p:sldId id="274" r:id="rId23"/>
    <p:sldId id="275" r:id="rId24"/>
    <p:sldId id="276" r:id="rId25"/>
    <p:sldId id="277" r:id="rId26"/>
    <p:sldId id="278" r:id="rId27"/>
    <p:sldId id="279" r:id="rId28"/>
    <p:sldId id="280" r:id="rId2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503" autoAdjust="0"/>
  </p:normalViewPr>
  <p:slideViewPr>
    <p:cSldViewPr>
      <p:cViewPr varScale="1">
        <p:scale>
          <a:sx n="61" d="100"/>
          <a:sy n="61" d="100"/>
        </p:scale>
        <p:origin x="1656"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D7B6B028-54A2-4530-8136-DC859F990EB4}" type="datetimeFigureOut">
              <a:rPr lang="en-US" smtClean="0"/>
              <a:t>9/27/2023</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752E064D-44C7-4A60-8647-7646CA3C865F}" type="slidenum">
              <a:rPr lang="en-US" smtClean="0"/>
              <a:t>‹#›</a:t>
            </a:fld>
            <a:endParaRPr lang="en-US"/>
          </a:p>
        </p:txBody>
      </p:sp>
    </p:spTree>
    <p:extLst>
      <p:ext uri="{BB962C8B-B14F-4D97-AF65-F5344CB8AC3E}">
        <p14:creationId xmlns:p14="http://schemas.microsoft.com/office/powerpoint/2010/main" val="3322303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a set of things working together as parts of a mechanism or an interconnecting network; a complex whole</a:t>
            </a:r>
            <a:endParaRPr lang="en-US" dirty="0"/>
          </a:p>
        </p:txBody>
      </p:sp>
      <p:sp>
        <p:nvSpPr>
          <p:cNvPr id="4" name="Slide Number Placeholder 3"/>
          <p:cNvSpPr>
            <a:spLocks noGrp="1"/>
          </p:cNvSpPr>
          <p:nvPr>
            <p:ph type="sldNum" sz="quarter" idx="5"/>
          </p:nvPr>
        </p:nvSpPr>
        <p:spPr/>
        <p:txBody>
          <a:bodyPr/>
          <a:lstStyle/>
          <a:p>
            <a:fld id="{752E064D-44C7-4A60-8647-7646CA3C865F}" type="slidenum">
              <a:rPr lang="en-US" smtClean="0"/>
              <a:t>3</a:t>
            </a:fld>
            <a:endParaRPr lang="en-US"/>
          </a:p>
        </p:txBody>
      </p:sp>
    </p:spTree>
    <p:extLst>
      <p:ext uri="{BB962C8B-B14F-4D97-AF65-F5344CB8AC3E}">
        <p14:creationId xmlns:p14="http://schemas.microsoft.com/office/powerpoint/2010/main" val="5830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information system, </a:t>
            </a:r>
            <a:r>
              <a:rPr lang="en-US" b="1" i="0" dirty="0">
                <a:solidFill>
                  <a:srgbClr val="202124"/>
                </a:solidFill>
                <a:effectLst/>
                <a:latin typeface="arial" panose="020B0604020202020204" pitchFamily="34" charset="0"/>
              </a:rPr>
              <a:t>an integrated set of components for collecting, storing, and processing data and for providing information, knowledge, and digital products.</a:t>
            </a:r>
          </a:p>
          <a:p>
            <a:endParaRPr lang="en-US" dirty="0"/>
          </a:p>
        </p:txBody>
      </p:sp>
      <p:sp>
        <p:nvSpPr>
          <p:cNvPr id="4" name="Slide Number Placeholder 3"/>
          <p:cNvSpPr>
            <a:spLocks noGrp="1"/>
          </p:cNvSpPr>
          <p:nvPr>
            <p:ph type="sldNum" sz="quarter" idx="5"/>
          </p:nvPr>
        </p:nvSpPr>
        <p:spPr/>
        <p:txBody>
          <a:bodyPr/>
          <a:lstStyle/>
          <a:p>
            <a:fld id="{752E064D-44C7-4A60-8647-7646CA3C865F}" type="slidenum">
              <a:rPr lang="en-US" smtClean="0"/>
              <a:t>7</a:t>
            </a:fld>
            <a:endParaRPr lang="en-US"/>
          </a:p>
        </p:txBody>
      </p:sp>
    </p:spTree>
    <p:extLst>
      <p:ext uri="{BB962C8B-B14F-4D97-AF65-F5344CB8AC3E}">
        <p14:creationId xmlns:p14="http://schemas.microsoft.com/office/powerpoint/2010/main" val="4180382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444444"/>
                </a:solidFill>
                <a:effectLst/>
                <a:latin typeface="Open Sans" panose="020B0606030504020204" pitchFamily="34" charset="0"/>
              </a:rPr>
              <a:t>Thus, the above definition aims at describing an information system in two ways:</a:t>
            </a:r>
          </a:p>
          <a:p>
            <a:pPr algn="l" fontAlgn="base">
              <a:buFont typeface="+mj-lt"/>
              <a:buAutoNum type="arabicPeriod"/>
            </a:pPr>
            <a:r>
              <a:rPr lang="en-US" b="0" i="0" dirty="0">
                <a:solidFill>
                  <a:srgbClr val="444444"/>
                </a:solidFill>
                <a:effectLst/>
                <a:latin typeface="inherit"/>
              </a:rPr>
              <a:t>The different components that makeup an information system</a:t>
            </a:r>
          </a:p>
          <a:p>
            <a:pPr algn="l" fontAlgn="base">
              <a:buFont typeface="+mj-lt"/>
              <a:buAutoNum type="arabicPeriod"/>
            </a:pPr>
            <a:r>
              <a:rPr lang="en-US" b="0" i="0" dirty="0">
                <a:solidFill>
                  <a:srgbClr val="444444"/>
                </a:solidFill>
                <a:effectLst/>
                <a:latin typeface="inherit"/>
              </a:rPr>
              <a:t>And the roles played by these components in an organization</a:t>
            </a:r>
          </a:p>
          <a:p>
            <a:endParaRPr lang="en-US" dirty="0"/>
          </a:p>
        </p:txBody>
      </p:sp>
      <p:sp>
        <p:nvSpPr>
          <p:cNvPr id="4" name="Slide Number Placeholder 3"/>
          <p:cNvSpPr>
            <a:spLocks noGrp="1"/>
          </p:cNvSpPr>
          <p:nvPr>
            <p:ph type="sldNum" sz="quarter" idx="5"/>
          </p:nvPr>
        </p:nvSpPr>
        <p:spPr/>
        <p:txBody>
          <a:bodyPr/>
          <a:lstStyle/>
          <a:p>
            <a:fld id="{752E064D-44C7-4A60-8647-7646CA3C865F}" type="slidenum">
              <a:rPr lang="en-US" smtClean="0"/>
              <a:t>8</a:t>
            </a:fld>
            <a:endParaRPr lang="en-US"/>
          </a:p>
        </p:txBody>
      </p:sp>
    </p:spTree>
    <p:extLst>
      <p:ext uri="{BB962C8B-B14F-4D97-AF65-F5344CB8AC3E}">
        <p14:creationId xmlns:p14="http://schemas.microsoft.com/office/powerpoint/2010/main" val="2517198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1" i="0" dirty="0">
                <a:solidFill>
                  <a:srgbClr val="666666"/>
                </a:solidFill>
                <a:effectLst/>
                <a:latin typeface="Museo Sans Rounded"/>
              </a:rPr>
              <a:t>1. Hardware</a:t>
            </a:r>
          </a:p>
          <a:p>
            <a:pPr algn="l" fontAlgn="base"/>
            <a:r>
              <a:rPr lang="en-US" b="0" i="0" dirty="0">
                <a:solidFill>
                  <a:srgbClr val="666666"/>
                </a:solidFill>
                <a:effectLst/>
                <a:latin typeface="inherit"/>
              </a:rPr>
              <a:t>Hardware is the machinery used to create content and manage and communicate information. This includes the physical parts of a computer system, such as the computer itself and the monitor, keyboard, scanner, and printer.</a:t>
            </a:r>
          </a:p>
          <a:p>
            <a:pPr algn="l" fontAlgn="base"/>
            <a:r>
              <a:rPr lang="en-US" b="1" i="0" dirty="0">
                <a:solidFill>
                  <a:srgbClr val="666666"/>
                </a:solidFill>
                <a:effectLst/>
                <a:latin typeface="Museo Sans Rounded"/>
              </a:rPr>
              <a:t>2. Software</a:t>
            </a:r>
          </a:p>
          <a:p>
            <a:pPr algn="l" fontAlgn="base"/>
            <a:r>
              <a:rPr lang="en-US" b="0" i="0" dirty="0">
                <a:solidFill>
                  <a:srgbClr val="666666"/>
                </a:solidFill>
                <a:effectLst/>
                <a:latin typeface="inherit"/>
              </a:rPr>
              <a:t>Software programs are machine-readable instructions that direct the circuitry within a system's hardware to create, edit, organize, process, and analyze information. Examples include operating systems, spreadsheet and word processing software, and graphic design applications.</a:t>
            </a:r>
          </a:p>
          <a:p>
            <a:pPr algn="l" fontAlgn="base"/>
            <a:r>
              <a:rPr lang="en-US" b="1" i="0" dirty="0">
                <a:solidFill>
                  <a:srgbClr val="666666"/>
                </a:solidFill>
                <a:effectLst/>
                <a:latin typeface="Museo Sans Rounded"/>
              </a:rPr>
              <a:t>3. Data</a:t>
            </a:r>
          </a:p>
          <a:p>
            <a:pPr algn="l" fontAlgn="base"/>
            <a:r>
              <a:rPr lang="en-US" b="0" i="0" dirty="0">
                <a:solidFill>
                  <a:srgbClr val="666666"/>
                </a:solidFill>
                <a:effectLst/>
                <a:latin typeface="inherit"/>
              </a:rPr>
              <a:t>Data is a collection of information that can be organized, analyzed, and utilized to better manage, understand, and communicate the information. Information is organized using databases, which are collections of related data so that groups of information, or records, can be stored and retrieved for a useful purpose. Typical examples of databases include employee records, product inventory, and product catalogs. In Unit 6, we will discuss databases in more detail.</a:t>
            </a:r>
          </a:p>
          <a:p>
            <a:pPr algn="l" fontAlgn="base"/>
            <a:r>
              <a:rPr lang="en-US" b="1" i="0" dirty="0">
                <a:solidFill>
                  <a:srgbClr val="666666"/>
                </a:solidFill>
                <a:effectLst/>
                <a:latin typeface="Museo Sans Rounded"/>
              </a:rPr>
              <a:t>4. People</a:t>
            </a:r>
          </a:p>
          <a:p>
            <a:pPr algn="l" fontAlgn="base"/>
            <a:r>
              <a:rPr lang="en-US" b="0" i="0" dirty="0">
                <a:solidFill>
                  <a:srgbClr val="666666"/>
                </a:solidFill>
                <a:effectLst/>
                <a:latin typeface="inherit"/>
              </a:rPr>
              <a:t>People are the most important component in information systems. Without people, information systems cannot function. This includes anyone who uses or maintains the systems. Everyone who works in business, from someone who pays the bills to the person who hires and fires, uses information systems.</a:t>
            </a:r>
          </a:p>
          <a:p>
            <a:pPr algn="l" fontAlgn="base"/>
            <a:r>
              <a:rPr lang="en-US" b="1" i="0" dirty="0">
                <a:solidFill>
                  <a:srgbClr val="666666"/>
                </a:solidFill>
                <a:effectLst/>
                <a:latin typeface="Museo Sans Rounded"/>
              </a:rPr>
              <a:t>5. Procedures</a:t>
            </a:r>
          </a:p>
          <a:p>
            <a:pPr algn="l" fontAlgn="base"/>
            <a:r>
              <a:rPr lang="en-US" b="0" i="0" dirty="0">
                <a:solidFill>
                  <a:srgbClr val="666666"/>
                </a:solidFill>
                <a:effectLst/>
                <a:latin typeface="inherit"/>
              </a:rPr>
              <a:t>For information systems to operate properly, people need to follow procedures. Procedures are the policies, rules, and guidelines that govern the operation of information systems. For example, procedures need to be established for an organization’s accounting system, including who has authorization to access it and at what level. Organizations have to create manuals, file naming conventions, and a variety of other procedures so their information systems perform in the way they were intended. Requiring employees to log in and out of their computers at the start and end of each work day is an important security-related procedure.</a:t>
            </a:r>
          </a:p>
          <a:p>
            <a:pPr algn="l" fontAlgn="base"/>
            <a:r>
              <a:rPr lang="en-US" b="1" i="0" dirty="0">
                <a:solidFill>
                  <a:srgbClr val="666666"/>
                </a:solidFill>
                <a:effectLst/>
                <a:latin typeface="Museo Sans Rounded"/>
              </a:rPr>
              <a:t>6. Networks</a:t>
            </a:r>
          </a:p>
          <a:p>
            <a:pPr algn="l" fontAlgn="base"/>
            <a:r>
              <a:rPr lang="en-US" b="0" i="0" dirty="0">
                <a:solidFill>
                  <a:srgbClr val="666666"/>
                </a:solidFill>
                <a:effectLst/>
                <a:latin typeface="inherit"/>
              </a:rPr>
              <a:t>While they may not always be required for every information system, networks are vital in today’s virtually connected society. A network is how computers and other technologies within an information system communicate with one another. Organizations need networks to send emails, share files, stream videos, hold online meetings, and a multitude of other tasks. If you have access to the Internet in your home, you have a network.</a:t>
            </a:r>
          </a:p>
        </p:txBody>
      </p:sp>
      <p:sp>
        <p:nvSpPr>
          <p:cNvPr id="4" name="Slide Number Placeholder 3"/>
          <p:cNvSpPr>
            <a:spLocks noGrp="1"/>
          </p:cNvSpPr>
          <p:nvPr>
            <p:ph type="sldNum" sz="quarter" idx="5"/>
          </p:nvPr>
        </p:nvSpPr>
        <p:spPr/>
        <p:txBody>
          <a:bodyPr/>
          <a:lstStyle/>
          <a:p>
            <a:fld id="{752E064D-44C7-4A60-8647-7646CA3C865F}" type="slidenum">
              <a:rPr lang="en-US" smtClean="0"/>
              <a:t>9</a:t>
            </a:fld>
            <a:endParaRPr lang="en-US"/>
          </a:p>
        </p:txBody>
      </p:sp>
    </p:spTree>
    <p:extLst>
      <p:ext uri="{BB962C8B-B14F-4D97-AF65-F5344CB8AC3E}">
        <p14:creationId xmlns:p14="http://schemas.microsoft.com/office/powerpoint/2010/main" val="960773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02124"/>
                </a:solidFill>
                <a:effectLst/>
                <a:latin typeface="arial" panose="020B0604020202020204" pitchFamily="34" charset="0"/>
              </a:rPr>
              <a:t>What is the business information system?</a:t>
            </a:r>
          </a:p>
          <a:p>
            <a:endParaRPr lang="en-US" dirty="0"/>
          </a:p>
        </p:txBody>
      </p:sp>
      <p:sp>
        <p:nvSpPr>
          <p:cNvPr id="4" name="Slide Number Placeholder 3"/>
          <p:cNvSpPr>
            <a:spLocks noGrp="1"/>
          </p:cNvSpPr>
          <p:nvPr>
            <p:ph type="sldNum" sz="quarter" idx="5"/>
          </p:nvPr>
        </p:nvSpPr>
        <p:spPr/>
        <p:txBody>
          <a:bodyPr/>
          <a:lstStyle/>
          <a:p>
            <a:fld id="{752E064D-44C7-4A60-8647-7646CA3C865F}" type="slidenum">
              <a:rPr lang="en-US" smtClean="0"/>
              <a:t>15</a:t>
            </a:fld>
            <a:endParaRPr lang="en-US"/>
          </a:p>
        </p:txBody>
      </p:sp>
    </p:spTree>
    <p:extLst>
      <p:ext uri="{BB962C8B-B14F-4D97-AF65-F5344CB8AC3E}">
        <p14:creationId xmlns:p14="http://schemas.microsoft.com/office/powerpoint/2010/main" val="812028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2E064D-44C7-4A60-8647-7646CA3C865F}" type="slidenum">
              <a:rPr lang="en-US" smtClean="0"/>
              <a:t>19</a:t>
            </a:fld>
            <a:endParaRPr lang="en-US"/>
          </a:p>
        </p:txBody>
      </p:sp>
    </p:spTree>
    <p:extLst>
      <p:ext uri="{BB962C8B-B14F-4D97-AF65-F5344CB8AC3E}">
        <p14:creationId xmlns:p14="http://schemas.microsoft.com/office/powerpoint/2010/main" val="1458768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02124"/>
                </a:solidFill>
                <a:effectLst/>
                <a:latin typeface="arial" panose="020B0604020202020204" pitchFamily="34" charset="0"/>
              </a:rPr>
              <a:t>Enterprise resource planning (ERP) refers to a type of software that organizations use to manage day-to-day business activities such as accounting, procurement, project management, risk management and compliance, and supply chain operations.</a:t>
            </a:r>
          </a:p>
          <a:p>
            <a:br>
              <a:rPr lang="en-US" b="0" i="0" dirty="0">
                <a:solidFill>
                  <a:srgbClr val="202124"/>
                </a:solidFill>
                <a:effectLst/>
                <a:latin typeface="arial" panose="020B0604020202020204" pitchFamily="34" charset="0"/>
              </a:rPr>
            </a:br>
            <a:endParaRPr lang="en-US" dirty="0"/>
          </a:p>
        </p:txBody>
      </p:sp>
      <p:sp>
        <p:nvSpPr>
          <p:cNvPr id="4" name="Slide Number Placeholder 3"/>
          <p:cNvSpPr>
            <a:spLocks noGrp="1"/>
          </p:cNvSpPr>
          <p:nvPr>
            <p:ph type="sldNum" sz="quarter" idx="5"/>
          </p:nvPr>
        </p:nvSpPr>
        <p:spPr/>
        <p:txBody>
          <a:bodyPr/>
          <a:lstStyle/>
          <a:p>
            <a:fld id="{752E064D-44C7-4A60-8647-7646CA3C865F}" type="slidenum">
              <a:rPr lang="en-US" smtClean="0"/>
              <a:t>21</a:t>
            </a:fld>
            <a:endParaRPr lang="en-US"/>
          </a:p>
        </p:txBody>
      </p:sp>
    </p:spTree>
    <p:extLst>
      <p:ext uri="{BB962C8B-B14F-4D97-AF65-F5344CB8AC3E}">
        <p14:creationId xmlns:p14="http://schemas.microsoft.com/office/powerpoint/2010/main" val="3057084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2E064D-44C7-4A60-8647-7646CA3C865F}" type="slidenum">
              <a:rPr lang="en-US" smtClean="0"/>
              <a:t>22</a:t>
            </a:fld>
            <a:endParaRPr lang="en-US"/>
          </a:p>
        </p:txBody>
      </p:sp>
    </p:spTree>
    <p:extLst>
      <p:ext uri="{BB962C8B-B14F-4D97-AF65-F5344CB8AC3E}">
        <p14:creationId xmlns:p14="http://schemas.microsoft.com/office/powerpoint/2010/main" val="3609274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252470" y="1786889"/>
            <a:ext cx="2639059" cy="635000"/>
          </a:xfrm>
          <a:prstGeom prst="rect">
            <a:avLst/>
          </a:prstGeom>
        </p:spPr>
        <p:txBody>
          <a:bodyPr wrap="square" lIns="0" tIns="0" rIns="0" bIns="0">
            <a:spAutoFit/>
          </a:bodyPr>
          <a:lstStyle>
            <a:lvl1pPr>
              <a:defRPr sz="4000" b="1" i="0">
                <a:solidFill>
                  <a:srgbClr val="FF0000"/>
                </a:solidFill>
                <a:latin typeface="Carlito"/>
                <a:cs typeface="Carlito"/>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63744E"/>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400" b="0" i="0">
                <a:solidFill>
                  <a:srgbClr val="404040"/>
                </a:solidFill>
                <a:latin typeface="Carlito"/>
                <a:cs typeface="Carlit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63744E"/>
                </a:solidFill>
                <a:latin typeface="Trebuchet MS"/>
                <a:cs typeface="Trebuchet MS"/>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63744E"/>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00799"/>
            <a:ext cx="9144000" cy="457200"/>
          </a:xfrm>
          <a:custGeom>
            <a:avLst/>
            <a:gdLst/>
            <a:ahLst/>
            <a:cxnLst/>
            <a:rect l="l" t="t" r="r" b="b"/>
            <a:pathLst>
              <a:path w="9144000" h="457200">
                <a:moveTo>
                  <a:pt x="9144000" y="0"/>
                </a:moveTo>
                <a:lnTo>
                  <a:pt x="0" y="0"/>
                </a:lnTo>
                <a:lnTo>
                  <a:pt x="0" y="457199"/>
                </a:lnTo>
                <a:lnTo>
                  <a:pt x="9144000" y="457199"/>
                </a:lnTo>
                <a:lnTo>
                  <a:pt x="9144000" y="0"/>
                </a:lnTo>
                <a:close/>
              </a:path>
            </a:pathLst>
          </a:custGeom>
          <a:solidFill>
            <a:srgbClr val="BC572C"/>
          </a:solidFill>
        </p:spPr>
        <p:txBody>
          <a:bodyPr wrap="square" lIns="0" tIns="0" rIns="0" bIns="0" rtlCol="0"/>
          <a:lstStyle/>
          <a:p>
            <a:endParaRPr/>
          </a:p>
        </p:txBody>
      </p:sp>
      <p:sp>
        <p:nvSpPr>
          <p:cNvPr id="17" name="bg object 17"/>
          <p:cNvSpPr/>
          <p:nvPr/>
        </p:nvSpPr>
        <p:spPr>
          <a:xfrm>
            <a:off x="0" y="6333744"/>
            <a:ext cx="9144000" cy="67310"/>
          </a:xfrm>
          <a:custGeom>
            <a:avLst/>
            <a:gdLst/>
            <a:ahLst/>
            <a:cxnLst/>
            <a:rect l="l" t="t" r="r" b="b"/>
            <a:pathLst>
              <a:path w="9144000" h="67310">
                <a:moveTo>
                  <a:pt x="9144000" y="0"/>
                </a:moveTo>
                <a:lnTo>
                  <a:pt x="0" y="0"/>
                </a:lnTo>
                <a:lnTo>
                  <a:pt x="0" y="67055"/>
                </a:lnTo>
                <a:lnTo>
                  <a:pt x="9144000" y="67055"/>
                </a:lnTo>
                <a:lnTo>
                  <a:pt x="9144000" y="0"/>
                </a:lnTo>
                <a:close/>
              </a:path>
            </a:pathLst>
          </a:custGeom>
          <a:solidFill>
            <a:srgbClr val="E38312"/>
          </a:solidFill>
        </p:spPr>
        <p:txBody>
          <a:bodyPr wrap="square" lIns="0" tIns="0" rIns="0" bIns="0" rtlCol="0"/>
          <a:lstStyle/>
          <a:p>
            <a:endParaRPr/>
          </a:p>
        </p:txBody>
      </p:sp>
      <p:sp>
        <p:nvSpPr>
          <p:cNvPr id="18" name="bg object 18"/>
          <p:cNvSpPr/>
          <p:nvPr/>
        </p:nvSpPr>
        <p:spPr>
          <a:xfrm>
            <a:off x="896111" y="1738883"/>
            <a:ext cx="7475855" cy="0"/>
          </a:xfrm>
          <a:custGeom>
            <a:avLst/>
            <a:gdLst/>
            <a:ahLst/>
            <a:cxnLst/>
            <a:rect l="l" t="t" r="r" b="b"/>
            <a:pathLst>
              <a:path w="7475855">
                <a:moveTo>
                  <a:pt x="0" y="0"/>
                </a:moveTo>
                <a:lnTo>
                  <a:pt x="7475473" y="0"/>
                </a:lnTo>
              </a:path>
            </a:pathLst>
          </a:custGeom>
          <a:ln w="6350">
            <a:solidFill>
              <a:srgbClr val="7E7E7E"/>
            </a:solidFill>
          </a:ln>
        </p:spPr>
        <p:txBody>
          <a:bodyPr wrap="square" lIns="0" tIns="0" rIns="0" bIns="0" rtlCol="0"/>
          <a:lstStyle/>
          <a:p>
            <a:endParaRPr/>
          </a:p>
        </p:txBody>
      </p:sp>
      <p:sp>
        <p:nvSpPr>
          <p:cNvPr id="2" name="Holder 2"/>
          <p:cNvSpPr>
            <a:spLocks noGrp="1"/>
          </p:cNvSpPr>
          <p:nvPr>
            <p:ph type="title"/>
          </p:nvPr>
        </p:nvSpPr>
        <p:spPr>
          <a:xfrm>
            <a:off x="875639" y="286258"/>
            <a:ext cx="7392720" cy="1379220"/>
          </a:xfrm>
          <a:prstGeom prst="rect">
            <a:avLst/>
          </a:prstGeom>
        </p:spPr>
        <p:txBody>
          <a:bodyPr wrap="square" lIns="0" tIns="0" rIns="0" bIns="0">
            <a:spAutoFit/>
          </a:bodyPr>
          <a:lstStyle>
            <a:lvl1pPr>
              <a:defRPr sz="4800" b="0" i="0">
                <a:solidFill>
                  <a:srgbClr val="63744E"/>
                </a:solidFill>
                <a:latin typeface="Trebuchet MS"/>
                <a:cs typeface="Trebuchet MS"/>
              </a:defRPr>
            </a:lvl1pPr>
          </a:lstStyle>
          <a:p>
            <a:endParaRPr/>
          </a:p>
        </p:txBody>
      </p:sp>
      <p:sp>
        <p:nvSpPr>
          <p:cNvPr id="3" name="Holder 3"/>
          <p:cNvSpPr>
            <a:spLocks noGrp="1"/>
          </p:cNvSpPr>
          <p:nvPr>
            <p:ph type="body" idx="1"/>
          </p:nvPr>
        </p:nvSpPr>
        <p:spPr>
          <a:xfrm>
            <a:off x="799439" y="1823465"/>
            <a:ext cx="7545120" cy="3660775"/>
          </a:xfrm>
          <a:prstGeom prst="rect">
            <a:avLst/>
          </a:prstGeom>
        </p:spPr>
        <p:txBody>
          <a:bodyPr wrap="square" lIns="0" tIns="0" rIns="0" bIns="0">
            <a:spAutoFit/>
          </a:bodyPr>
          <a:lstStyle>
            <a:lvl1pPr>
              <a:defRPr sz="2400" b="0" i="0">
                <a:solidFill>
                  <a:srgbClr val="404040"/>
                </a:solidFill>
                <a:latin typeface="Carlito"/>
                <a:cs typeface="Carlito"/>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9/27/2023</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5.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33744"/>
            <a:ext cx="9144000" cy="524510"/>
            <a:chOff x="0" y="6333744"/>
            <a:chExt cx="9144000" cy="524510"/>
          </a:xfrm>
        </p:grpSpPr>
        <p:sp>
          <p:nvSpPr>
            <p:cNvPr id="3" name="object 3"/>
            <p:cNvSpPr/>
            <p:nvPr/>
          </p:nvSpPr>
          <p:spPr>
            <a:xfrm>
              <a:off x="3047" y="6400799"/>
              <a:ext cx="9141460" cy="457200"/>
            </a:xfrm>
            <a:custGeom>
              <a:avLst/>
              <a:gdLst/>
              <a:ahLst/>
              <a:cxnLst/>
              <a:rect l="l" t="t" r="r" b="b"/>
              <a:pathLst>
                <a:path w="9141460" h="457200">
                  <a:moveTo>
                    <a:pt x="9140952" y="0"/>
                  </a:moveTo>
                  <a:lnTo>
                    <a:pt x="0" y="0"/>
                  </a:lnTo>
                  <a:lnTo>
                    <a:pt x="0" y="457199"/>
                  </a:lnTo>
                  <a:lnTo>
                    <a:pt x="9140952" y="457199"/>
                  </a:lnTo>
                  <a:lnTo>
                    <a:pt x="9140952" y="0"/>
                  </a:lnTo>
                  <a:close/>
                </a:path>
              </a:pathLst>
            </a:custGeom>
            <a:solidFill>
              <a:srgbClr val="BC572C"/>
            </a:solidFill>
          </p:spPr>
          <p:txBody>
            <a:bodyPr wrap="square" lIns="0" tIns="0" rIns="0" bIns="0" rtlCol="0"/>
            <a:lstStyle/>
            <a:p>
              <a:endParaRPr/>
            </a:p>
          </p:txBody>
        </p:sp>
        <p:sp>
          <p:nvSpPr>
            <p:cNvPr id="4" name="object 4"/>
            <p:cNvSpPr/>
            <p:nvPr/>
          </p:nvSpPr>
          <p:spPr>
            <a:xfrm>
              <a:off x="0" y="6333744"/>
              <a:ext cx="9142730" cy="64135"/>
            </a:xfrm>
            <a:custGeom>
              <a:avLst/>
              <a:gdLst/>
              <a:ahLst/>
              <a:cxnLst/>
              <a:rect l="l" t="t" r="r" b="b"/>
              <a:pathLst>
                <a:path w="9142730" h="64135">
                  <a:moveTo>
                    <a:pt x="9142476" y="0"/>
                  </a:moveTo>
                  <a:lnTo>
                    <a:pt x="0" y="0"/>
                  </a:lnTo>
                  <a:lnTo>
                    <a:pt x="0" y="64007"/>
                  </a:lnTo>
                  <a:lnTo>
                    <a:pt x="9142476" y="64007"/>
                  </a:lnTo>
                  <a:lnTo>
                    <a:pt x="9142476" y="0"/>
                  </a:lnTo>
                  <a:close/>
                </a:path>
              </a:pathLst>
            </a:custGeom>
            <a:solidFill>
              <a:srgbClr val="E38312"/>
            </a:solidFill>
          </p:spPr>
          <p:txBody>
            <a:bodyPr wrap="square" lIns="0" tIns="0" rIns="0" bIns="0" rtlCol="0"/>
            <a:lstStyle/>
            <a:p>
              <a:endParaRPr/>
            </a:p>
          </p:txBody>
        </p:sp>
      </p:grpSp>
      <p:sp>
        <p:nvSpPr>
          <p:cNvPr id="5" name="object 5"/>
          <p:cNvSpPr/>
          <p:nvPr/>
        </p:nvSpPr>
        <p:spPr>
          <a:xfrm>
            <a:off x="906780" y="4343400"/>
            <a:ext cx="7406005" cy="0"/>
          </a:xfrm>
          <a:custGeom>
            <a:avLst/>
            <a:gdLst/>
            <a:ahLst/>
            <a:cxnLst/>
            <a:rect l="l" t="t" r="r" b="b"/>
            <a:pathLst>
              <a:path w="7406005">
                <a:moveTo>
                  <a:pt x="0" y="0"/>
                </a:moveTo>
                <a:lnTo>
                  <a:pt x="7405624" y="0"/>
                </a:lnTo>
              </a:path>
            </a:pathLst>
          </a:custGeom>
          <a:ln w="6350">
            <a:solidFill>
              <a:srgbClr val="7E7E7E"/>
            </a:solidFill>
          </a:ln>
        </p:spPr>
        <p:txBody>
          <a:bodyPr wrap="square" lIns="0" tIns="0" rIns="0" bIns="0" rtlCol="0"/>
          <a:lstStyle/>
          <a:p>
            <a:endParaRPr/>
          </a:p>
        </p:txBody>
      </p:sp>
      <p:sp>
        <p:nvSpPr>
          <p:cNvPr id="6" name="object 6"/>
          <p:cNvSpPr txBox="1"/>
          <p:nvPr/>
        </p:nvSpPr>
        <p:spPr>
          <a:xfrm>
            <a:off x="1068120" y="2062937"/>
            <a:ext cx="7324725" cy="1718310"/>
          </a:xfrm>
          <a:prstGeom prst="rect">
            <a:avLst/>
          </a:prstGeom>
        </p:spPr>
        <p:txBody>
          <a:bodyPr vert="horz" wrap="square" lIns="0" tIns="12700" rIns="0" bIns="0" rtlCol="0">
            <a:spAutoFit/>
          </a:bodyPr>
          <a:lstStyle/>
          <a:p>
            <a:pPr marL="12700">
              <a:lnSpc>
                <a:spcPts val="6659"/>
              </a:lnSpc>
              <a:spcBef>
                <a:spcPts val="100"/>
              </a:spcBef>
            </a:pPr>
            <a:r>
              <a:rPr sz="6000" spc="-210" dirty="0">
                <a:solidFill>
                  <a:srgbClr val="63744E"/>
                </a:solidFill>
                <a:latin typeface="Trebuchet MS"/>
                <a:cs typeface="Trebuchet MS"/>
              </a:rPr>
              <a:t>INFORMATION</a:t>
            </a:r>
            <a:r>
              <a:rPr sz="6000" spc="-615" dirty="0">
                <a:solidFill>
                  <a:srgbClr val="63744E"/>
                </a:solidFill>
                <a:latin typeface="Trebuchet MS"/>
                <a:cs typeface="Trebuchet MS"/>
              </a:rPr>
              <a:t> </a:t>
            </a:r>
            <a:r>
              <a:rPr sz="6000" spc="-225" dirty="0">
                <a:solidFill>
                  <a:srgbClr val="63744E"/>
                </a:solidFill>
                <a:latin typeface="Trebuchet MS"/>
                <a:cs typeface="Trebuchet MS"/>
              </a:rPr>
              <a:t>SYSTEMS</a:t>
            </a:r>
            <a:endParaRPr sz="6000" dirty="0">
              <a:latin typeface="Trebuchet MS"/>
              <a:cs typeface="Trebuchet MS"/>
            </a:endParaRPr>
          </a:p>
          <a:p>
            <a:pPr marL="12700">
              <a:lnSpc>
                <a:spcPts val="6659"/>
              </a:lnSpc>
            </a:pPr>
            <a:r>
              <a:rPr sz="6000" spc="-330" dirty="0">
                <a:solidFill>
                  <a:srgbClr val="63744E"/>
                </a:solidFill>
                <a:latin typeface="Trebuchet MS"/>
                <a:cs typeface="Trebuchet MS"/>
              </a:rPr>
              <a:t>Overview</a:t>
            </a:r>
            <a:endParaRPr sz="6000" dirty="0">
              <a:latin typeface="Trebuchet MS"/>
              <a:cs typeface="Trebuchet MS"/>
            </a:endParaRPr>
          </a:p>
        </p:txBody>
      </p:sp>
      <p:sp>
        <p:nvSpPr>
          <p:cNvPr id="7" name="object 7"/>
          <p:cNvSpPr txBox="1"/>
          <p:nvPr/>
        </p:nvSpPr>
        <p:spPr>
          <a:xfrm>
            <a:off x="618540" y="4617846"/>
            <a:ext cx="6286500" cy="391160"/>
          </a:xfrm>
          <a:prstGeom prst="rect">
            <a:avLst/>
          </a:prstGeom>
        </p:spPr>
        <p:txBody>
          <a:bodyPr vert="horz" wrap="square" lIns="0" tIns="12700" rIns="0" bIns="0" rtlCol="0">
            <a:spAutoFit/>
          </a:bodyPr>
          <a:lstStyle/>
          <a:p>
            <a:pPr marL="12700">
              <a:lnSpc>
                <a:spcPct val="100000"/>
              </a:lnSpc>
              <a:spcBef>
                <a:spcPts val="100"/>
              </a:spcBef>
            </a:pPr>
            <a:r>
              <a:rPr sz="2400" spc="90" dirty="0">
                <a:solidFill>
                  <a:srgbClr val="626F52"/>
                </a:solidFill>
                <a:latin typeface="Trebuchet MS"/>
                <a:cs typeface="Trebuchet MS"/>
              </a:rPr>
              <a:t>INFORMATION </a:t>
            </a:r>
            <a:r>
              <a:rPr sz="2400" spc="75" dirty="0">
                <a:solidFill>
                  <a:srgbClr val="626F52"/>
                </a:solidFill>
                <a:latin typeface="Trebuchet MS"/>
                <a:cs typeface="Trebuchet MS"/>
              </a:rPr>
              <a:t>SYSTEMS </a:t>
            </a:r>
            <a:r>
              <a:rPr sz="2400" spc="90" dirty="0">
                <a:solidFill>
                  <a:srgbClr val="626F52"/>
                </a:solidFill>
                <a:latin typeface="Trebuchet MS"/>
                <a:cs typeface="Trebuchet MS"/>
              </a:rPr>
              <a:t>AND</a:t>
            </a:r>
            <a:r>
              <a:rPr sz="2400" spc="235" dirty="0">
                <a:solidFill>
                  <a:srgbClr val="626F52"/>
                </a:solidFill>
                <a:latin typeface="Trebuchet MS"/>
                <a:cs typeface="Trebuchet MS"/>
              </a:rPr>
              <a:t> </a:t>
            </a:r>
            <a:r>
              <a:rPr sz="2400" spc="145" dirty="0">
                <a:solidFill>
                  <a:srgbClr val="626F52"/>
                </a:solidFill>
                <a:latin typeface="Trebuchet MS"/>
                <a:cs typeface="Trebuchet MS"/>
              </a:rPr>
              <a:t>MANAGEMENT</a:t>
            </a:r>
            <a:endParaRPr sz="240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9119" y="503301"/>
            <a:ext cx="4900295" cy="756920"/>
          </a:xfrm>
          <a:prstGeom prst="rect">
            <a:avLst/>
          </a:prstGeom>
        </p:spPr>
        <p:txBody>
          <a:bodyPr vert="horz" wrap="square" lIns="0" tIns="12700" rIns="0" bIns="0" rtlCol="0">
            <a:spAutoFit/>
          </a:bodyPr>
          <a:lstStyle/>
          <a:p>
            <a:pPr marL="12700">
              <a:lnSpc>
                <a:spcPct val="100000"/>
              </a:lnSpc>
              <a:spcBef>
                <a:spcPts val="100"/>
              </a:spcBef>
            </a:pPr>
            <a:r>
              <a:rPr spc="-290" dirty="0"/>
              <a:t>Data </a:t>
            </a:r>
            <a:r>
              <a:rPr spc="-385" dirty="0"/>
              <a:t>Vs.</a:t>
            </a:r>
            <a:r>
              <a:rPr spc="-700" dirty="0"/>
              <a:t> </a:t>
            </a:r>
            <a:r>
              <a:rPr spc="-265" dirty="0"/>
              <a:t>Information</a:t>
            </a:r>
          </a:p>
        </p:txBody>
      </p:sp>
      <p:sp>
        <p:nvSpPr>
          <p:cNvPr id="3" name="object 3"/>
          <p:cNvSpPr txBox="1"/>
          <p:nvPr/>
        </p:nvSpPr>
        <p:spPr>
          <a:xfrm>
            <a:off x="1257096" y="1640339"/>
            <a:ext cx="7327900" cy="4118610"/>
          </a:xfrm>
          <a:prstGeom prst="rect">
            <a:avLst/>
          </a:prstGeom>
        </p:spPr>
        <p:txBody>
          <a:bodyPr vert="horz" wrap="square" lIns="0" tIns="79375" rIns="0" bIns="0" rtlCol="0">
            <a:spAutoFit/>
          </a:bodyPr>
          <a:lstStyle/>
          <a:p>
            <a:pPr marL="12700">
              <a:lnSpc>
                <a:spcPct val="100000"/>
              </a:lnSpc>
              <a:spcBef>
                <a:spcPts val="625"/>
              </a:spcBef>
            </a:pPr>
            <a:r>
              <a:rPr sz="2800" b="1" u="heavy" spc="-15" dirty="0">
                <a:solidFill>
                  <a:srgbClr val="404040"/>
                </a:solidFill>
                <a:uFill>
                  <a:solidFill>
                    <a:srgbClr val="404040"/>
                  </a:solidFill>
                </a:uFill>
                <a:latin typeface="Carlito"/>
                <a:cs typeface="Carlito"/>
              </a:rPr>
              <a:t>Data</a:t>
            </a:r>
            <a:r>
              <a:rPr sz="2800" spc="-15" dirty="0">
                <a:solidFill>
                  <a:srgbClr val="404040"/>
                </a:solidFill>
                <a:latin typeface="Carlito"/>
                <a:cs typeface="Carlito"/>
              </a:rPr>
              <a:t>:</a:t>
            </a:r>
            <a:endParaRPr sz="2800" dirty="0">
              <a:latin typeface="Carlito"/>
              <a:cs typeface="Carlito"/>
            </a:endParaRPr>
          </a:p>
          <a:p>
            <a:pPr marL="12700">
              <a:lnSpc>
                <a:spcPct val="100000"/>
              </a:lnSpc>
              <a:spcBef>
                <a:spcPts val="525"/>
              </a:spcBef>
            </a:pPr>
            <a:r>
              <a:rPr sz="2800" spc="-10" dirty="0">
                <a:solidFill>
                  <a:srgbClr val="404040"/>
                </a:solidFill>
                <a:latin typeface="Carlito"/>
                <a:cs typeface="Carlito"/>
              </a:rPr>
              <a:t>Raw </a:t>
            </a:r>
            <a:r>
              <a:rPr sz="2800" spc="-20" dirty="0">
                <a:solidFill>
                  <a:srgbClr val="404040"/>
                </a:solidFill>
                <a:latin typeface="Carlito"/>
                <a:cs typeface="Carlito"/>
              </a:rPr>
              <a:t>unorganized</a:t>
            </a:r>
            <a:r>
              <a:rPr sz="2800" spc="25" dirty="0">
                <a:solidFill>
                  <a:srgbClr val="404040"/>
                </a:solidFill>
                <a:latin typeface="Carlito"/>
                <a:cs typeface="Carlito"/>
              </a:rPr>
              <a:t> </a:t>
            </a:r>
            <a:r>
              <a:rPr sz="2800" spc="-15" dirty="0">
                <a:solidFill>
                  <a:srgbClr val="404040"/>
                </a:solidFill>
                <a:latin typeface="Carlito"/>
                <a:cs typeface="Carlito"/>
              </a:rPr>
              <a:t>facts</a:t>
            </a:r>
            <a:endParaRPr sz="2800" dirty="0">
              <a:latin typeface="Carlito"/>
              <a:cs typeface="Carlito"/>
            </a:endParaRPr>
          </a:p>
          <a:p>
            <a:pPr>
              <a:lnSpc>
                <a:spcPct val="100000"/>
              </a:lnSpc>
              <a:spcBef>
                <a:spcPts val="15"/>
              </a:spcBef>
            </a:pPr>
            <a:endParaRPr sz="2350" dirty="0">
              <a:latin typeface="Carlito"/>
              <a:cs typeface="Carlito"/>
            </a:endParaRPr>
          </a:p>
          <a:p>
            <a:pPr marL="12700">
              <a:lnSpc>
                <a:spcPct val="100000"/>
              </a:lnSpc>
            </a:pPr>
            <a:r>
              <a:rPr sz="2800" b="1" u="heavy" spc="-15" dirty="0">
                <a:solidFill>
                  <a:srgbClr val="404040"/>
                </a:solidFill>
                <a:uFill>
                  <a:solidFill>
                    <a:srgbClr val="404040"/>
                  </a:solidFill>
                </a:uFill>
                <a:latin typeface="Carlito"/>
                <a:cs typeface="Carlito"/>
              </a:rPr>
              <a:t>Information</a:t>
            </a:r>
            <a:r>
              <a:rPr sz="2800" spc="-15" dirty="0">
                <a:solidFill>
                  <a:srgbClr val="404040"/>
                </a:solidFill>
                <a:latin typeface="Carlito"/>
                <a:cs typeface="Carlito"/>
              </a:rPr>
              <a:t>:</a:t>
            </a:r>
            <a:endParaRPr sz="2800" dirty="0">
              <a:latin typeface="Carlito"/>
              <a:cs typeface="Carlito"/>
            </a:endParaRPr>
          </a:p>
          <a:p>
            <a:pPr marL="295910" marR="5080" indent="39370">
              <a:lnSpc>
                <a:spcPct val="80000"/>
              </a:lnSpc>
              <a:spcBef>
                <a:spcPts val="1200"/>
              </a:spcBef>
            </a:pPr>
            <a:r>
              <a:rPr sz="2800" spc="-5" dirty="0">
                <a:solidFill>
                  <a:srgbClr val="404040"/>
                </a:solidFill>
                <a:latin typeface="Carlito"/>
                <a:cs typeface="Carlito"/>
              </a:rPr>
              <a:t>A </a:t>
            </a:r>
            <a:r>
              <a:rPr sz="2800" spc="-10" dirty="0">
                <a:solidFill>
                  <a:srgbClr val="404040"/>
                </a:solidFill>
                <a:latin typeface="Carlito"/>
                <a:cs typeface="Carlito"/>
              </a:rPr>
              <a:t>collection </a:t>
            </a:r>
            <a:r>
              <a:rPr sz="2800" spc="-5" dirty="0">
                <a:solidFill>
                  <a:srgbClr val="404040"/>
                </a:solidFill>
                <a:latin typeface="Carlito"/>
                <a:cs typeface="Carlito"/>
              </a:rPr>
              <a:t>of </a:t>
            </a:r>
            <a:r>
              <a:rPr sz="2800" spc="-15" dirty="0">
                <a:solidFill>
                  <a:srgbClr val="404040"/>
                </a:solidFill>
                <a:latin typeface="Carlito"/>
                <a:cs typeface="Carlito"/>
              </a:rPr>
              <a:t>facts </a:t>
            </a:r>
            <a:r>
              <a:rPr sz="2800" spc="-20" dirty="0">
                <a:solidFill>
                  <a:srgbClr val="404040"/>
                </a:solidFill>
                <a:latin typeface="Carlito"/>
                <a:cs typeface="Carlito"/>
              </a:rPr>
              <a:t>organized </a:t>
            </a:r>
            <a:r>
              <a:rPr sz="2800" spc="-5" dirty="0">
                <a:solidFill>
                  <a:srgbClr val="404040"/>
                </a:solidFill>
                <a:latin typeface="Carlito"/>
                <a:cs typeface="Carlito"/>
              </a:rPr>
              <a:t>in </a:t>
            </a:r>
            <a:r>
              <a:rPr sz="2800" spc="-10" dirty="0">
                <a:solidFill>
                  <a:srgbClr val="404040"/>
                </a:solidFill>
                <a:latin typeface="Carlito"/>
                <a:cs typeface="Carlito"/>
              </a:rPr>
              <a:t>such </a:t>
            </a:r>
            <a:r>
              <a:rPr sz="2800" spc="-5" dirty="0">
                <a:solidFill>
                  <a:srgbClr val="404040"/>
                </a:solidFill>
                <a:latin typeface="Carlito"/>
                <a:cs typeface="Carlito"/>
              </a:rPr>
              <a:t>a </a:t>
            </a:r>
            <a:r>
              <a:rPr sz="2800" spc="-30" dirty="0">
                <a:solidFill>
                  <a:srgbClr val="404040"/>
                </a:solidFill>
                <a:latin typeface="Carlito"/>
                <a:cs typeface="Carlito"/>
              </a:rPr>
              <a:t>way </a:t>
            </a:r>
            <a:r>
              <a:rPr sz="2800" spc="-10" dirty="0">
                <a:solidFill>
                  <a:srgbClr val="404040"/>
                </a:solidFill>
                <a:latin typeface="Carlito"/>
                <a:cs typeface="Carlito"/>
              </a:rPr>
              <a:t>that  they </a:t>
            </a:r>
            <a:r>
              <a:rPr sz="2800" spc="-25" dirty="0">
                <a:solidFill>
                  <a:srgbClr val="404040"/>
                </a:solidFill>
                <a:latin typeface="Carlito"/>
                <a:cs typeface="Carlito"/>
              </a:rPr>
              <a:t>have </a:t>
            </a:r>
            <a:r>
              <a:rPr sz="2800" spc="-5" dirty="0">
                <a:solidFill>
                  <a:srgbClr val="404040"/>
                </a:solidFill>
                <a:latin typeface="Carlito"/>
                <a:cs typeface="Carlito"/>
              </a:rPr>
              <a:t>additional </a:t>
            </a:r>
            <a:r>
              <a:rPr sz="2800" spc="-15" dirty="0">
                <a:solidFill>
                  <a:srgbClr val="404040"/>
                </a:solidFill>
                <a:latin typeface="Carlito"/>
                <a:cs typeface="Carlito"/>
              </a:rPr>
              <a:t>value beyond </a:t>
            </a:r>
            <a:r>
              <a:rPr sz="2800" spc="-5" dirty="0">
                <a:solidFill>
                  <a:srgbClr val="404040"/>
                </a:solidFill>
                <a:latin typeface="Carlito"/>
                <a:cs typeface="Carlito"/>
              </a:rPr>
              <a:t>the </a:t>
            </a:r>
            <a:r>
              <a:rPr sz="2800" spc="-10" dirty="0">
                <a:solidFill>
                  <a:srgbClr val="404040"/>
                </a:solidFill>
                <a:latin typeface="Carlito"/>
                <a:cs typeface="Carlito"/>
              </a:rPr>
              <a:t>value of  </a:t>
            </a:r>
            <a:r>
              <a:rPr sz="2800" spc="-5" dirty="0">
                <a:solidFill>
                  <a:srgbClr val="404040"/>
                </a:solidFill>
                <a:latin typeface="Carlito"/>
                <a:cs typeface="Carlito"/>
              </a:rPr>
              <a:t>the </a:t>
            </a:r>
            <a:r>
              <a:rPr sz="2800" spc="-15" dirty="0">
                <a:solidFill>
                  <a:srgbClr val="404040"/>
                </a:solidFill>
                <a:latin typeface="Carlito"/>
                <a:cs typeface="Carlito"/>
              </a:rPr>
              <a:t>facts</a:t>
            </a:r>
            <a:r>
              <a:rPr sz="2800" dirty="0">
                <a:solidFill>
                  <a:srgbClr val="404040"/>
                </a:solidFill>
                <a:latin typeface="Carlito"/>
                <a:cs typeface="Carlito"/>
              </a:rPr>
              <a:t> </a:t>
            </a:r>
            <a:r>
              <a:rPr sz="2800" spc="-10" dirty="0">
                <a:solidFill>
                  <a:srgbClr val="404040"/>
                </a:solidFill>
                <a:latin typeface="Carlito"/>
                <a:cs typeface="Carlito"/>
              </a:rPr>
              <a:t>themselves.</a:t>
            </a:r>
            <a:endParaRPr sz="2800" dirty="0">
              <a:latin typeface="Carlito"/>
              <a:cs typeface="Carlito"/>
            </a:endParaRPr>
          </a:p>
          <a:p>
            <a:pPr>
              <a:lnSpc>
                <a:spcPct val="100000"/>
              </a:lnSpc>
              <a:spcBef>
                <a:spcPts val="45"/>
              </a:spcBef>
            </a:pPr>
            <a:endParaRPr sz="3500" dirty="0">
              <a:latin typeface="Carlito"/>
              <a:cs typeface="Carlito"/>
            </a:endParaRPr>
          </a:p>
          <a:p>
            <a:pPr marL="12700" marR="226695">
              <a:lnSpc>
                <a:spcPts val="2300"/>
              </a:lnSpc>
              <a:spcBef>
                <a:spcPts val="5"/>
              </a:spcBef>
            </a:pPr>
            <a:r>
              <a:rPr sz="2400" spc="-5" dirty="0">
                <a:solidFill>
                  <a:srgbClr val="404040"/>
                </a:solidFill>
                <a:latin typeface="Carlito"/>
                <a:cs typeface="Carlito"/>
              </a:rPr>
              <a:t>Defining </a:t>
            </a:r>
            <a:r>
              <a:rPr sz="2400" dirty="0">
                <a:solidFill>
                  <a:srgbClr val="404040"/>
                </a:solidFill>
                <a:latin typeface="Carlito"/>
                <a:cs typeface="Carlito"/>
              </a:rPr>
              <a:t>and </a:t>
            </a:r>
            <a:r>
              <a:rPr sz="2400" spc="-10" dirty="0">
                <a:solidFill>
                  <a:srgbClr val="404040"/>
                </a:solidFill>
                <a:latin typeface="Carlito"/>
                <a:cs typeface="Carlito"/>
              </a:rPr>
              <a:t>organizing </a:t>
            </a:r>
            <a:r>
              <a:rPr sz="2400" spc="-5" dirty="0">
                <a:solidFill>
                  <a:srgbClr val="404040"/>
                </a:solidFill>
                <a:latin typeface="Carlito"/>
                <a:cs typeface="Carlito"/>
              </a:rPr>
              <a:t>relationships among </a:t>
            </a:r>
            <a:r>
              <a:rPr sz="2400" spc="-15" dirty="0">
                <a:solidFill>
                  <a:srgbClr val="404040"/>
                </a:solidFill>
                <a:latin typeface="Carlito"/>
                <a:cs typeface="Carlito"/>
              </a:rPr>
              <a:t>data creates  </a:t>
            </a:r>
            <a:r>
              <a:rPr sz="2400" spc="-10" dirty="0">
                <a:solidFill>
                  <a:srgbClr val="404040"/>
                </a:solidFill>
                <a:latin typeface="Carlito"/>
                <a:cs typeface="Carlito"/>
              </a:rPr>
              <a:t>information.</a:t>
            </a:r>
            <a:endParaRPr sz="2400" dirty="0">
              <a:latin typeface="Carlito"/>
              <a:cs typeface="Carl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1000"/>
                                        <p:tgtEl>
                                          <p:spTgt spid="3">
                                            <p:txEl>
                                              <p:pRg st="6" end="6"/>
                                            </p:txEl>
                                          </p:spTgt>
                                        </p:tgtEl>
                                      </p:cBhvr>
                                    </p:animEffect>
                                    <p:anim calcmode="lin" valueType="num">
                                      <p:cBhvr>
                                        <p:cTn id="2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99343E-735D-6FDE-57ED-7C61BFC8E4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200" y="2667000"/>
            <a:ext cx="5308528" cy="3749147"/>
          </a:xfrm>
          <a:prstGeom prst="rect">
            <a:avLst/>
          </a:prstGeom>
        </p:spPr>
      </p:pic>
      <p:sp>
        <p:nvSpPr>
          <p:cNvPr id="2" name="object 2"/>
          <p:cNvSpPr txBox="1"/>
          <p:nvPr/>
        </p:nvSpPr>
        <p:spPr>
          <a:xfrm>
            <a:off x="474065" y="833069"/>
            <a:ext cx="1730375" cy="757555"/>
          </a:xfrm>
          <a:prstGeom prst="rect">
            <a:avLst/>
          </a:prstGeom>
        </p:spPr>
        <p:txBody>
          <a:bodyPr vert="horz" wrap="square" lIns="0" tIns="12700" rIns="0" bIns="0" rtlCol="0">
            <a:spAutoFit/>
          </a:bodyPr>
          <a:lstStyle/>
          <a:p>
            <a:pPr marL="12700">
              <a:lnSpc>
                <a:spcPct val="100000"/>
              </a:lnSpc>
              <a:spcBef>
                <a:spcPts val="100"/>
              </a:spcBef>
            </a:pPr>
            <a:r>
              <a:rPr sz="4800" spc="-245" dirty="0">
                <a:solidFill>
                  <a:srgbClr val="63744E"/>
                </a:solidFill>
                <a:latin typeface="Trebuchet MS"/>
                <a:cs typeface="Trebuchet MS"/>
              </a:rPr>
              <a:t>S</a:t>
            </a:r>
            <a:r>
              <a:rPr sz="4800" spc="-365" dirty="0">
                <a:solidFill>
                  <a:srgbClr val="63744E"/>
                </a:solidFill>
                <a:latin typeface="Trebuchet MS"/>
                <a:cs typeface="Trebuchet MS"/>
              </a:rPr>
              <a:t>y</a:t>
            </a:r>
            <a:r>
              <a:rPr sz="4800" spc="-195" dirty="0">
                <a:solidFill>
                  <a:srgbClr val="63744E"/>
                </a:solidFill>
                <a:latin typeface="Trebuchet MS"/>
                <a:cs typeface="Trebuchet MS"/>
              </a:rPr>
              <a:t>s</a:t>
            </a:r>
            <a:r>
              <a:rPr sz="4800" spc="-430" dirty="0">
                <a:solidFill>
                  <a:srgbClr val="63744E"/>
                </a:solidFill>
                <a:latin typeface="Trebuchet MS"/>
                <a:cs typeface="Trebuchet MS"/>
              </a:rPr>
              <a:t>t</a:t>
            </a:r>
            <a:r>
              <a:rPr sz="4800" spc="-290" dirty="0">
                <a:solidFill>
                  <a:srgbClr val="63744E"/>
                </a:solidFill>
                <a:latin typeface="Trebuchet MS"/>
                <a:cs typeface="Trebuchet MS"/>
              </a:rPr>
              <a:t>e</a:t>
            </a:r>
            <a:r>
              <a:rPr sz="4800" spc="-190" dirty="0">
                <a:solidFill>
                  <a:srgbClr val="63744E"/>
                </a:solidFill>
                <a:latin typeface="Trebuchet MS"/>
                <a:cs typeface="Trebuchet MS"/>
              </a:rPr>
              <a:t>m</a:t>
            </a:r>
            <a:endParaRPr sz="4800">
              <a:latin typeface="Trebuchet MS"/>
              <a:cs typeface="Trebuchet MS"/>
            </a:endParaRPr>
          </a:p>
        </p:txBody>
      </p:sp>
      <p:sp>
        <p:nvSpPr>
          <p:cNvPr id="3" name="object 3"/>
          <p:cNvSpPr txBox="1"/>
          <p:nvPr/>
        </p:nvSpPr>
        <p:spPr>
          <a:xfrm>
            <a:off x="914400" y="2133600"/>
            <a:ext cx="5893435" cy="1562100"/>
          </a:xfrm>
          <a:prstGeom prst="rect">
            <a:avLst/>
          </a:prstGeom>
        </p:spPr>
        <p:txBody>
          <a:bodyPr vert="horz" wrap="square" lIns="0" tIns="74295" rIns="0" bIns="0" rtlCol="0">
            <a:spAutoFit/>
          </a:bodyPr>
          <a:lstStyle/>
          <a:p>
            <a:pPr marL="12700" marR="5080">
              <a:lnSpc>
                <a:spcPts val="3890"/>
              </a:lnSpc>
              <a:spcBef>
                <a:spcPts val="585"/>
              </a:spcBef>
            </a:pPr>
            <a:r>
              <a:rPr sz="3600" dirty="0">
                <a:solidFill>
                  <a:srgbClr val="404040"/>
                </a:solidFill>
                <a:latin typeface="Carlito"/>
                <a:cs typeface="Carlito"/>
              </a:rPr>
              <a:t>A </a:t>
            </a:r>
            <a:r>
              <a:rPr sz="3600" b="1" spc="-30" dirty="0">
                <a:solidFill>
                  <a:srgbClr val="404040"/>
                </a:solidFill>
                <a:latin typeface="Carlito"/>
                <a:cs typeface="Carlito"/>
              </a:rPr>
              <a:t>system </a:t>
            </a:r>
            <a:r>
              <a:rPr sz="3600" dirty="0">
                <a:solidFill>
                  <a:srgbClr val="404040"/>
                </a:solidFill>
                <a:latin typeface="Carlito"/>
                <a:cs typeface="Carlito"/>
              </a:rPr>
              <a:t>is a </a:t>
            </a:r>
            <a:r>
              <a:rPr sz="3600" spc="-15" dirty="0">
                <a:solidFill>
                  <a:srgbClr val="404040"/>
                </a:solidFill>
                <a:latin typeface="Carlito"/>
                <a:cs typeface="Carlito"/>
              </a:rPr>
              <a:t>set </a:t>
            </a:r>
            <a:r>
              <a:rPr sz="3600" spc="-5" dirty="0">
                <a:solidFill>
                  <a:srgbClr val="404040"/>
                </a:solidFill>
                <a:latin typeface="Carlito"/>
                <a:cs typeface="Carlito"/>
              </a:rPr>
              <a:t>of elements or  </a:t>
            </a:r>
            <a:r>
              <a:rPr sz="3600" spc="-10" dirty="0">
                <a:solidFill>
                  <a:srgbClr val="404040"/>
                </a:solidFill>
                <a:latin typeface="Carlito"/>
                <a:cs typeface="Carlito"/>
              </a:rPr>
              <a:t>components that </a:t>
            </a:r>
            <a:r>
              <a:rPr sz="3600" spc="-20" dirty="0">
                <a:solidFill>
                  <a:srgbClr val="404040"/>
                </a:solidFill>
                <a:latin typeface="Carlito"/>
                <a:cs typeface="Carlito"/>
              </a:rPr>
              <a:t>interact </a:t>
            </a:r>
            <a:r>
              <a:rPr sz="3600" spc="-25" dirty="0">
                <a:solidFill>
                  <a:srgbClr val="404040"/>
                </a:solidFill>
                <a:latin typeface="Carlito"/>
                <a:cs typeface="Carlito"/>
              </a:rPr>
              <a:t>to  </a:t>
            </a:r>
            <a:r>
              <a:rPr sz="3600" spc="-5" dirty="0">
                <a:solidFill>
                  <a:srgbClr val="404040"/>
                </a:solidFill>
                <a:latin typeface="Carlito"/>
                <a:cs typeface="Carlito"/>
              </a:rPr>
              <a:t>accomplish</a:t>
            </a:r>
            <a:r>
              <a:rPr sz="3600" spc="-20" dirty="0">
                <a:solidFill>
                  <a:srgbClr val="404040"/>
                </a:solidFill>
                <a:latin typeface="Carlito"/>
                <a:cs typeface="Carlito"/>
              </a:rPr>
              <a:t> </a:t>
            </a:r>
            <a:r>
              <a:rPr sz="3600" spc="-10" dirty="0">
                <a:solidFill>
                  <a:srgbClr val="404040"/>
                </a:solidFill>
                <a:latin typeface="Carlito"/>
                <a:cs typeface="Carlito"/>
              </a:rPr>
              <a:t>goals.</a:t>
            </a:r>
            <a:endParaRPr sz="3600" dirty="0">
              <a:latin typeface="Carlito"/>
              <a:cs typeface="Carl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4917" y="790702"/>
            <a:ext cx="5209540" cy="756920"/>
          </a:xfrm>
          <a:prstGeom prst="rect">
            <a:avLst/>
          </a:prstGeom>
        </p:spPr>
        <p:txBody>
          <a:bodyPr vert="horz" wrap="square" lIns="0" tIns="12700" rIns="0" bIns="0" rtlCol="0">
            <a:spAutoFit/>
          </a:bodyPr>
          <a:lstStyle/>
          <a:p>
            <a:pPr marL="12700">
              <a:lnSpc>
                <a:spcPct val="100000"/>
              </a:lnSpc>
              <a:spcBef>
                <a:spcPts val="100"/>
              </a:spcBef>
            </a:pPr>
            <a:r>
              <a:rPr spc="-265" dirty="0"/>
              <a:t>Information</a:t>
            </a:r>
            <a:r>
              <a:rPr spc="-505" dirty="0"/>
              <a:t> </a:t>
            </a:r>
            <a:r>
              <a:rPr spc="-260" dirty="0"/>
              <a:t>Concepts</a:t>
            </a:r>
          </a:p>
        </p:txBody>
      </p:sp>
      <p:sp>
        <p:nvSpPr>
          <p:cNvPr id="3" name="object 3"/>
          <p:cNvSpPr txBox="1"/>
          <p:nvPr/>
        </p:nvSpPr>
        <p:spPr>
          <a:xfrm>
            <a:off x="1328674" y="1884044"/>
            <a:ext cx="6807200" cy="3416935"/>
          </a:xfrm>
          <a:prstGeom prst="rect">
            <a:avLst/>
          </a:prstGeom>
        </p:spPr>
        <p:txBody>
          <a:bodyPr vert="horz" wrap="square" lIns="0" tIns="12065" rIns="0" bIns="0" rtlCol="0">
            <a:spAutoFit/>
          </a:bodyPr>
          <a:lstStyle/>
          <a:p>
            <a:pPr marL="12700">
              <a:lnSpc>
                <a:spcPts val="3315"/>
              </a:lnSpc>
              <a:spcBef>
                <a:spcPts val="95"/>
              </a:spcBef>
            </a:pPr>
            <a:r>
              <a:rPr sz="2800" b="1" u="heavy" spc="-10" dirty="0">
                <a:solidFill>
                  <a:srgbClr val="404040"/>
                </a:solidFill>
                <a:uFill>
                  <a:solidFill>
                    <a:srgbClr val="404040"/>
                  </a:solidFill>
                </a:uFill>
                <a:latin typeface="Carlito"/>
                <a:cs typeface="Carlito"/>
              </a:rPr>
              <a:t>Process</a:t>
            </a:r>
            <a:r>
              <a:rPr sz="2800" spc="-10" dirty="0">
                <a:solidFill>
                  <a:srgbClr val="404040"/>
                </a:solidFill>
                <a:latin typeface="Carlito"/>
                <a:cs typeface="Carlito"/>
              </a:rPr>
              <a:t>:</a:t>
            </a:r>
            <a:endParaRPr sz="2800">
              <a:latin typeface="Carlito"/>
              <a:cs typeface="Carlito"/>
            </a:endParaRPr>
          </a:p>
          <a:p>
            <a:pPr marL="586740" marR="388620" indent="16510">
              <a:lnSpc>
                <a:spcPts val="2810"/>
              </a:lnSpc>
              <a:spcBef>
                <a:spcPts val="309"/>
              </a:spcBef>
            </a:pPr>
            <a:r>
              <a:rPr sz="2600" dirty="0">
                <a:solidFill>
                  <a:srgbClr val="404040"/>
                </a:solidFill>
                <a:latin typeface="Carlito"/>
                <a:cs typeface="Carlito"/>
              </a:rPr>
              <a:t>A </a:t>
            </a:r>
            <a:r>
              <a:rPr sz="2600" spc="-5" dirty="0">
                <a:solidFill>
                  <a:srgbClr val="404040"/>
                </a:solidFill>
                <a:latin typeface="Carlito"/>
                <a:cs typeface="Carlito"/>
              </a:rPr>
              <a:t>set of logically </a:t>
            </a:r>
            <a:r>
              <a:rPr sz="2600" spc="-15" dirty="0">
                <a:solidFill>
                  <a:srgbClr val="404040"/>
                </a:solidFill>
                <a:latin typeface="Carlito"/>
                <a:cs typeface="Carlito"/>
              </a:rPr>
              <a:t>related </a:t>
            </a:r>
            <a:r>
              <a:rPr sz="2600" spc="-10" dirty="0">
                <a:solidFill>
                  <a:srgbClr val="404040"/>
                </a:solidFill>
                <a:latin typeface="Carlito"/>
                <a:cs typeface="Carlito"/>
              </a:rPr>
              <a:t>tasks performed </a:t>
            </a:r>
            <a:r>
              <a:rPr sz="2600" spc="-15" dirty="0">
                <a:solidFill>
                  <a:srgbClr val="404040"/>
                </a:solidFill>
                <a:latin typeface="Carlito"/>
                <a:cs typeface="Carlito"/>
              </a:rPr>
              <a:t>to  </a:t>
            </a:r>
            <a:r>
              <a:rPr sz="2600" spc="-5" dirty="0">
                <a:solidFill>
                  <a:srgbClr val="404040"/>
                </a:solidFill>
                <a:latin typeface="Carlito"/>
                <a:cs typeface="Carlito"/>
              </a:rPr>
              <a:t>achieve </a:t>
            </a:r>
            <a:r>
              <a:rPr sz="2600" dirty="0">
                <a:solidFill>
                  <a:srgbClr val="404040"/>
                </a:solidFill>
                <a:latin typeface="Carlito"/>
                <a:cs typeface="Carlito"/>
              </a:rPr>
              <a:t>a </a:t>
            </a:r>
            <a:r>
              <a:rPr sz="2600" spc="-5" dirty="0">
                <a:solidFill>
                  <a:srgbClr val="404040"/>
                </a:solidFill>
                <a:latin typeface="Carlito"/>
                <a:cs typeface="Carlito"/>
              </a:rPr>
              <a:t>defined</a:t>
            </a:r>
            <a:r>
              <a:rPr sz="2600" spc="-75" dirty="0">
                <a:solidFill>
                  <a:srgbClr val="404040"/>
                </a:solidFill>
                <a:latin typeface="Carlito"/>
                <a:cs typeface="Carlito"/>
              </a:rPr>
              <a:t> </a:t>
            </a:r>
            <a:r>
              <a:rPr sz="2600" spc="-10" dirty="0">
                <a:solidFill>
                  <a:srgbClr val="404040"/>
                </a:solidFill>
                <a:latin typeface="Carlito"/>
                <a:cs typeface="Carlito"/>
              </a:rPr>
              <a:t>outcome.</a:t>
            </a:r>
            <a:endParaRPr sz="2600">
              <a:latin typeface="Carlito"/>
              <a:cs typeface="Carlito"/>
            </a:endParaRPr>
          </a:p>
          <a:p>
            <a:pPr marL="12700">
              <a:lnSpc>
                <a:spcPct val="100000"/>
              </a:lnSpc>
              <a:spcBef>
                <a:spcPts val="800"/>
              </a:spcBef>
            </a:pPr>
            <a:r>
              <a:rPr sz="2800" b="1" u="heavy" spc="-15" dirty="0">
                <a:solidFill>
                  <a:srgbClr val="404040"/>
                </a:solidFill>
                <a:uFill>
                  <a:solidFill>
                    <a:srgbClr val="404040"/>
                  </a:solidFill>
                </a:uFill>
                <a:latin typeface="Carlito"/>
                <a:cs typeface="Carlito"/>
              </a:rPr>
              <a:t>Knowledge</a:t>
            </a:r>
            <a:r>
              <a:rPr sz="2800" spc="-15" dirty="0">
                <a:solidFill>
                  <a:srgbClr val="404040"/>
                </a:solidFill>
                <a:latin typeface="Carlito"/>
                <a:cs typeface="Carlito"/>
              </a:rPr>
              <a:t>:</a:t>
            </a:r>
            <a:endParaRPr sz="2800">
              <a:latin typeface="Carlito"/>
              <a:cs typeface="Carlito"/>
            </a:endParaRPr>
          </a:p>
          <a:p>
            <a:pPr marL="844550" marR="5080">
              <a:lnSpc>
                <a:spcPct val="90000"/>
              </a:lnSpc>
              <a:spcBef>
                <a:spcPts val="1200"/>
              </a:spcBef>
            </a:pPr>
            <a:r>
              <a:rPr sz="2800" spc="-5" dirty="0">
                <a:solidFill>
                  <a:srgbClr val="404040"/>
                </a:solidFill>
                <a:latin typeface="Carlito"/>
                <a:cs typeface="Carlito"/>
              </a:rPr>
              <a:t>An </a:t>
            </a:r>
            <a:r>
              <a:rPr sz="2800" spc="-15" dirty="0">
                <a:solidFill>
                  <a:srgbClr val="404040"/>
                </a:solidFill>
                <a:latin typeface="Carlito"/>
                <a:cs typeface="Carlito"/>
              </a:rPr>
              <a:t>awareness </a:t>
            </a:r>
            <a:r>
              <a:rPr sz="2800" spc="-5" dirty="0">
                <a:solidFill>
                  <a:srgbClr val="404040"/>
                </a:solidFill>
                <a:latin typeface="Carlito"/>
                <a:cs typeface="Carlito"/>
              </a:rPr>
              <a:t>and </a:t>
            </a:r>
            <a:r>
              <a:rPr sz="2800" spc="-15" dirty="0">
                <a:solidFill>
                  <a:srgbClr val="404040"/>
                </a:solidFill>
                <a:latin typeface="Carlito"/>
                <a:cs typeface="Carlito"/>
              </a:rPr>
              <a:t>understanding </a:t>
            </a:r>
            <a:r>
              <a:rPr sz="2800" spc="-5" dirty="0">
                <a:solidFill>
                  <a:srgbClr val="404040"/>
                </a:solidFill>
                <a:latin typeface="Carlito"/>
                <a:cs typeface="Carlito"/>
              </a:rPr>
              <a:t>of a </a:t>
            </a:r>
            <a:r>
              <a:rPr sz="2800" spc="-10" dirty="0">
                <a:solidFill>
                  <a:srgbClr val="404040"/>
                </a:solidFill>
                <a:latin typeface="Carlito"/>
                <a:cs typeface="Carlito"/>
              </a:rPr>
              <a:t>set  </a:t>
            </a:r>
            <a:r>
              <a:rPr sz="2800" spc="-5" dirty="0">
                <a:solidFill>
                  <a:srgbClr val="404040"/>
                </a:solidFill>
                <a:latin typeface="Carlito"/>
                <a:cs typeface="Carlito"/>
              </a:rPr>
              <a:t>of </a:t>
            </a:r>
            <a:r>
              <a:rPr sz="2800" spc="-15" dirty="0">
                <a:solidFill>
                  <a:srgbClr val="404040"/>
                </a:solidFill>
                <a:latin typeface="Carlito"/>
                <a:cs typeface="Carlito"/>
              </a:rPr>
              <a:t>information </a:t>
            </a:r>
            <a:r>
              <a:rPr sz="2800" spc="-5" dirty="0">
                <a:solidFill>
                  <a:srgbClr val="404040"/>
                </a:solidFill>
                <a:latin typeface="Carlito"/>
                <a:cs typeface="Carlito"/>
              </a:rPr>
              <a:t>and </a:t>
            </a:r>
            <a:r>
              <a:rPr sz="2800" spc="-30" dirty="0">
                <a:solidFill>
                  <a:srgbClr val="404040"/>
                </a:solidFill>
                <a:latin typeface="Carlito"/>
                <a:cs typeface="Carlito"/>
              </a:rPr>
              <a:t>ways </a:t>
            </a:r>
            <a:r>
              <a:rPr sz="2800" spc="-10" dirty="0">
                <a:solidFill>
                  <a:srgbClr val="404040"/>
                </a:solidFill>
                <a:latin typeface="Carlito"/>
                <a:cs typeface="Carlito"/>
              </a:rPr>
              <a:t>that </a:t>
            </a:r>
            <a:r>
              <a:rPr sz="2800" spc="-15" dirty="0">
                <a:solidFill>
                  <a:srgbClr val="404040"/>
                </a:solidFill>
                <a:latin typeface="Carlito"/>
                <a:cs typeface="Carlito"/>
              </a:rPr>
              <a:t>information  </a:t>
            </a:r>
            <a:r>
              <a:rPr sz="2800" spc="-10" dirty="0">
                <a:solidFill>
                  <a:srgbClr val="404040"/>
                </a:solidFill>
                <a:latin typeface="Carlito"/>
                <a:cs typeface="Carlito"/>
              </a:rPr>
              <a:t>can </a:t>
            </a:r>
            <a:r>
              <a:rPr sz="2800" spc="-5" dirty="0">
                <a:solidFill>
                  <a:srgbClr val="404040"/>
                </a:solidFill>
                <a:latin typeface="Carlito"/>
                <a:cs typeface="Carlito"/>
              </a:rPr>
              <a:t>be made </a:t>
            </a:r>
            <a:r>
              <a:rPr sz="2800" spc="-15" dirty="0">
                <a:solidFill>
                  <a:srgbClr val="404040"/>
                </a:solidFill>
                <a:latin typeface="Carlito"/>
                <a:cs typeface="Carlito"/>
              </a:rPr>
              <a:t>useful </a:t>
            </a:r>
            <a:r>
              <a:rPr sz="2800" spc="-20" dirty="0">
                <a:solidFill>
                  <a:srgbClr val="404040"/>
                </a:solidFill>
                <a:latin typeface="Carlito"/>
                <a:cs typeface="Carlito"/>
              </a:rPr>
              <a:t>to </a:t>
            </a:r>
            <a:r>
              <a:rPr sz="2800" spc="-10" dirty="0">
                <a:solidFill>
                  <a:srgbClr val="404040"/>
                </a:solidFill>
                <a:latin typeface="Carlito"/>
                <a:cs typeface="Carlito"/>
              </a:rPr>
              <a:t>support </a:t>
            </a:r>
            <a:r>
              <a:rPr sz="2800" spc="-5" dirty="0">
                <a:solidFill>
                  <a:srgbClr val="404040"/>
                </a:solidFill>
                <a:latin typeface="Carlito"/>
                <a:cs typeface="Carlito"/>
              </a:rPr>
              <a:t>a </a:t>
            </a:r>
            <a:r>
              <a:rPr sz="2800" spc="-10" dirty="0">
                <a:solidFill>
                  <a:srgbClr val="404040"/>
                </a:solidFill>
                <a:latin typeface="Carlito"/>
                <a:cs typeface="Carlito"/>
              </a:rPr>
              <a:t>specific  </a:t>
            </a:r>
            <a:r>
              <a:rPr sz="2800" spc="-15" dirty="0">
                <a:solidFill>
                  <a:srgbClr val="404040"/>
                </a:solidFill>
                <a:latin typeface="Carlito"/>
                <a:cs typeface="Carlito"/>
              </a:rPr>
              <a:t>task </a:t>
            </a:r>
            <a:r>
              <a:rPr sz="2800" spc="-5" dirty="0">
                <a:solidFill>
                  <a:srgbClr val="404040"/>
                </a:solidFill>
                <a:latin typeface="Carlito"/>
                <a:cs typeface="Carlito"/>
              </a:rPr>
              <a:t>or </a:t>
            </a:r>
            <a:r>
              <a:rPr sz="2800" spc="-10" dirty="0">
                <a:solidFill>
                  <a:srgbClr val="404040"/>
                </a:solidFill>
                <a:latin typeface="Carlito"/>
                <a:cs typeface="Carlito"/>
              </a:rPr>
              <a:t>reach </a:t>
            </a:r>
            <a:r>
              <a:rPr sz="2800" spc="-5" dirty="0">
                <a:solidFill>
                  <a:srgbClr val="404040"/>
                </a:solidFill>
                <a:latin typeface="Carlito"/>
                <a:cs typeface="Carlito"/>
              </a:rPr>
              <a:t>a</a:t>
            </a:r>
            <a:r>
              <a:rPr sz="2800" spc="25" dirty="0">
                <a:solidFill>
                  <a:srgbClr val="404040"/>
                </a:solidFill>
                <a:latin typeface="Carlito"/>
                <a:cs typeface="Carlito"/>
              </a:rPr>
              <a:t> </a:t>
            </a:r>
            <a:r>
              <a:rPr sz="2800" spc="-10" dirty="0">
                <a:solidFill>
                  <a:srgbClr val="404040"/>
                </a:solidFill>
                <a:latin typeface="Carlito"/>
                <a:cs typeface="Carlito"/>
              </a:rPr>
              <a:t>decision</a:t>
            </a:r>
            <a:endParaRPr sz="2800">
              <a:latin typeface="Carlito"/>
              <a:cs typeface="Carli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9B6466-B11B-E68B-46D3-D238554D65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237" y="882291"/>
            <a:ext cx="6827525" cy="5093418"/>
          </a:xfrm>
          <a:prstGeom prst="rect">
            <a:avLst/>
          </a:prstGeom>
        </p:spPr>
      </p:pic>
    </p:spTree>
    <p:extLst>
      <p:ext uri="{BB962C8B-B14F-4D97-AF65-F5344CB8AC3E}">
        <p14:creationId xmlns:p14="http://schemas.microsoft.com/office/powerpoint/2010/main" val="1354592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accent3">
            <a:lumMod val="40000"/>
            <a:lumOff val="6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A89D76-4EC9-7BD0-B679-F408873BDB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5800"/>
            <a:ext cx="9232818" cy="5105400"/>
          </a:xfrm>
          <a:prstGeom prst="rect">
            <a:avLst/>
          </a:prstGeom>
        </p:spPr>
      </p:pic>
      <p:pic>
        <p:nvPicPr>
          <p:cNvPr id="5" name="Picture 4">
            <a:extLst>
              <a:ext uri="{FF2B5EF4-FFF2-40B4-BE49-F238E27FC236}">
                <a16:creationId xmlns:a16="http://schemas.microsoft.com/office/drawing/2014/main" id="{07A1C541-69A0-6C5B-827C-9209E120DB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537" y="0"/>
            <a:ext cx="8544925" cy="6858000"/>
          </a:xfrm>
          <a:prstGeom prst="rect">
            <a:avLst/>
          </a:prstGeom>
        </p:spPr>
      </p:pic>
      <p:pic>
        <p:nvPicPr>
          <p:cNvPr id="7" name="Picture 6">
            <a:extLst>
              <a:ext uri="{FF2B5EF4-FFF2-40B4-BE49-F238E27FC236}">
                <a16:creationId xmlns:a16="http://schemas.microsoft.com/office/drawing/2014/main" id="{5F03B415-B63B-6EDE-27F8-EAAAA26DB1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3613" y="0"/>
            <a:ext cx="6636774" cy="6858000"/>
          </a:xfrm>
          <a:prstGeom prst="rect">
            <a:avLst/>
          </a:prstGeom>
        </p:spPr>
      </p:pic>
    </p:spTree>
    <p:extLst>
      <p:ext uri="{BB962C8B-B14F-4D97-AF65-F5344CB8AC3E}">
        <p14:creationId xmlns:p14="http://schemas.microsoft.com/office/powerpoint/2010/main" val="4066175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625" y="286258"/>
            <a:ext cx="7885734" cy="1379220"/>
          </a:xfrm>
          <a:prstGeom prst="rect">
            <a:avLst/>
          </a:prstGeom>
        </p:spPr>
        <p:txBody>
          <a:bodyPr vert="horz" wrap="square" lIns="0" tIns="124460" rIns="0" bIns="0" rtlCol="0">
            <a:spAutoFit/>
          </a:bodyPr>
          <a:lstStyle/>
          <a:p>
            <a:pPr marL="38100" marR="5080">
              <a:lnSpc>
                <a:spcPts val="4900"/>
              </a:lnSpc>
              <a:spcBef>
                <a:spcPts val="980"/>
              </a:spcBef>
            </a:pPr>
            <a:r>
              <a:rPr spc="-160" dirty="0"/>
              <a:t>An </a:t>
            </a:r>
            <a:r>
              <a:rPr spc="-254" dirty="0"/>
              <a:t>Introduction </a:t>
            </a:r>
            <a:r>
              <a:rPr spc="-250" dirty="0"/>
              <a:t>to</a:t>
            </a:r>
            <a:r>
              <a:rPr spc="-1015" dirty="0"/>
              <a:t> </a:t>
            </a:r>
            <a:r>
              <a:rPr lang="en-US" spc="-1015" dirty="0"/>
              <a:t> </a:t>
            </a:r>
            <a:r>
              <a:rPr spc="-265" dirty="0"/>
              <a:t>Information  Systems</a:t>
            </a:r>
          </a:p>
        </p:txBody>
      </p:sp>
      <p:sp>
        <p:nvSpPr>
          <p:cNvPr id="3" name="object 3"/>
          <p:cNvSpPr txBox="1"/>
          <p:nvPr/>
        </p:nvSpPr>
        <p:spPr>
          <a:xfrm>
            <a:off x="382625" y="2101723"/>
            <a:ext cx="3020060" cy="452120"/>
          </a:xfrm>
          <a:prstGeom prst="rect">
            <a:avLst/>
          </a:prstGeom>
        </p:spPr>
        <p:txBody>
          <a:bodyPr vert="horz" wrap="square" lIns="0" tIns="12065" rIns="0" bIns="0" rtlCol="0">
            <a:spAutoFit/>
          </a:bodyPr>
          <a:lstStyle/>
          <a:p>
            <a:pPr marL="12700">
              <a:lnSpc>
                <a:spcPct val="100000"/>
              </a:lnSpc>
              <a:spcBef>
                <a:spcPts val="95"/>
              </a:spcBef>
            </a:pPr>
            <a:r>
              <a:rPr sz="2800" b="1" u="heavy" spc="-10" dirty="0">
                <a:solidFill>
                  <a:srgbClr val="404040"/>
                </a:solidFill>
                <a:uFill>
                  <a:solidFill>
                    <a:srgbClr val="404040"/>
                  </a:solidFill>
                </a:uFill>
                <a:latin typeface="Carlito"/>
                <a:cs typeface="Carlito"/>
              </a:rPr>
              <a:t>Information</a:t>
            </a:r>
            <a:r>
              <a:rPr sz="2800" b="1" u="heavy" spc="-60" dirty="0">
                <a:solidFill>
                  <a:srgbClr val="404040"/>
                </a:solidFill>
                <a:uFill>
                  <a:solidFill>
                    <a:srgbClr val="404040"/>
                  </a:solidFill>
                </a:uFill>
                <a:latin typeface="Carlito"/>
                <a:cs typeface="Carlito"/>
              </a:rPr>
              <a:t> </a:t>
            </a:r>
            <a:r>
              <a:rPr sz="2800" b="1" u="heavy" spc="-25" dirty="0">
                <a:solidFill>
                  <a:srgbClr val="404040"/>
                </a:solidFill>
                <a:uFill>
                  <a:solidFill>
                    <a:srgbClr val="404040"/>
                  </a:solidFill>
                </a:uFill>
                <a:latin typeface="Carlito"/>
                <a:cs typeface="Carlito"/>
              </a:rPr>
              <a:t>System:</a:t>
            </a:r>
            <a:endParaRPr sz="2800" dirty="0">
              <a:latin typeface="Carlito"/>
              <a:cs typeface="Carlito"/>
            </a:endParaRPr>
          </a:p>
        </p:txBody>
      </p:sp>
      <p:sp>
        <p:nvSpPr>
          <p:cNvPr id="4" name="object 4"/>
          <p:cNvSpPr txBox="1"/>
          <p:nvPr/>
        </p:nvSpPr>
        <p:spPr>
          <a:xfrm>
            <a:off x="765149" y="2961258"/>
            <a:ext cx="3586479" cy="452120"/>
          </a:xfrm>
          <a:prstGeom prst="rect">
            <a:avLst/>
          </a:prstGeom>
        </p:spPr>
        <p:txBody>
          <a:bodyPr vert="horz" wrap="square" lIns="0" tIns="12065" rIns="0" bIns="0" rtlCol="0">
            <a:spAutoFit/>
          </a:bodyPr>
          <a:lstStyle/>
          <a:p>
            <a:pPr marL="12700">
              <a:lnSpc>
                <a:spcPct val="100000"/>
              </a:lnSpc>
              <a:spcBef>
                <a:spcPts val="95"/>
              </a:spcBef>
              <a:tabLst>
                <a:tab pos="635635" algn="l"/>
                <a:tab pos="2571750" algn="l"/>
              </a:tabLst>
            </a:pPr>
            <a:r>
              <a:rPr sz="2800" spc="-5" dirty="0">
                <a:solidFill>
                  <a:srgbClr val="404040"/>
                </a:solidFill>
                <a:latin typeface="Carlito"/>
                <a:cs typeface="Carlito"/>
              </a:rPr>
              <a:t>An	</a:t>
            </a:r>
            <a:r>
              <a:rPr sz="2800" spc="-15" dirty="0">
                <a:solidFill>
                  <a:srgbClr val="404040"/>
                </a:solidFill>
                <a:latin typeface="Carlito"/>
                <a:cs typeface="Carlito"/>
              </a:rPr>
              <a:t>information	</a:t>
            </a:r>
            <a:r>
              <a:rPr sz="2800" spc="-30" dirty="0">
                <a:solidFill>
                  <a:srgbClr val="404040"/>
                </a:solidFill>
                <a:latin typeface="Carlito"/>
                <a:cs typeface="Carlito"/>
              </a:rPr>
              <a:t>system</a:t>
            </a:r>
            <a:endParaRPr sz="2800">
              <a:latin typeface="Carlito"/>
              <a:cs typeface="Carlito"/>
            </a:endParaRPr>
          </a:p>
        </p:txBody>
      </p:sp>
      <p:sp>
        <p:nvSpPr>
          <p:cNvPr id="5" name="object 5"/>
          <p:cNvSpPr txBox="1"/>
          <p:nvPr/>
        </p:nvSpPr>
        <p:spPr>
          <a:xfrm>
            <a:off x="4557521" y="2961258"/>
            <a:ext cx="3773170" cy="452120"/>
          </a:xfrm>
          <a:prstGeom prst="rect">
            <a:avLst/>
          </a:prstGeom>
        </p:spPr>
        <p:txBody>
          <a:bodyPr vert="horz" wrap="square" lIns="0" tIns="12065" rIns="0" bIns="0" rtlCol="0">
            <a:spAutoFit/>
          </a:bodyPr>
          <a:lstStyle/>
          <a:p>
            <a:pPr marL="12700">
              <a:lnSpc>
                <a:spcPct val="100000"/>
              </a:lnSpc>
              <a:spcBef>
                <a:spcPts val="95"/>
              </a:spcBef>
              <a:tabLst>
                <a:tab pos="464820" algn="l"/>
                <a:tab pos="867410" algn="l"/>
                <a:tab pos="1532255" algn="l"/>
                <a:tab pos="2058035" algn="l"/>
              </a:tabLst>
            </a:pPr>
            <a:r>
              <a:rPr sz="2800" spc="-10" dirty="0">
                <a:solidFill>
                  <a:srgbClr val="404040"/>
                </a:solidFill>
                <a:latin typeface="Carlito"/>
                <a:cs typeface="Carlito"/>
              </a:rPr>
              <a:t>is	</a:t>
            </a:r>
            <a:r>
              <a:rPr sz="2800" spc="-5" dirty="0">
                <a:solidFill>
                  <a:srgbClr val="404040"/>
                </a:solidFill>
                <a:latin typeface="Carlito"/>
                <a:cs typeface="Carlito"/>
              </a:rPr>
              <a:t>a	</a:t>
            </a:r>
            <a:r>
              <a:rPr sz="2800" spc="-10" dirty="0">
                <a:solidFill>
                  <a:srgbClr val="404040"/>
                </a:solidFill>
                <a:latin typeface="Carlito"/>
                <a:cs typeface="Carlito"/>
              </a:rPr>
              <a:t>set	</a:t>
            </a:r>
            <a:r>
              <a:rPr sz="2800" spc="-5" dirty="0">
                <a:solidFill>
                  <a:srgbClr val="404040"/>
                </a:solidFill>
                <a:latin typeface="Carlito"/>
                <a:cs typeface="Carlito"/>
              </a:rPr>
              <a:t>of	</a:t>
            </a:r>
            <a:r>
              <a:rPr sz="2800" spc="-20" dirty="0">
                <a:solidFill>
                  <a:srgbClr val="404040"/>
                </a:solidFill>
                <a:latin typeface="Carlito"/>
                <a:cs typeface="Carlito"/>
              </a:rPr>
              <a:t>interrelated</a:t>
            </a:r>
            <a:endParaRPr sz="2800">
              <a:latin typeface="Carlito"/>
              <a:cs typeface="Carlito"/>
            </a:endParaRPr>
          </a:p>
        </p:txBody>
      </p:sp>
      <p:sp>
        <p:nvSpPr>
          <p:cNvPr id="6" name="object 6"/>
          <p:cNvSpPr txBox="1"/>
          <p:nvPr/>
        </p:nvSpPr>
        <p:spPr>
          <a:xfrm>
            <a:off x="765149" y="3345002"/>
            <a:ext cx="7567295" cy="1220470"/>
          </a:xfrm>
          <a:prstGeom prst="rect">
            <a:avLst/>
          </a:prstGeom>
        </p:spPr>
        <p:txBody>
          <a:bodyPr vert="horz" wrap="square" lIns="0" tIns="55244" rIns="0" bIns="0" rtlCol="0">
            <a:spAutoFit/>
          </a:bodyPr>
          <a:lstStyle/>
          <a:p>
            <a:pPr marL="12700" marR="5080" algn="just">
              <a:lnSpc>
                <a:spcPct val="90000"/>
              </a:lnSpc>
              <a:spcBef>
                <a:spcPts val="434"/>
              </a:spcBef>
            </a:pPr>
            <a:r>
              <a:rPr sz="2800" spc="-10" dirty="0">
                <a:solidFill>
                  <a:srgbClr val="404040"/>
                </a:solidFill>
                <a:latin typeface="Carlito"/>
                <a:cs typeface="Carlito"/>
              </a:rPr>
              <a:t>components that </a:t>
            </a:r>
            <a:r>
              <a:rPr sz="2800" spc="-5" dirty="0">
                <a:solidFill>
                  <a:srgbClr val="404040"/>
                </a:solidFill>
                <a:latin typeface="Carlito"/>
                <a:cs typeface="Carlito"/>
              </a:rPr>
              <a:t>collect, </a:t>
            </a:r>
            <a:r>
              <a:rPr sz="2800" spc="-10" dirty="0">
                <a:solidFill>
                  <a:srgbClr val="404040"/>
                </a:solidFill>
                <a:latin typeface="Carlito"/>
                <a:cs typeface="Carlito"/>
              </a:rPr>
              <a:t>manipulate, </a:t>
            </a:r>
            <a:r>
              <a:rPr sz="2800" spc="-25" dirty="0">
                <a:solidFill>
                  <a:srgbClr val="404040"/>
                </a:solidFill>
                <a:latin typeface="Carlito"/>
                <a:cs typeface="Carlito"/>
              </a:rPr>
              <a:t>store </a:t>
            </a:r>
            <a:r>
              <a:rPr sz="2800" spc="-20" dirty="0">
                <a:solidFill>
                  <a:srgbClr val="404040"/>
                </a:solidFill>
                <a:latin typeface="Carlito"/>
                <a:cs typeface="Carlito"/>
              </a:rPr>
              <a:t>data  </a:t>
            </a:r>
            <a:r>
              <a:rPr sz="2800" spc="-5" dirty="0">
                <a:solidFill>
                  <a:srgbClr val="404040"/>
                </a:solidFill>
                <a:latin typeface="Carlito"/>
                <a:cs typeface="Carlito"/>
              </a:rPr>
              <a:t>and </a:t>
            </a:r>
            <a:r>
              <a:rPr sz="2800" spc="-10" dirty="0">
                <a:solidFill>
                  <a:srgbClr val="404040"/>
                </a:solidFill>
                <a:latin typeface="Carlito"/>
                <a:cs typeface="Carlito"/>
              </a:rPr>
              <a:t>disseminate </a:t>
            </a:r>
            <a:r>
              <a:rPr sz="2800" spc="-15" dirty="0">
                <a:solidFill>
                  <a:srgbClr val="404040"/>
                </a:solidFill>
                <a:latin typeface="Carlito"/>
                <a:cs typeface="Carlito"/>
              </a:rPr>
              <a:t>information </a:t>
            </a:r>
            <a:r>
              <a:rPr sz="2800" dirty="0">
                <a:solidFill>
                  <a:srgbClr val="404040"/>
                </a:solidFill>
                <a:latin typeface="Carlito"/>
                <a:cs typeface="Carlito"/>
              </a:rPr>
              <a:t>and </a:t>
            </a:r>
            <a:r>
              <a:rPr sz="2800" spc="-15" dirty="0">
                <a:solidFill>
                  <a:srgbClr val="404040"/>
                </a:solidFill>
                <a:latin typeface="Carlito"/>
                <a:cs typeface="Carlito"/>
              </a:rPr>
              <a:t>provide </a:t>
            </a:r>
            <a:r>
              <a:rPr sz="2800" spc="-5" dirty="0">
                <a:solidFill>
                  <a:srgbClr val="404040"/>
                </a:solidFill>
                <a:latin typeface="Carlito"/>
                <a:cs typeface="Carlito"/>
              </a:rPr>
              <a:t>a  </a:t>
            </a:r>
            <a:r>
              <a:rPr sz="2800" spc="-15" dirty="0">
                <a:solidFill>
                  <a:srgbClr val="404040"/>
                </a:solidFill>
                <a:latin typeface="Carlito"/>
                <a:cs typeface="Carlito"/>
              </a:rPr>
              <a:t>feedback </a:t>
            </a:r>
            <a:r>
              <a:rPr sz="2800" spc="-5" dirty="0">
                <a:solidFill>
                  <a:srgbClr val="404040"/>
                </a:solidFill>
                <a:latin typeface="Carlito"/>
                <a:cs typeface="Carlito"/>
              </a:rPr>
              <a:t>mechanism </a:t>
            </a:r>
            <a:r>
              <a:rPr sz="2800" spc="-15" dirty="0">
                <a:solidFill>
                  <a:srgbClr val="404040"/>
                </a:solidFill>
                <a:latin typeface="Carlito"/>
                <a:cs typeface="Carlito"/>
              </a:rPr>
              <a:t>to </a:t>
            </a:r>
            <a:r>
              <a:rPr sz="2800" spc="-10" dirty="0">
                <a:solidFill>
                  <a:srgbClr val="404040"/>
                </a:solidFill>
                <a:latin typeface="Carlito"/>
                <a:cs typeface="Carlito"/>
              </a:rPr>
              <a:t>monitor</a:t>
            </a:r>
            <a:r>
              <a:rPr sz="2800" spc="100" dirty="0">
                <a:solidFill>
                  <a:srgbClr val="404040"/>
                </a:solidFill>
                <a:latin typeface="Carlito"/>
                <a:cs typeface="Carlito"/>
              </a:rPr>
              <a:t> </a:t>
            </a:r>
            <a:r>
              <a:rPr sz="2800" spc="-15" dirty="0">
                <a:solidFill>
                  <a:srgbClr val="404040"/>
                </a:solidFill>
                <a:latin typeface="Carlito"/>
                <a:cs typeface="Carlito"/>
              </a:rPr>
              <a:t>performance.</a:t>
            </a:r>
            <a:endParaRPr sz="2800">
              <a:latin typeface="Carlito"/>
              <a:cs typeface="Carl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65377"/>
            <a:ext cx="7616825" cy="756920"/>
          </a:xfrm>
          <a:prstGeom prst="rect">
            <a:avLst/>
          </a:prstGeom>
        </p:spPr>
        <p:txBody>
          <a:bodyPr vert="horz" wrap="square" lIns="0" tIns="12700" rIns="0" bIns="0" rtlCol="0">
            <a:spAutoFit/>
          </a:bodyPr>
          <a:lstStyle/>
          <a:p>
            <a:pPr marL="12700">
              <a:lnSpc>
                <a:spcPct val="100000"/>
              </a:lnSpc>
              <a:spcBef>
                <a:spcPts val="100"/>
              </a:spcBef>
            </a:pPr>
            <a:r>
              <a:rPr spc="-200" dirty="0"/>
              <a:t>What</a:t>
            </a:r>
            <a:r>
              <a:rPr spc="-1130" dirty="0"/>
              <a:t> </a:t>
            </a:r>
            <a:r>
              <a:rPr spc="-229" dirty="0"/>
              <a:t>is </a:t>
            </a:r>
            <a:r>
              <a:rPr spc="-225" dirty="0"/>
              <a:t>an </a:t>
            </a:r>
            <a:r>
              <a:rPr spc="-265" dirty="0"/>
              <a:t>Information </a:t>
            </a:r>
            <a:r>
              <a:rPr spc="-190" dirty="0"/>
              <a:t>System?</a:t>
            </a:r>
          </a:p>
        </p:txBody>
      </p:sp>
      <p:sp>
        <p:nvSpPr>
          <p:cNvPr id="3" name="object 3"/>
          <p:cNvSpPr txBox="1"/>
          <p:nvPr/>
        </p:nvSpPr>
        <p:spPr>
          <a:xfrm>
            <a:off x="764540" y="2115286"/>
            <a:ext cx="7708900" cy="574040"/>
          </a:xfrm>
          <a:prstGeom prst="rect">
            <a:avLst/>
          </a:prstGeom>
        </p:spPr>
        <p:txBody>
          <a:bodyPr vert="horz" wrap="square" lIns="0" tIns="12700" rIns="0" bIns="0" rtlCol="0">
            <a:spAutoFit/>
          </a:bodyPr>
          <a:lstStyle/>
          <a:p>
            <a:pPr marL="12700">
              <a:lnSpc>
                <a:spcPct val="100000"/>
              </a:lnSpc>
              <a:spcBef>
                <a:spcPts val="100"/>
              </a:spcBef>
              <a:tabLst>
                <a:tab pos="835660" algn="l"/>
                <a:tab pos="2952750" algn="l"/>
                <a:tab pos="5604510" algn="l"/>
                <a:tab pos="6301105" algn="l"/>
              </a:tabLst>
            </a:pPr>
            <a:r>
              <a:rPr sz="3600" spc="5" dirty="0">
                <a:solidFill>
                  <a:srgbClr val="404040"/>
                </a:solidFill>
                <a:latin typeface="Carlito"/>
                <a:cs typeface="Carlito"/>
              </a:rPr>
              <a:t>A</a:t>
            </a:r>
            <a:r>
              <a:rPr sz="3600" dirty="0">
                <a:solidFill>
                  <a:srgbClr val="404040"/>
                </a:solidFill>
                <a:latin typeface="Carlito"/>
                <a:cs typeface="Carlito"/>
              </a:rPr>
              <a:t>n	</a:t>
            </a:r>
            <a:r>
              <a:rPr sz="3600" spc="-20" dirty="0">
                <a:solidFill>
                  <a:srgbClr val="404040"/>
                </a:solidFill>
                <a:latin typeface="Carlito"/>
                <a:cs typeface="Carlito"/>
              </a:rPr>
              <a:t>o</a:t>
            </a:r>
            <a:r>
              <a:rPr sz="3600" spc="-45" dirty="0">
                <a:solidFill>
                  <a:srgbClr val="404040"/>
                </a:solidFill>
                <a:latin typeface="Carlito"/>
                <a:cs typeface="Carlito"/>
              </a:rPr>
              <a:t>r</a:t>
            </a:r>
            <a:r>
              <a:rPr sz="3600" spc="-75" dirty="0">
                <a:solidFill>
                  <a:srgbClr val="404040"/>
                </a:solidFill>
                <a:latin typeface="Carlito"/>
                <a:cs typeface="Carlito"/>
              </a:rPr>
              <a:t>g</a:t>
            </a:r>
            <a:r>
              <a:rPr sz="3600" dirty="0">
                <a:solidFill>
                  <a:srgbClr val="404040"/>
                </a:solidFill>
                <a:latin typeface="Carlito"/>
                <a:cs typeface="Carlito"/>
              </a:rPr>
              <a:t>ani</a:t>
            </a:r>
            <a:r>
              <a:rPr sz="3600" spc="-70" dirty="0">
                <a:solidFill>
                  <a:srgbClr val="404040"/>
                </a:solidFill>
                <a:latin typeface="Carlito"/>
                <a:cs typeface="Carlito"/>
              </a:rPr>
              <a:t>z</a:t>
            </a:r>
            <a:r>
              <a:rPr sz="3600" spc="-20" dirty="0">
                <a:solidFill>
                  <a:srgbClr val="404040"/>
                </a:solidFill>
                <a:latin typeface="Carlito"/>
                <a:cs typeface="Carlito"/>
              </a:rPr>
              <a:t>e</a:t>
            </a:r>
            <a:r>
              <a:rPr sz="3600" dirty="0">
                <a:solidFill>
                  <a:srgbClr val="404040"/>
                </a:solidFill>
                <a:latin typeface="Carlito"/>
                <a:cs typeface="Carlito"/>
              </a:rPr>
              <a:t>d	</a:t>
            </a:r>
            <a:r>
              <a:rPr sz="3600" spc="-25" dirty="0">
                <a:solidFill>
                  <a:srgbClr val="404040"/>
                </a:solidFill>
                <a:latin typeface="Carlito"/>
                <a:cs typeface="Carlito"/>
              </a:rPr>
              <a:t>c</a:t>
            </a:r>
            <a:r>
              <a:rPr sz="3600" spc="-5" dirty="0">
                <a:solidFill>
                  <a:srgbClr val="404040"/>
                </a:solidFill>
                <a:latin typeface="Carlito"/>
                <a:cs typeface="Carlito"/>
              </a:rPr>
              <a:t>ombin</a:t>
            </a:r>
            <a:r>
              <a:rPr sz="3600" spc="-45" dirty="0">
                <a:solidFill>
                  <a:srgbClr val="404040"/>
                </a:solidFill>
                <a:latin typeface="Carlito"/>
                <a:cs typeface="Carlito"/>
              </a:rPr>
              <a:t>a</a:t>
            </a:r>
            <a:r>
              <a:rPr sz="3600" dirty="0">
                <a:solidFill>
                  <a:srgbClr val="404040"/>
                </a:solidFill>
                <a:latin typeface="Carlito"/>
                <a:cs typeface="Carlito"/>
              </a:rPr>
              <a:t>tion	</a:t>
            </a:r>
            <a:r>
              <a:rPr sz="3600" spc="-15" dirty="0">
                <a:solidFill>
                  <a:srgbClr val="404040"/>
                </a:solidFill>
                <a:latin typeface="Carlito"/>
                <a:cs typeface="Carlito"/>
              </a:rPr>
              <a:t>o</a:t>
            </a:r>
            <a:r>
              <a:rPr sz="3600" dirty="0">
                <a:solidFill>
                  <a:srgbClr val="404040"/>
                </a:solidFill>
                <a:latin typeface="Carlito"/>
                <a:cs typeface="Carlito"/>
              </a:rPr>
              <a:t>f	</a:t>
            </a:r>
            <a:r>
              <a:rPr sz="3600" spc="-5" dirty="0">
                <a:solidFill>
                  <a:srgbClr val="404040"/>
                </a:solidFill>
                <a:latin typeface="Carlito"/>
                <a:cs typeface="Carlito"/>
              </a:rPr>
              <a:t>people,</a:t>
            </a:r>
            <a:endParaRPr sz="3600" dirty="0">
              <a:latin typeface="Carlito"/>
              <a:cs typeface="Carlito"/>
            </a:endParaRPr>
          </a:p>
        </p:txBody>
      </p:sp>
      <p:sp>
        <p:nvSpPr>
          <p:cNvPr id="4" name="object 4"/>
          <p:cNvSpPr txBox="1"/>
          <p:nvPr/>
        </p:nvSpPr>
        <p:spPr>
          <a:xfrm>
            <a:off x="3142614" y="2729610"/>
            <a:ext cx="5330825" cy="574040"/>
          </a:xfrm>
          <a:prstGeom prst="rect">
            <a:avLst/>
          </a:prstGeom>
        </p:spPr>
        <p:txBody>
          <a:bodyPr vert="horz" wrap="square" lIns="0" tIns="12700" rIns="0" bIns="0" rtlCol="0">
            <a:spAutoFit/>
          </a:bodyPr>
          <a:lstStyle/>
          <a:p>
            <a:pPr marL="12700">
              <a:lnSpc>
                <a:spcPct val="100000"/>
              </a:lnSpc>
              <a:spcBef>
                <a:spcPts val="100"/>
              </a:spcBef>
              <a:tabLst>
                <a:tab pos="2249805" algn="l"/>
              </a:tabLst>
            </a:pPr>
            <a:r>
              <a:rPr sz="3600" spc="-5" dirty="0">
                <a:solidFill>
                  <a:srgbClr val="404040"/>
                </a:solidFill>
                <a:latin typeface="Carlito"/>
                <a:cs typeface="Carlito"/>
              </a:rPr>
              <a:t>soft</a:t>
            </a:r>
            <a:r>
              <a:rPr sz="3600" spc="-50" dirty="0">
                <a:solidFill>
                  <a:srgbClr val="404040"/>
                </a:solidFill>
                <a:latin typeface="Carlito"/>
                <a:cs typeface="Carlito"/>
              </a:rPr>
              <a:t>w</a:t>
            </a:r>
            <a:r>
              <a:rPr sz="3600" dirty="0">
                <a:solidFill>
                  <a:srgbClr val="404040"/>
                </a:solidFill>
                <a:latin typeface="Carlito"/>
                <a:cs typeface="Carlito"/>
              </a:rPr>
              <a:t>a</a:t>
            </a:r>
            <a:r>
              <a:rPr sz="3600" spc="-40" dirty="0">
                <a:solidFill>
                  <a:srgbClr val="404040"/>
                </a:solidFill>
                <a:latin typeface="Carlito"/>
                <a:cs typeface="Carlito"/>
              </a:rPr>
              <a:t>r</a:t>
            </a:r>
            <a:r>
              <a:rPr sz="3600" dirty="0">
                <a:solidFill>
                  <a:srgbClr val="404040"/>
                </a:solidFill>
                <a:latin typeface="Carlito"/>
                <a:cs typeface="Carlito"/>
              </a:rPr>
              <a:t>e,	</a:t>
            </a:r>
            <a:r>
              <a:rPr sz="3600" spc="-25" dirty="0">
                <a:solidFill>
                  <a:srgbClr val="404040"/>
                </a:solidFill>
                <a:latin typeface="Carlito"/>
                <a:cs typeface="Carlito"/>
              </a:rPr>
              <a:t>c</a:t>
            </a:r>
            <a:r>
              <a:rPr sz="3600" spc="-5" dirty="0">
                <a:solidFill>
                  <a:srgbClr val="404040"/>
                </a:solidFill>
                <a:latin typeface="Carlito"/>
                <a:cs typeface="Carlito"/>
              </a:rPr>
              <a:t>omm</a:t>
            </a:r>
            <a:r>
              <a:rPr sz="3600" spc="-15" dirty="0">
                <a:solidFill>
                  <a:srgbClr val="404040"/>
                </a:solidFill>
                <a:latin typeface="Carlito"/>
                <a:cs typeface="Carlito"/>
              </a:rPr>
              <a:t>u</a:t>
            </a:r>
            <a:r>
              <a:rPr sz="3600" spc="-5" dirty="0">
                <a:solidFill>
                  <a:srgbClr val="404040"/>
                </a:solidFill>
                <a:latin typeface="Carlito"/>
                <a:cs typeface="Carlito"/>
              </a:rPr>
              <a:t>ni</a:t>
            </a:r>
            <a:r>
              <a:rPr sz="3600" spc="-20" dirty="0">
                <a:solidFill>
                  <a:srgbClr val="404040"/>
                </a:solidFill>
                <a:latin typeface="Carlito"/>
                <a:cs typeface="Carlito"/>
              </a:rPr>
              <a:t>c</a:t>
            </a:r>
            <a:r>
              <a:rPr sz="3600" spc="-35" dirty="0">
                <a:solidFill>
                  <a:srgbClr val="404040"/>
                </a:solidFill>
                <a:latin typeface="Carlito"/>
                <a:cs typeface="Carlito"/>
              </a:rPr>
              <a:t>a</a:t>
            </a:r>
            <a:r>
              <a:rPr sz="3600" spc="-20" dirty="0">
                <a:solidFill>
                  <a:srgbClr val="404040"/>
                </a:solidFill>
                <a:latin typeface="Carlito"/>
                <a:cs typeface="Carlito"/>
              </a:rPr>
              <a:t>t</a:t>
            </a:r>
            <a:r>
              <a:rPr sz="3600" dirty="0">
                <a:solidFill>
                  <a:srgbClr val="404040"/>
                </a:solidFill>
                <a:latin typeface="Carlito"/>
                <a:cs typeface="Carlito"/>
              </a:rPr>
              <a:t>ions</a:t>
            </a:r>
            <a:endParaRPr sz="3600">
              <a:latin typeface="Carlito"/>
              <a:cs typeface="Carlito"/>
            </a:endParaRPr>
          </a:p>
        </p:txBody>
      </p:sp>
      <p:sp>
        <p:nvSpPr>
          <p:cNvPr id="5" name="object 5"/>
          <p:cNvSpPr txBox="1"/>
          <p:nvPr/>
        </p:nvSpPr>
        <p:spPr>
          <a:xfrm>
            <a:off x="764540" y="2729610"/>
            <a:ext cx="1913255" cy="1562100"/>
          </a:xfrm>
          <a:prstGeom prst="rect">
            <a:avLst/>
          </a:prstGeom>
        </p:spPr>
        <p:txBody>
          <a:bodyPr vert="horz" wrap="square" lIns="0" tIns="67310" rIns="0" bIns="0" rtlCol="0">
            <a:spAutoFit/>
          </a:bodyPr>
          <a:lstStyle/>
          <a:p>
            <a:pPr marL="12700" marR="5080" algn="just">
              <a:lnSpc>
                <a:spcPct val="90000"/>
              </a:lnSpc>
              <a:spcBef>
                <a:spcPts val="530"/>
              </a:spcBef>
            </a:pPr>
            <a:r>
              <a:rPr sz="3600" spc="-5" dirty="0">
                <a:solidFill>
                  <a:srgbClr val="404040"/>
                </a:solidFill>
                <a:latin typeface="Carlito"/>
                <a:cs typeface="Carlito"/>
              </a:rPr>
              <a:t>ha</a:t>
            </a:r>
            <a:r>
              <a:rPr sz="3600" spc="-60" dirty="0">
                <a:solidFill>
                  <a:srgbClr val="404040"/>
                </a:solidFill>
                <a:latin typeface="Carlito"/>
                <a:cs typeface="Carlito"/>
              </a:rPr>
              <a:t>r</a:t>
            </a:r>
            <a:r>
              <a:rPr sz="3600" spc="-5" dirty="0">
                <a:solidFill>
                  <a:srgbClr val="404040"/>
                </a:solidFill>
                <a:latin typeface="Carlito"/>
                <a:cs typeface="Carlito"/>
              </a:rPr>
              <a:t>d</a:t>
            </a:r>
            <a:r>
              <a:rPr sz="3600" spc="-35" dirty="0">
                <a:solidFill>
                  <a:srgbClr val="404040"/>
                </a:solidFill>
                <a:latin typeface="Carlito"/>
                <a:cs typeface="Carlito"/>
              </a:rPr>
              <a:t>w</a:t>
            </a:r>
            <a:r>
              <a:rPr sz="3600" dirty="0">
                <a:solidFill>
                  <a:srgbClr val="404040"/>
                </a:solidFill>
                <a:latin typeface="Carlito"/>
                <a:cs typeface="Carlito"/>
              </a:rPr>
              <a:t>a</a:t>
            </a:r>
            <a:r>
              <a:rPr sz="3600" spc="-55" dirty="0">
                <a:solidFill>
                  <a:srgbClr val="404040"/>
                </a:solidFill>
                <a:latin typeface="Carlito"/>
                <a:cs typeface="Carlito"/>
              </a:rPr>
              <a:t>r</a:t>
            </a:r>
            <a:r>
              <a:rPr sz="3600" dirty="0">
                <a:solidFill>
                  <a:srgbClr val="404040"/>
                </a:solidFill>
                <a:latin typeface="Carlito"/>
                <a:cs typeface="Carlito"/>
              </a:rPr>
              <a:t>e,  </a:t>
            </a:r>
            <a:r>
              <a:rPr sz="3600" spc="-15" dirty="0">
                <a:solidFill>
                  <a:srgbClr val="404040"/>
                </a:solidFill>
                <a:latin typeface="Carlito"/>
                <a:cs typeface="Carlito"/>
              </a:rPr>
              <a:t>networks,  </a:t>
            </a:r>
            <a:r>
              <a:rPr sz="3600" spc="-10" dirty="0">
                <a:solidFill>
                  <a:srgbClr val="404040"/>
                </a:solidFill>
                <a:latin typeface="Carlito"/>
                <a:cs typeface="Carlito"/>
              </a:rPr>
              <a:t>collects</a:t>
            </a:r>
            <a:endParaRPr sz="3600" dirty="0">
              <a:latin typeface="Carlito"/>
              <a:cs typeface="Carlito"/>
            </a:endParaRPr>
          </a:p>
        </p:txBody>
      </p:sp>
      <p:sp>
        <p:nvSpPr>
          <p:cNvPr id="6" name="object 6"/>
          <p:cNvSpPr txBox="1"/>
          <p:nvPr/>
        </p:nvSpPr>
        <p:spPr>
          <a:xfrm>
            <a:off x="2726182" y="3223082"/>
            <a:ext cx="5749290" cy="1068705"/>
          </a:xfrm>
          <a:prstGeom prst="rect">
            <a:avLst/>
          </a:prstGeom>
        </p:spPr>
        <p:txBody>
          <a:bodyPr vert="horz" wrap="square" lIns="0" tIns="74930" rIns="0" bIns="0" rtlCol="0">
            <a:spAutoFit/>
          </a:bodyPr>
          <a:lstStyle/>
          <a:p>
            <a:pPr marL="12700" marR="5080" indent="318770">
              <a:lnSpc>
                <a:spcPts val="3890"/>
              </a:lnSpc>
              <a:spcBef>
                <a:spcPts val="590"/>
              </a:spcBef>
              <a:tabLst>
                <a:tab pos="1474470" algn="l"/>
                <a:tab pos="1515110" algn="l"/>
                <a:tab pos="2738120" algn="l"/>
                <a:tab pos="4094479" algn="l"/>
                <a:tab pos="4975225" algn="l"/>
                <a:tab pos="5034915" algn="l"/>
              </a:tabLst>
            </a:pPr>
            <a:r>
              <a:rPr sz="3600" dirty="0">
                <a:solidFill>
                  <a:srgbClr val="404040"/>
                </a:solidFill>
                <a:latin typeface="Carlito"/>
                <a:cs typeface="Carlito"/>
              </a:rPr>
              <a:t>and	</a:t>
            </a:r>
            <a:r>
              <a:rPr sz="3600" spc="-5" dirty="0">
                <a:solidFill>
                  <a:srgbClr val="404040"/>
                </a:solidFill>
                <a:latin typeface="Carlito"/>
                <a:cs typeface="Carlito"/>
              </a:rPr>
              <a:t>d</a:t>
            </a:r>
            <a:r>
              <a:rPr sz="3600" spc="-35" dirty="0">
                <a:solidFill>
                  <a:srgbClr val="404040"/>
                </a:solidFill>
                <a:latin typeface="Carlito"/>
                <a:cs typeface="Carlito"/>
              </a:rPr>
              <a:t>a</a:t>
            </a:r>
            <a:r>
              <a:rPr sz="3600" spc="-55" dirty="0">
                <a:solidFill>
                  <a:srgbClr val="404040"/>
                </a:solidFill>
                <a:latin typeface="Carlito"/>
                <a:cs typeface="Carlito"/>
              </a:rPr>
              <a:t>t</a:t>
            </a:r>
            <a:r>
              <a:rPr sz="3600" dirty="0">
                <a:solidFill>
                  <a:srgbClr val="404040"/>
                </a:solidFill>
                <a:latin typeface="Carlito"/>
                <a:cs typeface="Carlito"/>
              </a:rPr>
              <a:t>a	</a:t>
            </a:r>
            <a:r>
              <a:rPr sz="3600" spc="-50" dirty="0">
                <a:solidFill>
                  <a:srgbClr val="404040"/>
                </a:solidFill>
                <a:latin typeface="Carlito"/>
                <a:cs typeface="Carlito"/>
              </a:rPr>
              <a:t>r</a:t>
            </a:r>
            <a:r>
              <a:rPr sz="3600" dirty="0">
                <a:solidFill>
                  <a:srgbClr val="404040"/>
                </a:solidFill>
                <a:latin typeface="Carlito"/>
                <a:cs typeface="Carlito"/>
              </a:rPr>
              <a:t>es</a:t>
            </a:r>
            <a:r>
              <a:rPr sz="3600" spc="-15" dirty="0">
                <a:solidFill>
                  <a:srgbClr val="404040"/>
                </a:solidFill>
                <a:latin typeface="Carlito"/>
                <a:cs typeface="Carlito"/>
              </a:rPr>
              <a:t>o</a:t>
            </a:r>
            <a:r>
              <a:rPr sz="3600" spc="-5" dirty="0">
                <a:solidFill>
                  <a:srgbClr val="404040"/>
                </a:solidFill>
                <a:latin typeface="Carlito"/>
                <a:cs typeface="Carlito"/>
              </a:rPr>
              <a:t>u</a:t>
            </a:r>
            <a:r>
              <a:rPr sz="3600" spc="-45" dirty="0">
                <a:solidFill>
                  <a:srgbClr val="404040"/>
                </a:solidFill>
                <a:latin typeface="Carlito"/>
                <a:cs typeface="Carlito"/>
              </a:rPr>
              <a:t>r</a:t>
            </a:r>
            <a:r>
              <a:rPr sz="3600" dirty="0">
                <a:solidFill>
                  <a:srgbClr val="404040"/>
                </a:solidFill>
                <a:latin typeface="Carlito"/>
                <a:cs typeface="Carlito"/>
              </a:rPr>
              <a:t>ces	th</a:t>
            </a:r>
            <a:r>
              <a:rPr sz="3600" spc="-50" dirty="0">
                <a:solidFill>
                  <a:srgbClr val="404040"/>
                </a:solidFill>
                <a:latin typeface="Carlito"/>
                <a:cs typeface="Carlito"/>
              </a:rPr>
              <a:t>a</a:t>
            </a:r>
            <a:r>
              <a:rPr sz="3600" dirty="0">
                <a:solidFill>
                  <a:srgbClr val="404040"/>
                </a:solidFill>
                <a:latin typeface="Carlito"/>
                <a:cs typeface="Carlito"/>
              </a:rPr>
              <a:t>t  </a:t>
            </a:r>
            <a:r>
              <a:rPr sz="3600" spc="-5" dirty="0">
                <a:solidFill>
                  <a:srgbClr val="404040"/>
                </a:solidFill>
                <a:latin typeface="Carlito"/>
                <a:cs typeface="Carlito"/>
              </a:rPr>
              <a:t>d</a:t>
            </a:r>
            <a:r>
              <a:rPr sz="3600" spc="-30" dirty="0">
                <a:solidFill>
                  <a:srgbClr val="404040"/>
                </a:solidFill>
                <a:latin typeface="Carlito"/>
                <a:cs typeface="Carlito"/>
              </a:rPr>
              <a:t>a</a:t>
            </a:r>
            <a:r>
              <a:rPr sz="3600" spc="-55" dirty="0">
                <a:solidFill>
                  <a:srgbClr val="404040"/>
                </a:solidFill>
                <a:latin typeface="Carlito"/>
                <a:cs typeface="Carlito"/>
              </a:rPr>
              <a:t>t</a:t>
            </a:r>
            <a:r>
              <a:rPr sz="3600" dirty="0">
                <a:solidFill>
                  <a:srgbClr val="404040"/>
                </a:solidFill>
                <a:latin typeface="Carlito"/>
                <a:cs typeface="Carlito"/>
              </a:rPr>
              <a:t>a,		t</a:t>
            </a:r>
            <a:r>
              <a:rPr sz="3600" spc="-80" dirty="0">
                <a:solidFill>
                  <a:srgbClr val="404040"/>
                </a:solidFill>
                <a:latin typeface="Carlito"/>
                <a:cs typeface="Carlito"/>
              </a:rPr>
              <a:t>r</a:t>
            </a:r>
            <a:r>
              <a:rPr sz="3600" dirty="0">
                <a:solidFill>
                  <a:srgbClr val="404040"/>
                </a:solidFill>
                <a:latin typeface="Carlito"/>
                <a:cs typeface="Carlito"/>
              </a:rPr>
              <a:t>an</a:t>
            </a:r>
            <a:r>
              <a:rPr sz="3600" spc="-45" dirty="0">
                <a:solidFill>
                  <a:srgbClr val="404040"/>
                </a:solidFill>
                <a:latin typeface="Carlito"/>
                <a:cs typeface="Carlito"/>
              </a:rPr>
              <a:t>s</a:t>
            </a:r>
            <a:r>
              <a:rPr sz="3600" spc="-70" dirty="0">
                <a:solidFill>
                  <a:srgbClr val="404040"/>
                </a:solidFill>
                <a:latin typeface="Carlito"/>
                <a:cs typeface="Carlito"/>
              </a:rPr>
              <a:t>f</a:t>
            </a:r>
            <a:r>
              <a:rPr sz="3600" spc="-5" dirty="0">
                <a:solidFill>
                  <a:srgbClr val="404040"/>
                </a:solidFill>
                <a:latin typeface="Carlito"/>
                <a:cs typeface="Carlito"/>
              </a:rPr>
              <a:t>orm</a:t>
            </a:r>
            <a:r>
              <a:rPr sz="3600" dirty="0">
                <a:solidFill>
                  <a:srgbClr val="404040"/>
                </a:solidFill>
                <a:latin typeface="Carlito"/>
                <a:cs typeface="Carlito"/>
              </a:rPr>
              <a:t>s	it,		and</a:t>
            </a:r>
            <a:endParaRPr sz="3600">
              <a:latin typeface="Carlito"/>
              <a:cs typeface="Carlito"/>
            </a:endParaRPr>
          </a:p>
        </p:txBody>
      </p:sp>
      <p:sp>
        <p:nvSpPr>
          <p:cNvPr id="7" name="object 7"/>
          <p:cNvSpPr txBox="1"/>
          <p:nvPr/>
        </p:nvSpPr>
        <p:spPr>
          <a:xfrm>
            <a:off x="764540" y="4211192"/>
            <a:ext cx="4848225" cy="574040"/>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404040"/>
                </a:solidFill>
                <a:latin typeface="Carlito"/>
                <a:cs typeface="Carlito"/>
              </a:rPr>
              <a:t>disseminates</a:t>
            </a:r>
            <a:r>
              <a:rPr sz="3600" spc="-50" dirty="0">
                <a:solidFill>
                  <a:srgbClr val="404040"/>
                </a:solidFill>
                <a:latin typeface="Carlito"/>
                <a:cs typeface="Carlito"/>
              </a:rPr>
              <a:t> </a:t>
            </a:r>
            <a:r>
              <a:rPr sz="3600" spc="-15" dirty="0">
                <a:solidFill>
                  <a:srgbClr val="404040"/>
                </a:solidFill>
                <a:latin typeface="Carlito"/>
                <a:cs typeface="Carlito"/>
              </a:rPr>
              <a:t>information.</a:t>
            </a:r>
            <a:endParaRPr sz="3600" dirty="0">
              <a:latin typeface="Carlito"/>
              <a:cs typeface="Carl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93C290-C1B4-450D-E1E2-4D386736F7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270" y="1295400"/>
            <a:ext cx="8767459" cy="3695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4644" y="790702"/>
            <a:ext cx="5946775" cy="756920"/>
          </a:xfrm>
          <a:prstGeom prst="rect">
            <a:avLst/>
          </a:prstGeom>
        </p:spPr>
        <p:txBody>
          <a:bodyPr vert="horz" wrap="square" lIns="0" tIns="12700" rIns="0" bIns="0" rtlCol="0">
            <a:spAutoFit/>
          </a:bodyPr>
          <a:lstStyle/>
          <a:p>
            <a:pPr marL="12700">
              <a:lnSpc>
                <a:spcPct val="100000"/>
              </a:lnSpc>
              <a:spcBef>
                <a:spcPts val="100"/>
              </a:spcBef>
            </a:pPr>
            <a:r>
              <a:rPr spc="-320" dirty="0"/>
              <a:t>The </a:t>
            </a:r>
            <a:r>
              <a:rPr spc="-325" dirty="0"/>
              <a:t>Value </a:t>
            </a:r>
            <a:r>
              <a:rPr spc="-235" dirty="0"/>
              <a:t>of</a:t>
            </a:r>
            <a:r>
              <a:rPr spc="-785" dirty="0"/>
              <a:t> </a:t>
            </a:r>
            <a:r>
              <a:rPr spc="-265" dirty="0"/>
              <a:t>Information</a:t>
            </a:r>
          </a:p>
        </p:txBody>
      </p:sp>
      <p:sp>
        <p:nvSpPr>
          <p:cNvPr id="3" name="object 3"/>
          <p:cNvSpPr txBox="1"/>
          <p:nvPr/>
        </p:nvSpPr>
        <p:spPr>
          <a:xfrm>
            <a:off x="885850" y="2609469"/>
            <a:ext cx="7360284" cy="1740535"/>
          </a:xfrm>
          <a:prstGeom prst="rect">
            <a:avLst/>
          </a:prstGeom>
        </p:spPr>
        <p:txBody>
          <a:bodyPr vert="horz" wrap="square" lIns="0" tIns="74295" rIns="0" bIns="0" rtlCol="0">
            <a:spAutoFit/>
          </a:bodyPr>
          <a:lstStyle/>
          <a:p>
            <a:pPr marL="104139" marR="5080" indent="-91440">
              <a:lnSpc>
                <a:spcPts val="3890"/>
              </a:lnSpc>
              <a:spcBef>
                <a:spcPts val="585"/>
              </a:spcBef>
            </a:pPr>
            <a:r>
              <a:rPr sz="3600" b="1" spc="-5" dirty="0">
                <a:solidFill>
                  <a:srgbClr val="404040"/>
                </a:solidFill>
                <a:latin typeface="Carlito"/>
                <a:cs typeface="Carlito"/>
              </a:rPr>
              <a:t>The </a:t>
            </a:r>
            <a:r>
              <a:rPr sz="3600" b="1" spc="-10" dirty="0">
                <a:solidFill>
                  <a:srgbClr val="00AFEF"/>
                </a:solidFill>
                <a:latin typeface="Carlito"/>
                <a:cs typeface="Carlito"/>
              </a:rPr>
              <a:t>value </a:t>
            </a:r>
            <a:r>
              <a:rPr sz="3600" b="1" dirty="0">
                <a:solidFill>
                  <a:srgbClr val="00AFEF"/>
                </a:solidFill>
                <a:latin typeface="Carlito"/>
                <a:cs typeface="Carlito"/>
              </a:rPr>
              <a:t>of </a:t>
            </a:r>
            <a:r>
              <a:rPr sz="3600" b="1" spc="-15" dirty="0">
                <a:solidFill>
                  <a:srgbClr val="00AFEF"/>
                </a:solidFill>
                <a:latin typeface="Carlito"/>
                <a:cs typeface="Carlito"/>
              </a:rPr>
              <a:t>Information </a:t>
            </a:r>
            <a:r>
              <a:rPr sz="3600" b="1" dirty="0">
                <a:solidFill>
                  <a:srgbClr val="404040"/>
                </a:solidFill>
                <a:latin typeface="Carlito"/>
                <a:cs typeface="Carlito"/>
              </a:rPr>
              <a:t>is </a:t>
            </a:r>
            <a:r>
              <a:rPr sz="3600" b="1" spc="-10" dirty="0">
                <a:solidFill>
                  <a:srgbClr val="404040"/>
                </a:solidFill>
                <a:latin typeface="Carlito"/>
                <a:cs typeface="Carlito"/>
              </a:rPr>
              <a:t>directly  </a:t>
            </a:r>
            <a:r>
              <a:rPr sz="3600" b="1" spc="-15" dirty="0">
                <a:solidFill>
                  <a:srgbClr val="404040"/>
                </a:solidFill>
                <a:latin typeface="Carlito"/>
                <a:cs typeface="Carlito"/>
              </a:rPr>
              <a:t>linked </a:t>
            </a:r>
            <a:r>
              <a:rPr sz="3600" b="1" spc="-20" dirty="0">
                <a:solidFill>
                  <a:srgbClr val="404040"/>
                </a:solidFill>
                <a:latin typeface="Carlito"/>
                <a:cs typeface="Carlito"/>
              </a:rPr>
              <a:t>to </a:t>
            </a:r>
            <a:r>
              <a:rPr sz="3600" b="1" dirty="0">
                <a:solidFill>
                  <a:srgbClr val="404040"/>
                </a:solidFill>
                <a:latin typeface="Carlito"/>
                <a:cs typeface="Carlito"/>
              </a:rPr>
              <a:t>how it </a:t>
            </a:r>
            <a:r>
              <a:rPr sz="3600" b="1" spc="-5" dirty="0">
                <a:solidFill>
                  <a:srgbClr val="404040"/>
                </a:solidFill>
                <a:latin typeface="Carlito"/>
                <a:cs typeface="Carlito"/>
              </a:rPr>
              <a:t>helps </a:t>
            </a:r>
            <a:r>
              <a:rPr sz="3600" b="1" dirty="0">
                <a:solidFill>
                  <a:srgbClr val="404040"/>
                </a:solidFill>
                <a:latin typeface="Carlito"/>
                <a:cs typeface="Carlito"/>
              </a:rPr>
              <a:t>decision</a:t>
            </a:r>
            <a:r>
              <a:rPr sz="3600" b="1" spc="30" dirty="0">
                <a:solidFill>
                  <a:srgbClr val="404040"/>
                </a:solidFill>
                <a:latin typeface="Carlito"/>
                <a:cs typeface="Carlito"/>
              </a:rPr>
              <a:t> </a:t>
            </a:r>
            <a:r>
              <a:rPr sz="3600" b="1" spc="-30" dirty="0">
                <a:solidFill>
                  <a:srgbClr val="404040"/>
                </a:solidFill>
                <a:latin typeface="Carlito"/>
                <a:cs typeface="Carlito"/>
              </a:rPr>
              <a:t>makers</a:t>
            </a:r>
            <a:endParaRPr sz="3600">
              <a:latin typeface="Carlito"/>
              <a:cs typeface="Carlito"/>
            </a:endParaRPr>
          </a:p>
          <a:p>
            <a:pPr marL="12700">
              <a:lnSpc>
                <a:spcPct val="100000"/>
              </a:lnSpc>
              <a:spcBef>
                <a:spcPts val="915"/>
              </a:spcBef>
            </a:pPr>
            <a:r>
              <a:rPr sz="3600" b="1" spc="-5" dirty="0">
                <a:solidFill>
                  <a:srgbClr val="404040"/>
                </a:solidFill>
                <a:latin typeface="Carlito"/>
                <a:cs typeface="Carlito"/>
              </a:rPr>
              <a:t>achieve </a:t>
            </a:r>
            <a:r>
              <a:rPr sz="3600" b="1" dirty="0">
                <a:solidFill>
                  <a:srgbClr val="404040"/>
                </a:solidFill>
                <a:latin typeface="Carlito"/>
                <a:cs typeface="Carlito"/>
              </a:rPr>
              <a:t>their </a:t>
            </a:r>
            <a:r>
              <a:rPr sz="3600" b="1" spc="-30" dirty="0">
                <a:solidFill>
                  <a:srgbClr val="404040"/>
                </a:solidFill>
                <a:latin typeface="Carlito"/>
                <a:cs typeface="Carlito"/>
              </a:rPr>
              <a:t>organization’s</a:t>
            </a:r>
            <a:r>
              <a:rPr sz="3600" b="1" spc="-10" dirty="0">
                <a:solidFill>
                  <a:srgbClr val="404040"/>
                </a:solidFill>
                <a:latin typeface="Carlito"/>
                <a:cs typeface="Carlito"/>
              </a:rPr>
              <a:t> goals.</a:t>
            </a:r>
            <a:endParaRPr sz="3600">
              <a:latin typeface="Carlito"/>
              <a:cs typeface="Carli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090" y="908050"/>
            <a:ext cx="6631305" cy="756920"/>
          </a:xfrm>
          <a:prstGeom prst="rect">
            <a:avLst/>
          </a:prstGeom>
        </p:spPr>
        <p:txBody>
          <a:bodyPr vert="horz" wrap="square" lIns="0" tIns="12700" rIns="0" bIns="0" rtlCol="0">
            <a:spAutoFit/>
          </a:bodyPr>
          <a:lstStyle/>
          <a:p>
            <a:pPr marL="12700">
              <a:lnSpc>
                <a:spcPct val="100000"/>
              </a:lnSpc>
              <a:spcBef>
                <a:spcPts val="100"/>
              </a:spcBef>
            </a:pPr>
            <a:r>
              <a:rPr spc="-225" dirty="0"/>
              <a:t>CBIS </a:t>
            </a:r>
            <a:r>
              <a:rPr spc="-320" dirty="0"/>
              <a:t>(Comp. </a:t>
            </a:r>
            <a:r>
              <a:rPr spc="-229" dirty="0"/>
              <a:t>based </a:t>
            </a:r>
            <a:r>
              <a:rPr spc="-250" dirty="0"/>
              <a:t>Info</a:t>
            </a:r>
            <a:r>
              <a:rPr spc="-1085" dirty="0"/>
              <a:t> </a:t>
            </a:r>
            <a:r>
              <a:rPr spc="-270" dirty="0"/>
              <a:t>Sys)</a:t>
            </a:r>
          </a:p>
        </p:txBody>
      </p:sp>
      <p:sp>
        <p:nvSpPr>
          <p:cNvPr id="3" name="object 3"/>
          <p:cNvSpPr txBox="1"/>
          <p:nvPr/>
        </p:nvSpPr>
        <p:spPr>
          <a:xfrm>
            <a:off x="901090" y="1796034"/>
            <a:ext cx="7480300" cy="1562100"/>
          </a:xfrm>
          <a:prstGeom prst="rect">
            <a:avLst/>
          </a:prstGeom>
        </p:spPr>
        <p:txBody>
          <a:bodyPr vert="horz" wrap="square" lIns="0" tIns="74295" rIns="0" bIns="0" rtlCol="0">
            <a:spAutoFit/>
          </a:bodyPr>
          <a:lstStyle/>
          <a:p>
            <a:pPr marL="12700" marR="5080" indent="115570" algn="just">
              <a:lnSpc>
                <a:spcPts val="3890"/>
              </a:lnSpc>
              <a:spcBef>
                <a:spcPts val="585"/>
              </a:spcBef>
            </a:pPr>
            <a:r>
              <a:rPr sz="3600" dirty="0">
                <a:solidFill>
                  <a:srgbClr val="404040"/>
                </a:solidFill>
                <a:latin typeface="Carlito"/>
                <a:cs typeface="Carlito"/>
              </a:rPr>
              <a:t>A </a:t>
            </a:r>
            <a:r>
              <a:rPr sz="3600" spc="-15" dirty="0">
                <a:solidFill>
                  <a:srgbClr val="404040"/>
                </a:solidFill>
                <a:latin typeface="Carlito"/>
                <a:cs typeface="Carlito"/>
              </a:rPr>
              <a:t>computer </a:t>
            </a:r>
            <a:r>
              <a:rPr sz="3600" spc="-10" dirty="0">
                <a:solidFill>
                  <a:srgbClr val="404040"/>
                </a:solidFill>
                <a:latin typeface="Carlito"/>
                <a:cs typeface="Carlito"/>
              </a:rPr>
              <a:t>based </a:t>
            </a:r>
            <a:r>
              <a:rPr sz="3600" spc="-20" dirty="0">
                <a:solidFill>
                  <a:srgbClr val="404040"/>
                </a:solidFill>
                <a:latin typeface="Carlito"/>
                <a:cs typeface="Carlito"/>
              </a:rPr>
              <a:t>informatization  </a:t>
            </a:r>
            <a:r>
              <a:rPr sz="3600" spc="-35" dirty="0">
                <a:solidFill>
                  <a:srgbClr val="404040"/>
                </a:solidFill>
                <a:latin typeface="Carlito"/>
                <a:cs typeface="Carlito"/>
              </a:rPr>
              <a:t>system </a:t>
            </a:r>
            <a:r>
              <a:rPr sz="3600" dirty="0">
                <a:solidFill>
                  <a:srgbClr val="404040"/>
                </a:solidFill>
                <a:latin typeface="Carlito"/>
                <a:cs typeface="Carlito"/>
              </a:rPr>
              <a:t>is a </a:t>
            </a:r>
            <a:r>
              <a:rPr sz="3600" spc="-10" dirty="0">
                <a:solidFill>
                  <a:srgbClr val="404040"/>
                </a:solidFill>
                <a:latin typeface="Carlito"/>
                <a:cs typeface="Carlito"/>
              </a:rPr>
              <a:t>combination </a:t>
            </a:r>
            <a:r>
              <a:rPr sz="3600" spc="-5" dirty="0">
                <a:solidFill>
                  <a:srgbClr val="404040"/>
                </a:solidFill>
                <a:latin typeface="Carlito"/>
                <a:cs typeface="Carlito"/>
              </a:rPr>
              <a:t>of </a:t>
            </a:r>
            <a:r>
              <a:rPr sz="3600" spc="-10" dirty="0">
                <a:solidFill>
                  <a:srgbClr val="404040"/>
                </a:solidFill>
                <a:latin typeface="Carlito"/>
                <a:cs typeface="Carlito"/>
              </a:rPr>
              <a:t>people, IT  </a:t>
            </a:r>
            <a:r>
              <a:rPr sz="3600" dirty="0">
                <a:solidFill>
                  <a:srgbClr val="404040"/>
                </a:solidFill>
                <a:latin typeface="Carlito"/>
                <a:cs typeface="Carlito"/>
              </a:rPr>
              <a:t>and </a:t>
            </a:r>
            <a:r>
              <a:rPr sz="3600" spc="-10" dirty="0">
                <a:solidFill>
                  <a:srgbClr val="404040"/>
                </a:solidFill>
                <a:latin typeface="Carlito"/>
                <a:cs typeface="Carlito"/>
              </a:rPr>
              <a:t>business </a:t>
            </a:r>
            <a:r>
              <a:rPr sz="3600" spc="-15" dirty="0">
                <a:solidFill>
                  <a:srgbClr val="404040"/>
                </a:solidFill>
                <a:latin typeface="Carlito"/>
                <a:cs typeface="Carlito"/>
              </a:rPr>
              <a:t>processes </a:t>
            </a:r>
            <a:r>
              <a:rPr sz="3600" spc="-10" dirty="0">
                <a:solidFill>
                  <a:srgbClr val="404040"/>
                </a:solidFill>
                <a:latin typeface="Carlito"/>
                <a:cs typeface="Carlito"/>
              </a:rPr>
              <a:t>that</a:t>
            </a:r>
            <a:r>
              <a:rPr sz="3600" spc="280" dirty="0">
                <a:solidFill>
                  <a:srgbClr val="404040"/>
                </a:solidFill>
                <a:latin typeface="Carlito"/>
                <a:cs typeface="Carlito"/>
              </a:rPr>
              <a:t> </a:t>
            </a:r>
            <a:r>
              <a:rPr sz="3600" spc="-10" dirty="0">
                <a:solidFill>
                  <a:srgbClr val="404040"/>
                </a:solidFill>
                <a:latin typeface="Carlito"/>
                <a:cs typeface="Carlito"/>
              </a:rPr>
              <a:t>help</a:t>
            </a:r>
            <a:endParaRPr sz="3600">
              <a:latin typeface="Carlito"/>
              <a:cs typeface="Carlito"/>
            </a:endParaRPr>
          </a:p>
        </p:txBody>
      </p:sp>
      <p:sp>
        <p:nvSpPr>
          <p:cNvPr id="4" name="object 4"/>
          <p:cNvSpPr txBox="1"/>
          <p:nvPr/>
        </p:nvSpPr>
        <p:spPr>
          <a:xfrm>
            <a:off x="901090" y="3277616"/>
            <a:ext cx="2491105" cy="574040"/>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404040"/>
                </a:solidFill>
                <a:latin typeface="Carlito"/>
                <a:cs typeface="Carlito"/>
              </a:rPr>
              <a:t>management</a:t>
            </a:r>
            <a:endParaRPr sz="3600">
              <a:latin typeface="Carlito"/>
              <a:cs typeface="Carlito"/>
            </a:endParaRPr>
          </a:p>
        </p:txBody>
      </p:sp>
      <p:sp>
        <p:nvSpPr>
          <p:cNvPr id="5" name="object 5"/>
          <p:cNvSpPr txBox="1"/>
          <p:nvPr/>
        </p:nvSpPr>
        <p:spPr>
          <a:xfrm>
            <a:off x="901090" y="3771392"/>
            <a:ext cx="2433320" cy="574040"/>
          </a:xfrm>
          <a:prstGeom prst="rect">
            <a:avLst/>
          </a:prstGeom>
        </p:spPr>
        <p:txBody>
          <a:bodyPr vert="horz" wrap="square" lIns="0" tIns="12700" rIns="0" bIns="0" rtlCol="0">
            <a:spAutoFit/>
          </a:bodyPr>
          <a:lstStyle/>
          <a:p>
            <a:pPr marL="12700">
              <a:lnSpc>
                <a:spcPct val="100000"/>
              </a:lnSpc>
              <a:spcBef>
                <a:spcPts val="100"/>
              </a:spcBef>
              <a:tabLst>
                <a:tab pos="2036445" algn="l"/>
              </a:tabLst>
            </a:pPr>
            <a:r>
              <a:rPr sz="3600" spc="-5" dirty="0">
                <a:solidFill>
                  <a:srgbClr val="404040"/>
                </a:solidFill>
                <a:latin typeface="Carlito"/>
                <a:cs typeface="Carlito"/>
              </a:rPr>
              <a:t>decision</a:t>
            </a:r>
            <a:r>
              <a:rPr sz="3600" dirty="0">
                <a:solidFill>
                  <a:srgbClr val="404040"/>
                </a:solidFill>
                <a:latin typeface="Carlito"/>
                <a:cs typeface="Carlito"/>
              </a:rPr>
              <a:t>s	</a:t>
            </a:r>
            <a:r>
              <a:rPr sz="3600" spc="-45" dirty="0">
                <a:solidFill>
                  <a:srgbClr val="404040"/>
                </a:solidFill>
                <a:latin typeface="Carlito"/>
                <a:cs typeface="Carlito"/>
              </a:rPr>
              <a:t>to</a:t>
            </a:r>
            <a:endParaRPr sz="3600">
              <a:latin typeface="Carlito"/>
              <a:cs typeface="Carlito"/>
            </a:endParaRPr>
          </a:p>
        </p:txBody>
      </p:sp>
      <p:sp>
        <p:nvSpPr>
          <p:cNvPr id="6" name="object 6"/>
          <p:cNvSpPr txBox="1"/>
          <p:nvPr/>
        </p:nvSpPr>
        <p:spPr>
          <a:xfrm>
            <a:off x="3629659" y="3277616"/>
            <a:ext cx="2849245" cy="1068070"/>
          </a:xfrm>
          <a:prstGeom prst="rect">
            <a:avLst/>
          </a:prstGeom>
        </p:spPr>
        <p:txBody>
          <a:bodyPr vert="horz" wrap="square" lIns="0" tIns="74295" rIns="0" bIns="0" rtlCol="0">
            <a:spAutoFit/>
          </a:bodyPr>
          <a:lstStyle/>
          <a:p>
            <a:pPr marL="12700" marR="5080" indent="283210">
              <a:lnSpc>
                <a:spcPts val="3890"/>
              </a:lnSpc>
              <a:spcBef>
                <a:spcPts val="585"/>
              </a:spcBef>
              <a:tabLst>
                <a:tab pos="1191895" algn="l"/>
                <a:tab pos="1266825" algn="l"/>
                <a:tab pos="2214880" algn="l"/>
              </a:tabLst>
            </a:pPr>
            <a:r>
              <a:rPr sz="3600" dirty="0">
                <a:solidFill>
                  <a:srgbClr val="404040"/>
                </a:solidFill>
                <a:latin typeface="Carlito"/>
                <a:cs typeface="Carlito"/>
              </a:rPr>
              <a:t>in	</a:t>
            </a:r>
            <a:r>
              <a:rPr sz="3600" spc="-15" dirty="0">
                <a:solidFill>
                  <a:srgbClr val="404040"/>
                </a:solidFill>
                <a:latin typeface="Carlito"/>
                <a:cs typeface="Carlito"/>
              </a:rPr>
              <a:t>taking  c</a:t>
            </a:r>
            <a:r>
              <a:rPr sz="3600" dirty="0">
                <a:solidFill>
                  <a:srgbClr val="404040"/>
                </a:solidFill>
                <a:latin typeface="Carlito"/>
                <a:cs typeface="Carlito"/>
              </a:rPr>
              <a:t>arry		</a:t>
            </a:r>
            <a:r>
              <a:rPr sz="3600" spc="-5" dirty="0">
                <a:solidFill>
                  <a:srgbClr val="404040"/>
                </a:solidFill>
                <a:latin typeface="Carlito"/>
                <a:cs typeface="Carlito"/>
              </a:rPr>
              <a:t>ou</a:t>
            </a:r>
            <a:r>
              <a:rPr sz="3600" dirty="0">
                <a:solidFill>
                  <a:srgbClr val="404040"/>
                </a:solidFill>
                <a:latin typeface="Carlito"/>
                <a:cs typeface="Carlito"/>
              </a:rPr>
              <a:t>t	the</a:t>
            </a:r>
            <a:endParaRPr sz="3600">
              <a:latin typeface="Carlito"/>
              <a:cs typeface="Carlito"/>
            </a:endParaRPr>
          </a:p>
        </p:txBody>
      </p:sp>
      <p:sp>
        <p:nvSpPr>
          <p:cNvPr id="7" name="object 7"/>
          <p:cNvSpPr txBox="1"/>
          <p:nvPr/>
        </p:nvSpPr>
        <p:spPr>
          <a:xfrm>
            <a:off x="6491985" y="3277616"/>
            <a:ext cx="1889125" cy="1068070"/>
          </a:xfrm>
          <a:prstGeom prst="rect">
            <a:avLst/>
          </a:prstGeom>
        </p:spPr>
        <p:txBody>
          <a:bodyPr vert="horz" wrap="square" lIns="0" tIns="74295" rIns="0" bIns="0" rtlCol="0">
            <a:spAutoFit/>
          </a:bodyPr>
          <a:lstStyle/>
          <a:p>
            <a:pPr marL="287020" marR="5080" indent="-274320">
              <a:lnSpc>
                <a:spcPts val="3890"/>
              </a:lnSpc>
              <a:spcBef>
                <a:spcPts val="585"/>
              </a:spcBef>
            </a:pPr>
            <a:r>
              <a:rPr sz="3600" spc="-10" dirty="0">
                <a:solidFill>
                  <a:srgbClr val="404040"/>
                </a:solidFill>
                <a:latin typeface="Carlito"/>
                <a:cs typeface="Carlito"/>
              </a:rPr>
              <a:t>i</a:t>
            </a:r>
            <a:r>
              <a:rPr sz="3600" dirty="0">
                <a:solidFill>
                  <a:srgbClr val="404040"/>
                </a:solidFill>
                <a:latin typeface="Carlito"/>
                <a:cs typeface="Carlito"/>
              </a:rPr>
              <a:t>mpor</a:t>
            </a:r>
            <a:r>
              <a:rPr sz="3600" spc="-55" dirty="0">
                <a:solidFill>
                  <a:srgbClr val="404040"/>
                </a:solidFill>
                <a:latin typeface="Carlito"/>
                <a:cs typeface="Carlito"/>
              </a:rPr>
              <a:t>t</a:t>
            </a:r>
            <a:r>
              <a:rPr sz="3600" dirty="0">
                <a:solidFill>
                  <a:srgbClr val="404040"/>
                </a:solidFill>
                <a:latin typeface="Carlito"/>
                <a:cs typeface="Carlito"/>
              </a:rPr>
              <a:t>a</a:t>
            </a:r>
            <a:r>
              <a:rPr sz="3600" spc="-40" dirty="0">
                <a:solidFill>
                  <a:srgbClr val="404040"/>
                </a:solidFill>
                <a:latin typeface="Carlito"/>
                <a:cs typeface="Carlito"/>
              </a:rPr>
              <a:t>n</a:t>
            </a:r>
            <a:r>
              <a:rPr sz="3600" dirty="0">
                <a:solidFill>
                  <a:srgbClr val="404040"/>
                </a:solidFill>
                <a:latin typeface="Carlito"/>
                <a:cs typeface="Carlito"/>
              </a:rPr>
              <a:t>t  </a:t>
            </a:r>
            <a:r>
              <a:rPr sz="3600" spc="-5" dirty="0">
                <a:solidFill>
                  <a:srgbClr val="404040"/>
                </a:solidFill>
                <a:latin typeface="Carlito"/>
                <a:cs typeface="Carlito"/>
              </a:rPr>
              <a:t>b</a:t>
            </a:r>
            <a:r>
              <a:rPr sz="3600" spc="5" dirty="0">
                <a:solidFill>
                  <a:srgbClr val="404040"/>
                </a:solidFill>
                <a:latin typeface="Carlito"/>
                <a:cs typeface="Carlito"/>
              </a:rPr>
              <a:t>u</a:t>
            </a:r>
            <a:r>
              <a:rPr sz="3600" spc="-5" dirty="0">
                <a:solidFill>
                  <a:srgbClr val="404040"/>
                </a:solidFill>
                <a:latin typeface="Carlito"/>
                <a:cs typeface="Carlito"/>
              </a:rPr>
              <a:t>s</a:t>
            </a:r>
            <a:r>
              <a:rPr sz="3600" spc="-15" dirty="0">
                <a:solidFill>
                  <a:srgbClr val="404040"/>
                </a:solidFill>
                <a:latin typeface="Carlito"/>
                <a:cs typeface="Carlito"/>
              </a:rPr>
              <a:t>i</a:t>
            </a:r>
            <a:r>
              <a:rPr sz="3600" spc="-5" dirty="0">
                <a:solidFill>
                  <a:srgbClr val="404040"/>
                </a:solidFill>
                <a:latin typeface="Carlito"/>
                <a:cs typeface="Carlito"/>
              </a:rPr>
              <a:t>ness</a:t>
            </a:r>
            <a:endParaRPr sz="3600">
              <a:latin typeface="Carlito"/>
              <a:cs typeface="Carlito"/>
            </a:endParaRPr>
          </a:p>
        </p:txBody>
      </p:sp>
      <p:sp>
        <p:nvSpPr>
          <p:cNvPr id="8" name="object 8"/>
          <p:cNvSpPr txBox="1"/>
          <p:nvPr/>
        </p:nvSpPr>
        <p:spPr>
          <a:xfrm>
            <a:off x="901090" y="4264863"/>
            <a:ext cx="2210435"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404040"/>
                </a:solidFill>
                <a:latin typeface="Carlito"/>
                <a:cs typeface="Carlito"/>
              </a:rPr>
              <a:t>succes</a:t>
            </a:r>
            <a:r>
              <a:rPr sz="3600" spc="-40" dirty="0">
                <a:solidFill>
                  <a:srgbClr val="404040"/>
                </a:solidFill>
                <a:latin typeface="Carlito"/>
                <a:cs typeface="Carlito"/>
              </a:rPr>
              <a:t>s</a:t>
            </a:r>
            <a:r>
              <a:rPr sz="3600" spc="-5" dirty="0">
                <a:solidFill>
                  <a:srgbClr val="404040"/>
                </a:solidFill>
                <a:latin typeface="Carlito"/>
                <a:cs typeface="Carlito"/>
              </a:rPr>
              <a:t>f</a:t>
            </a:r>
            <a:r>
              <a:rPr sz="3600" spc="5" dirty="0">
                <a:solidFill>
                  <a:srgbClr val="404040"/>
                </a:solidFill>
                <a:latin typeface="Carlito"/>
                <a:cs typeface="Carlito"/>
              </a:rPr>
              <a:t>u</a:t>
            </a:r>
            <a:r>
              <a:rPr sz="3600" dirty="0">
                <a:solidFill>
                  <a:srgbClr val="404040"/>
                </a:solidFill>
                <a:latin typeface="Carlito"/>
                <a:cs typeface="Carlito"/>
              </a:rPr>
              <a:t>lly</a:t>
            </a:r>
            <a:endParaRPr sz="3600">
              <a:latin typeface="Carlito"/>
              <a:cs typeface="Carl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090" y="908050"/>
            <a:ext cx="6631305" cy="756920"/>
          </a:xfrm>
          <a:prstGeom prst="rect">
            <a:avLst/>
          </a:prstGeom>
        </p:spPr>
        <p:txBody>
          <a:bodyPr vert="horz" wrap="square" lIns="0" tIns="12700" rIns="0" bIns="0" rtlCol="0">
            <a:spAutoFit/>
          </a:bodyPr>
          <a:lstStyle/>
          <a:p>
            <a:pPr marL="12700">
              <a:lnSpc>
                <a:spcPct val="100000"/>
              </a:lnSpc>
              <a:spcBef>
                <a:spcPts val="100"/>
              </a:spcBef>
            </a:pPr>
            <a:r>
              <a:rPr spc="-225" dirty="0"/>
              <a:t>CBIS </a:t>
            </a:r>
            <a:r>
              <a:rPr spc="-320" dirty="0"/>
              <a:t>(Comp. </a:t>
            </a:r>
            <a:r>
              <a:rPr spc="-229" dirty="0"/>
              <a:t>based </a:t>
            </a:r>
            <a:r>
              <a:rPr spc="-250" dirty="0"/>
              <a:t>Info</a:t>
            </a:r>
            <a:r>
              <a:rPr spc="-1085" dirty="0"/>
              <a:t> </a:t>
            </a:r>
            <a:r>
              <a:rPr spc="-270" dirty="0"/>
              <a:t>Sys)</a:t>
            </a:r>
          </a:p>
        </p:txBody>
      </p:sp>
      <p:sp>
        <p:nvSpPr>
          <p:cNvPr id="3" name="object 3"/>
          <p:cNvSpPr txBox="1"/>
          <p:nvPr/>
        </p:nvSpPr>
        <p:spPr>
          <a:xfrm>
            <a:off x="809650" y="1678076"/>
            <a:ext cx="6568440" cy="3398520"/>
          </a:xfrm>
          <a:prstGeom prst="rect">
            <a:avLst/>
          </a:prstGeom>
        </p:spPr>
        <p:txBody>
          <a:bodyPr vert="horz" wrap="square" lIns="0" tIns="147955" rIns="0" bIns="0" rtlCol="0">
            <a:spAutoFit/>
          </a:bodyPr>
          <a:lstStyle/>
          <a:p>
            <a:pPr marL="12700">
              <a:lnSpc>
                <a:spcPct val="100000"/>
              </a:lnSpc>
              <a:spcBef>
                <a:spcPts val="1165"/>
              </a:spcBef>
            </a:pPr>
            <a:r>
              <a:rPr sz="2800" b="1" u="heavy" spc="-15" dirty="0">
                <a:solidFill>
                  <a:srgbClr val="404040"/>
                </a:solidFill>
                <a:uFill>
                  <a:solidFill>
                    <a:srgbClr val="404040"/>
                  </a:solidFill>
                </a:uFill>
                <a:latin typeface="Carlito"/>
                <a:cs typeface="Carlito"/>
              </a:rPr>
              <a:t>Hardware:</a:t>
            </a:r>
            <a:endParaRPr sz="2800">
              <a:latin typeface="Carlito"/>
              <a:cs typeface="Carlito"/>
            </a:endParaRPr>
          </a:p>
          <a:p>
            <a:pPr marL="1841500">
              <a:lnSpc>
                <a:spcPct val="100000"/>
              </a:lnSpc>
              <a:spcBef>
                <a:spcPts val="1070"/>
              </a:spcBef>
            </a:pPr>
            <a:r>
              <a:rPr sz="2800" spc="-10" dirty="0">
                <a:solidFill>
                  <a:srgbClr val="404040"/>
                </a:solidFill>
                <a:latin typeface="Carlito"/>
                <a:cs typeface="Carlito"/>
              </a:rPr>
              <a:t>Computer</a:t>
            </a:r>
            <a:r>
              <a:rPr sz="2800" spc="15" dirty="0">
                <a:solidFill>
                  <a:srgbClr val="404040"/>
                </a:solidFill>
                <a:latin typeface="Carlito"/>
                <a:cs typeface="Carlito"/>
              </a:rPr>
              <a:t> </a:t>
            </a:r>
            <a:r>
              <a:rPr sz="2800" spc="-15" dirty="0">
                <a:solidFill>
                  <a:srgbClr val="404040"/>
                </a:solidFill>
                <a:latin typeface="Carlito"/>
                <a:cs typeface="Carlito"/>
              </a:rPr>
              <a:t>Equipment</a:t>
            </a:r>
            <a:endParaRPr sz="2800">
              <a:latin typeface="Carlito"/>
              <a:cs typeface="Carlito"/>
            </a:endParaRPr>
          </a:p>
          <a:p>
            <a:pPr marL="12700">
              <a:lnSpc>
                <a:spcPct val="100000"/>
              </a:lnSpc>
              <a:spcBef>
                <a:spcPts val="1070"/>
              </a:spcBef>
            </a:pPr>
            <a:r>
              <a:rPr sz="2800" b="1" u="heavy" spc="-15" dirty="0">
                <a:solidFill>
                  <a:srgbClr val="404040"/>
                </a:solidFill>
                <a:uFill>
                  <a:solidFill>
                    <a:srgbClr val="404040"/>
                  </a:solidFill>
                </a:uFill>
                <a:latin typeface="Carlito"/>
                <a:cs typeface="Carlito"/>
              </a:rPr>
              <a:t>Software</a:t>
            </a:r>
            <a:r>
              <a:rPr sz="2800" b="1" spc="-15" dirty="0">
                <a:solidFill>
                  <a:srgbClr val="404040"/>
                </a:solidFill>
                <a:latin typeface="Carlito"/>
                <a:cs typeface="Carlito"/>
              </a:rPr>
              <a:t>:</a:t>
            </a:r>
            <a:endParaRPr sz="2800">
              <a:latin typeface="Carlito"/>
              <a:cs typeface="Carlito"/>
            </a:endParaRPr>
          </a:p>
          <a:p>
            <a:pPr marL="1841500">
              <a:lnSpc>
                <a:spcPct val="100000"/>
              </a:lnSpc>
              <a:spcBef>
                <a:spcPts val="1055"/>
              </a:spcBef>
            </a:pPr>
            <a:r>
              <a:rPr sz="2800" spc="-10" dirty="0">
                <a:solidFill>
                  <a:srgbClr val="404040"/>
                </a:solidFill>
                <a:latin typeface="Carlito"/>
                <a:cs typeface="Carlito"/>
              </a:rPr>
              <a:t>Computer</a:t>
            </a:r>
            <a:r>
              <a:rPr sz="2800" spc="15" dirty="0">
                <a:solidFill>
                  <a:srgbClr val="404040"/>
                </a:solidFill>
                <a:latin typeface="Carlito"/>
                <a:cs typeface="Carlito"/>
              </a:rPr>
              <a:t> </a:t>
            </a:r>
            <a:r>
              <a:rPr sz="2800" spc="-20" dirty="0">
                <a:solidFill>
                  <a:srgbClr val="404040"/>
                </a:solidFill>
                <a:latin typeface="Carlito"/>
                <a:cs typeface="Carlito"/>
              </a:rPr>
              <a:t>Programs</a:t>
            </a:r>
            <a:endParaRPr sz="2800">
              <a:latin typeface="Carlito"/>
              <a:cs typeface="Carlito"/>
            </a:endParaRPr>
          </a:p>
          <a:p>
            <a:pPr marL="12700">
              <a:lnSpc>
                <a:spcPct val="100000"/>
              </a:lnSpc>
              <a:spcBef>
                <a:spcPts val="1070"/>
              </a:spcBef>
            </a:pPr>
            <a:r>
              <a:rPr sz="2800" b="1" u="heavy" spc="-10" dirty="0">
                <a:solidFill>
                  <a:srgbClr val="404040"/>
                </a:solidFill>
                <a:uFill>
                  <a:solidFill>
                    <a:srgbClr val="404040"/>
                  </a:solidFill>
                </a:uFill>
                <a:latin typeface="Carlito"/>
                <a:cs typeface="Carlito"/>
              </a:rPr>
              <a:t>Databases:</a:t>
            </a:r>
            <a:endParaRPr sz="2800">
              <a:latin typeface="Carlito"/>
              <a:cs typeface="Carlito"/>
            </a:endParaRPr>
          </a:p>
          <a:p>
            <a:pPr marL="1922145">
              <a:lnSpc>
                <a:spcPct val="100000"/>
              </a:lnSpc>
              <a:spcBef>
                <a:spcPts val="1070"/>
              </a:spcBef>
            </a:pPr>
            <a:r>
              <a:rPr sz="2800" spc="-5" dirty="0">
                <a:solidFill>
                  <a:srgbClr val="404040"/>
                </a:solidFill>
                <a:latin typeface="Carlito"/>
                <a:cs typeface="Carlito"/>
              </a:rPr>
              <a:t>An </a:t>
            </a:r>
            <a:r>
              <a:rPr sz="2800" spc="-20" dirty="0">
                <a:solidFill>
                  <a:srgbClr val="404040"/>
                </a:solidFill>
                <a:latin typeface="Carlito"/>
                <a:cs typeface="Carlito"/>
              </a:rPr>
              <a:t>organized </a:t>
            </a:r>
            <a:r>
              <a:rPr sz="2800" spc="-10" dirty="0">
                <a:solidFill>
                  <a:srgbClr val="404040"/>
                </a:solidFill>
                <a:latin typeface="Carlito"/>
                <a:cs typeface="Carlito"/>
              </a:rPr>
              <a:t>collections </a:t>
            </a:r>
            <a:r>
              <a:rPr sz="2800" spc="-5" dirty="0">
                <a:solidFill>
                  <a:srgbClr val="404040"/>
                </a:solidFill>
                <a:latin typeface="Carlito"/>
                <a:cs typeface="Carlito"/>
              </a:rPr>
              <a:t>of</a:t>
            </a:r>
            <a:r>
              <a:rPr sz="2800" spc="30" dirty="0">
                <a:solidFill>
                  <a:srgbClr val="404040"/>
                </a:solidFill>
                <a:latin typeface="Carlito"/>
                <a:cs typeface="Carlito"/>
              </a:rPr>
              <a:t> </a:t>
            </a:r>
            <a:r>
              <a:rPr sz="2800" spc="-15" dirty="0">
                <a:solidFill>
                  <a:srgbClr val="404040"/>
                </a:solidFill>
                <a:latin typeface="Carlito"/>
                <a:cs typeface="Carlito"/>
              </a:rPr>
              <a:t>facts</a:t>
            </a:r>
            <a:endParaRPr sz="2800">
              <a:latin typeface="Carlito"/>
              <a:cs typeface="Carlito"/>
            </a:endParaRPr>
          </a:p>
        </p:txBody>
      </p:sp>
      <p:sp>
        <p:nvSpPr>
          <p:cNvPr id="4" name="object 4"/>
          <p:cNvSpPr/>
          <p:nvPr/>
        </p:nvSpPr>
        <p:spPr>
          <a:xfrm>
            <a:off x="6363629" y="2428387"/>
            <a:ext cx="2208871" cy="147128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090" y="728294"/>
            <a:ext cx="1085215" cy="757555"/>
          </a:xfrm>
          <a:prstGeom prst="rect">
            <a:avLst/>
          </a:prstGeom>
        </p:spPr>
        <p:txBody>
          <a:bodyPr vert="horz" wrap="square" lIns="0" tIns="12700" rIns="0" bIns="0" rtlCol="0">
            <a:spAutoFit/>
          </a:bodyPr>
          <a:lstStyle/>
          <a:p>
            <a:pPr marL="12700">
              <a:lnSpc>
                <a:spcPct val="100000"/>
              </a:lnSpc>
              <a:spcBef>
                <a:spcPts val="100"/>
              </a:spcBef>
            </a:pPr>
            <a:r>
              <a:rPr spc="-355" dirty="0"/>
              <a:t>C</a:t>
            </a:r>
            <a:r>
              <a:rPr spc="-200" dirty="0"/>
              <a:t>B</a:t>
            </a:r>
            <a:r>
              <a:rPr spc="-210" dirty="0"/>
              <a:t>I</a:t>
            </a:r>
            <a:r>
              <a:rPr spc="-135" dirty="0"/>
              <a:t>S</a:t>
            </a:r>
          </a:p>
        </p:txBody>
      </p:sp>
      <p:sp>
        <p:nvSpPr>
          <p:cNvPr id="3" name="object 3"/>
          <p:cNvSpPr txBox="1"/>
          <p:nvPr/>
        </p:nvSpPr>
        <p:spPr>
          <a:xfrm>
            <a:off x="464921" y="1843370"/>
            <a:ext cx="8514715" cy="3979545"/>
          </a:xfrm>
          <a:prstGeom prst="rect">
            <a:avLst/>
          </a:prstGeom>
        </p:spPr>
        <p:txBody>
          <a:bodyPr vert="horz" wrap="square" lIns="0" tIns="139700" rIns="0" bIns="0" rtlCol="0">
            <a:spAutoFit/>
          </a:bodyPr>
          <a:lstStyle/>
          <a:p>
            <a:pPr marL="12700">
              <a:lnSpc>
                <a:spcPct val="100000"/>
              </a:lnSpc>
              <a:spcBef>
                <a:spcPts val="1100"/>
              </a:spcBef>
            </a:pPr>
            <a:r>
              <a:rPr sz="2100" b="1" u="heavy" spc="-15" dirty="0">
                <a:solidFill>
                  <a:srgbClr val="404040"/>
                </a:solidFill>
                <a:uFill>
                  <a:solidFill>
                    <a:srgbClr val="404040"/>
                  </a:solidFill>
                </a:uFill>
                <a:latin typeface="Carlito"/>
                <a:cs typeface="Carlito"/>
              </a:rPr>
              <a:t>Telecommunications</a:t>
            </a:r>
            <a:r>
              <a:rPr sz="1900" b="1" u="heavy" spc="-15" dirty="0">
                <a:solidFill>
                  <a:srgbClr val="404040"/>
                </a:solidFill>
                <a:uFill>
                  <a:solidFill>
                    <a:srgbClr val="404040"/>
                  </a:solidFill>
                </a:uFill>
                <a:latin typeface="Carlito"/>
                <a:cs typeface="Carlito"/>
              </a:rPr>
              <a:t>:</a:t>
            </a:r>
            <a:endParaRPr sz="1900">
              <a:latin typeface="Carlito"/>
              <a:cs typeface="Carlito"/>
            </a:endParaRPr>
          </a:p>
          <a:p>
            <a:pPr marL="295910">
              <a:lnSpc>
                <a:spcPct val="100000"/>
              </a:lnSpc>
              <a:spcBef>
                <a:spcPts val="965"/>
              </a:spcBef>
            </a:pPr>
            <a:r>
              <a:rPr sz="2000" spc="-10" dirty="0">
                <a:solidFill>
                  <a:srgbClr val="404040"/>
                </a:solidFill>
                <a:latin typeface="Carlito"/>
                <a:cs typeface="Carlito"/>
              </a:rPr>
              <a:t>Electronic </a:t>
            </a:r>
            <a:r>
              <a:rPr sz="2000" spc="-5" dirty="0">
                <a:solidFill>
                  <a:srgbClr val="404040"/>
                </a:solidFill>
                <a:latin typeface="Carlito"/>
                <a:cs typeface="Carlito"/>
              </a:rPr>
              <a:t>transmission </a:t>
            </a:r>
            <a:r>
              <a:rPr sz="2000" dirty="0">
                <a:solidFill>
                  <a:srgbClr val="404040"/>
                </a:solidFill>
                <a:latin typeface="Carlito"/>
                <a:cs typeface="Carlito"/>
              </a:rPr>
              <a:t>of </a:t>
            </a:r>
            <a:r>
              <a:rPr sz="2000" spc="-5" dirty="0">
                <a:solidFill>
                  <a:srgbClr val="404040"/>
                </a:solidFill>
                <a:latin typeface="Carlito"/>
                <a:cs typeface="Carlito"/>
              </a:rPr>
              <a:t>signals </a:t>
            </a:r>
            <a:r>
              <a:rPr sz="2000" spc="-15" dirty="0">
                <a:solidFill>
                  <a:srgbClr val="404040"/>
                </a:solidFill>
                <a:latin typeface="Carlito"/>
                <a:cs typeface="Carlito"/>
              </a:rPr>
              <a:t>for</a:t>
            </a:r>
            <a:r>
              <a:rPr sz="2000" spc="30" dirty="0">
                <a:solidFill>
                  <a:srgbClr val="404040"/>
                </a:solidFill>
                <a:latin typeface="Carlito"/>
                <a:cs typeface="Carlito"/>
              </a:rPr>
              <a:t> </a:t>
            </a:r>
            <a:r>
              <a:rPr sz="2000" spc="-5" dirty="0">
                <a:solidFill>
                  <a:srgbClr val="404040"/>
                </a:solidFill>
                <a:latin typeface="Carlito"/>
                <a:cs typeface="Carlito"/>
              </a:rPr>
              <a:t>communication</a:t>
            </a:r>
            <a:endParaRPr sz="2000">
              <a:latin typeface="Carlito"/>
              <a:cs typeface="Carlito"/>
            </a:endParaRPr>
          </a:p>
          <a:p>
            <a:pPr marL="295910" marR="5080" indent="-283845" algn="just">
              <a:lnSpc>
                <a:spcPts val="2160"/>
              </a:lnSpc>
              <a:spcBef>
                <a:spcPts val="1235"/>
              </a:spcBef>
            </a:pPr>
            <a:r>
              <a:rPr sz="2000" b="1" u="heavy" spc="-10" dirty="0">
                <a:solidFill>
                  <a:srgbClr val="404040"/>
                </a:solidFill>
                <a:uFill>
                  <a:solidFill>
                    <a:srgbClr val="404040"/>
                  </a:solidFill>
                </a:uFill>
                <a:latin typeface="Carlito"/>
                <a:cs typeface="Carlito"/>
              </a:rPr>
              <a:t>Networks</a:t>
            </a:r>
            <a:r>
              <a:rPr sz="2000" spc="-10" dirty="0">
                <a:solidFill>
                  <a:srgbClr val="404040"/>
                </a:solidFill>
                <a:latin typeface="Carlito"/>
                <a:cs typeface="Carlito"/>
              </a:rPr>
              <a:t>: Computers </a:t>
            </a:r>
            <a:r>
              <a:rPr sz="2000" dirty="0">
                <a:solidFill>
                  <a:srgbClr val="404040"/>
                </a:solidFill>
                <a:latin typeface="Carlito"/>
                <a:cs typeface="Carlito"/>
              </a:rPr>
              <a:t>and </a:t>
            </a:r>
            <a:r>
              <a:rPr sz="2000" spc="-5" dirty="0">
                <a:solidFill>
                  <a:srgbClr val="404040"/>
                </a:solidFill>
                <a:latin typeface="Carlito"/>
                <a:cs typeface="Carlito"/>
              </a:rPr>
              <a:t>equipment that </a:t>
            </a:r>
            <a:r>
              <a:rPr sz="2000" spc="-10" dirty="0">
                <a:solidFill>
                  <a:srgbClr val="404040"/>
                </a:solidFill>
                <a:latin typeface="Carlito"/>
                <a:cs typeface="Carlito"/>
              </a:rPr>
              <a:t>are </a:t>
            </a:r>
            <a:r>
              <a:rPr sz="2000" spc="-5" dirty="0">
                <a:solidFill>
                  <a:srgbClr val="404040"/>
                </a:solidFill>
                <a:latin typeface="Carlito"/>
                <a:cs typeface="Carlito"/>
              </a:rPr>
              <a:t>connected in </a:t>
            </a:r>
            <a:r>
              <a:rPr sz="2000" dirty="0">
                <a:solidFill>
                  <a:srgbClr val="404040"/>
                </a:solidFill>
                <a:latin typeface="Carlito"/>
                <a:cs typeface="Carlito"/>
              </a:rPr>
              <a:t>a building, </a:t>
            </a:r>
            <a:r>
              <a:rPr sz="2000" spc="-10" dirty="0">
                <a:solidFill>
                  <a:srgbClr val="404040"/>
                </a:solidFill>
                <a:latin typeface="Carlito"/>
                <a:cs typeface="Carlito"/>
              </a:rPr>
              <a:t>around  </a:t>
            </a:r>
            <a:r>
              <a:rPr sz="2000" dirty="0">
                <a:solidFill>
                  <a:srgbClr val="404040"/>
                </a:solidFill>
                <a:latin typeface="Carlito"/>
                <a:cs typeface="Carlito"/>
              </a:rPr>
              <a:t>the </a:t>
            </a:r>
            <a:r>
              <a:rPr sz="2000" spc="-20" dirty="0">
                <a:solidFill>
                  <a:srgbClr val="404040"/>
                </a:solidFill>
                <a:latin typeface="Carlito"/>
                <a:cs typeface="Carlito"/>
              </a:rPr>
              <a:t>country, </a:t>
            </a:r>
            <a:r>
              <a:rPr sz="2000" spc="-5" dirty="0">
                <a:solidFill>
                  <a:srgbClr val="404040"/>
                </a:solidFill>
                <a:latin typeface="Carlito"/>
                <a:cs typeface="Carlito"/>
              </a:rPr>
              <a:t>or </a:t>
            </a:r>
            <a:r>
              <a:rPr sz="2000" spc="-10" dirty="0">
                <a:solidFill>
                  <a:srgbClr val="404040"/>
                </a:solidFill>
                <a:latin typeface="Carlito"/>
                <a:cs typeface="Carlito"/>
              </a:rPr>
              <a:t>around </a:t>
            </a:r>
            <a:r>
              <a:rPr sz="2000" dirty="0">
                <a:solidFill>
                  <a:srgbClr val="404040"/>
                </a:solidFill>
                <a:latin typeface="Carlito"/>
                <a:cs typeface="Carlito"/>
              </a:rPr>
              <a:t>the </a:t>
            </a:r>
            <a:r>
              <a:rPr sz="2000" spc="-10" dirty="0">
                <a:solidFill>
                  <a:srgbClr val="404040"/>
                </a:solidFill>
                <a:latin typeface="Carlito"/>
                <a:cs typeface="Carlito"/>
              </a:rPr>
              <a:t>world </a:t>
            </a:r>
            <a:r>
              <a:rPr sz="2000" spc="-15" dirty="0">
                <a:solidFill>
                  <a:srgbClr val="404040"/>
                </a:solidFill>
                <a:latin typeface="Carlito"/>
                <a:cs typeface="Carlito"/>
              </a:rPr>
              <a:t>to </a:t>
            </a:r>
            <a:r>
              <a:rPr sz="2000" dirty="0">
                <a:solidFill>
                  <a:srgbClr val="404040"/>
                </a:solidFill>
                <a:latin typeface="Carlito"/>
                <a:cs typeface="Carlito"/>
              </a:rPr>
              <a:t>enable </a:t>
            </a:r>
            <a:r>
              <a:rPr sz="2000" spc="-5" dirty="0">
                <a:solidFill>
                  <a:srgbClr val="404040"/>
                </a:solidFill>
                <a:latin typeface="Carlito"/>
                <a:cs typeface="Carlito"/>
              </a:rPr>
              <a:t>electronic</a:t>
            </a:r>
            <a:r>
              <a:rPr sz="2000" dirty="0">
                <a:solidFill>
                  <a:srgbClr val="404040"/>
                </a:solidFill>
                <a:latin typeface="Carlito"/>
                <a:cs typeface="Carlito"/>
              </a:rPr>
              <a:t> </a:t>
            </a:r>
            <a:r>
              <a:rPr sz="2000" spc="-5" dirty="0">
                <a:solidFill>
                  <a:srgbClr val="404040"/>
                </a:solidFill>
                <a:latin typeface="Carlito"/>
                <a:cs typeface="Carlito"/>
              </a:rPr>
              <a:t>communications.</a:t>
            </a:r>
            <a:endParaRPr sz="2000">
              <a:latin typeface="Carlito"/>
              <a:cs typeface="Carlito"/>
            </a:endParaRPr>
          </a:p>
          <a:p>
            <a:pPr marL="295910" marR="5080" indent="-283845" algn="just">
              <a:lnSpc>
                <a:spcPts val="2160"/>
              </a:lnSpc>
              <a:spcBef>
                <a:spcPts val="1200"/>
              </a:spcBef>
            </a:pPr>
            <a:r>
              <a:rPr sz="2000" b="1" spc="-10" dirty="0">
                <a:solidFill>
                  <a:srgbClr val="404040"/>
                </a:solidFill>
                <a:latin typeface="Carlito"/>
                <a:cs typeface="Carlito"/>
              </a:rPr>
              <a:t>Internet</a:t>
            </a:r>
            <a:r>
              <a:rPr sz="2000" spc="-10" dirty="0">
                <a:solidFill>
                  <a:srgbClr val="404040"/>
                </a:solidFill>
                <a:latin typeface="Carlito"/>
                <a:cs typeface="Carlito"/>
              </a:rPr>
              <a:t>: The </a:t>
            </a:r>
            <a:r>
              <a:rPr sz="2000" spc="-25" dirty="0">
                <a:solidFill>
                  <a:srgbClr val="404040"/>
                </a:solidFill>
                <a:latin typeface="Carlito"/>
                <a:cs typeface="Carlito"/>
              </a:rPr>
              <a:t>world’s </a:t>
            </a:r>
            <a:r>
              <a:rPr sz="2000" spc="-10" dirty="0">
                <a:solidFill>
                  <a:srgbClr val="404040"/>
                </a:solidFill>
                <a:latin typeface="Carlito"/>
                <a:cs typeface="Carlito"/>
              </a:rPr>
              <a:t>largest </a:t>
            </a:r>
            <a:r>
              <a:rPr sz="2000" spc="-5" dirty="0">
                <a:solidFill>
                  <a:srgbClr val="404040"/>
                </a:solidFill>
                <a:latin typeface="Carlito"/>
                <a:cs typeface="Carlito"/>
              </a:rPr>
              <a:t>computer </a:t>
            </a:r>
            <a:r>
              <a:rPr sz="2000" spc="-10" dirty="0">
                <a:solidFill>
                  <a:srgbClr val="404040"/>
                </a:solidFill>
                <a:latin typeface="Carlito"/>
                <a:cs typeface="Carlito"/>
              </a:rPr>
              <a:t>network, </a:t>
            </a:r>
            <a:r>
              <a:rPr sz="2000" spc="-5" dirty="0">
                <a:solidFill>
                  <a:srgbClr val="404040"/>
                </a:solidFill>
                <a:latin typeface="Carlito"/>
                <a:cs typeface="Carlito"/>
              </a:rPr>
              <a:t>consisting of thousands of  </a:t>
            </a:r>
            <a:r>
              <a:rPr sz="2000" spc="-10" dirty="0">
                <a:solidFill>
                  <a:srgbClr val="404040"/>
                </a:solidFill>
                <a:latin typeface="Carlito"/>
                <a:cs typeface="Carlito"/>
              </a:rPr>
              <a:t>interconnected networks, </a:t>
            </a:r>
            <a:r>
              <a:rPr sz="2000" dirty="0">
                <a:solidFill>
                  <a:srgbClr val="404040"/>
                </a:solidFill>
                <a:latin typeface="Carlito"/>
                <a:cs typeface="Carlito"/>
              </a:rPr>
              <a:t>all </a:t>
            </a:r>
            <a:r>
              <a:rPr sz="2000" spc="-10" dirty="0">
                <a:solidFill>
                  <a:srgbClr val="404040"/>
                </a:solidFill>
                <a:latin typeface="Carlito"/>
                <a:cs typeface="Carlito"/>
              </a:rPr>
              <a:t>freely exchanging</a:t>
            </a:r>
            <a:r>
              <a:rPr sz="2000" spc="30" dirty="0">
                <a:solidFill>
                  <a:srgbClr val="404040"/>
                </a:solidFill>
                <a:latin typeface="Carlito"/>
                <a:cs typeface="Carlito"/>
              </a:rPr>
              <a:t> </a:t>
            </a:r>
            <a:r>
              <a:rPr sz="2000" spc="-10" dirty="0">
                <a:solidFill>
                  <a:srgbClr val="404040"/>
                </a:solidFill>
                <a:latin typeface="Carlito"/>
                <a:cs typeface="Carlito"/>
              </a:rPr>
              <a:t>information.</a:t>
            </a:r>
            <a:endParaRPr sz="2000">
              <a:latin typeface="Carlito"/>
              <a:cs typeface="Carlito"/>
            </a:endParaRPr>
          </a:p>
          <a:p>
            <a:pPr marL="295910" marR="5080" indent="-283845" algn="just">
              <a:lnSpc>
                <a:spcPts val="2160"/>
              </a:lnSpc>
              <a:spcBef>
                <a:spcPts val="1200"/>
              </a:spcBef>
            </a:pPr>
            <a:r>
              <a:rPr sz="2000" b="1" spc="-10" dirty="0">
                <a:solidFill>
                  <a:srgbClr val="404040"/>
                </a:solidFill>
                <a:latin typeface="Carlito"/>
                <a:cs typeface="Carlito"/>
              </a:rPr>
              <a:t>Intranet</a:t>
            </a:r>
            <a:r>
              <a:rPr sz="2000" spc="-10" dirty="0">
                <a:solidFill>
                  <a:srgbClr val="404040"/>
                </a:solidFill>
                <a:latin typeface="Carlito"/>
                <a:cs typeface="Carlito"/>
              </a:rPr>
              <a:t>: </a:t>
            </a:r>
            <a:r>
              <a:rPr sz="2000" spc="-5" dirty="0">
                <a:solidFill>
                  <a:srgbClr val="404040"/>
                </a:solidFill>
                <a:latin typeface="Carlito"/>
                <a:cs typeface="Carlito"/>
              </a:rPr>
              <a:t>An </a:t>
            </a:r>
            <a:r>
              <a:rPr sz="2000" spc="-10" dirty="0">
                <a:solidFill>
                  <a:srgbClr val="404040"/>
                </a:solidFill>
                <a:latin typeface="Carlito"/>
                <a:cs typeface="Carlito"/>
              </a:rPr>
              <a:t>internal network </a:t>
            </a:r>
            <a:r>
              <a:rPr sz="2000" spc="-5" dirty="0">
                <a:solidFill>
                  <a:srgbClr val="404040"/>
                </a:solidFill>
                <a:latin typeface="Carlito"/>
                <a:cs typeface="Carlito"/>
              </a:rPr>
              <a:t>based on </a:t>
            </a:r>
            <a:r>
              <a:rPr sz="2000" spc="-25" dirty="0">
                <a:solidFill>
                  <a:srgbClr val="404040"/>
                </a:solidFill>
                <a:latin typeface="Carlito"/>
                <a:cs typeface="Carlito"/>
              </a:rPr>
              <a:t>Web </a:t>
            </a:r>
            <a:r>
              <a:rPr sz="2000" spc="-5" dirty="0">
                <a:solidFill>
                  <a:srgbClr val="404040"/>
                </a:solidFill>
                <a:latin typeface="Carlito"/>
                <a:cs typeface="Carlito"/>
              </a:rPr>
              <a:t>technologies that allows people  </a:t>
            </a:r>
            <a:r>
              <a:rPr sz="2000" dirty="0">
                <a:solidFill>
                  <a:srgbClr val="404040"/>
                </a:solidFill>
                <a:latin typeface="Carlito"/>
                <a:cs typeface="Carlito"/>
              </a:rPr>
              <a:t>within an </a:t>
            </a:r>
            <a:r>
              <a:rPr sz="2000" spc="-10" dirty="0">
                <a:solidFill>
                  <a:srgbClr val="404040"/>
                </a:solidFill>
                <a:latin typeface="Carlito"/>
                <a:cs typeface="Carlito"/>
              </a:rPr>
              <a:t>organization </a:t>
            </a:r>
            <a:r>
              <a:rPr sz="2000" spc="-15" dirty="0">
                <a:solidFill>
                  <a:srgbClr val="404040"/>
                </a:solidFill>
                <a:latin typeface="Carlito"/>
                <a:cs typeface="Carlito"/>
              </a:rPr>
              <a:t>to </a:t>
            </a:r>
            <a:r>
              <a:rPr sz="2000" spc="-10" dirty="0">
                <a:solidFill>
                  <a:srgbClr val="404040"/>
                </a:solidFill>
                <a:latin typeface="Carlito"/>
                <a:cs typeface="Carlito"/>
              </a:rPr>
              <a:t>exchange information </a:t>
            </a:r>
            <a:r>
              <a:rPr sz="2000" dirty="0">
                <a:solidFill>
                  <a:srgbClr val="404040"/>
                </a:solidFill>
                <a:latin typeface="Carlito"/>
                <a:cs typeface="Carlito"/>
              </a:rPr>
              <a:t>and </a:t>
            </a:r>
            <a:r>
              <a:rPr sz="2000" spc="-10" dirty="0">
                <a:solidFill>
                  <a:srgbClr val="404040"/>
                </a:solidFill>
                <a:latin typeface="Carlito"/>
                <a:cs typeface="Carlito"/>
              </a:rPr>
              <a:t>work </a:t>
            </a:r>
            <a:r>
              <a:rPr sz="2000" spc="-5" dirty="0">
                <a:solidFill>
                  <a:srgbClr val="404040"/>
                </a:solidFill>
                <a:latin typeface="Carlito"/>
                <a:cs typeface="Carlito"/>
              </a:rPr>
              <a:t>on</a:t>
            </a:r>
            <a:r>
              <a:rPr sz="2000" spc="-245" dirty="0">
                <a:solidFill>
                  <a:srgbClr val="404040"/>
                </a:solidFill>
                <a:latin typeface="Carlito"/>
                <a:cs typeface="Carlito"/>
              </a:rPr>
              <a:t> </a:t>
            </a:r>
            <a:r>
              <a:rPr sz="2000" spc="-10" dirty="0">
                <a:solidFill>
                  <a:srgbClr val="404040"/>
                </a:solidFill>
                <a:latin typeface="Carlito"/>
                <a:cs typeface="Carlito"/>
              </a:rPr>
              <a:t>projects.</a:t>
            </a:r>
            <a:endParaRPr sz="2000">
              <a:latin typeface="Carlito"/>
              <a:cs typeface="Carlito"/>
            </a:endParaRPr>
          </a:p>
          <a:p>
            <a:pPr marL="295910" marR="6985" indent="-283845" algn="just">
              <a:lnSpc>
                <a:spcPts val="2160"/>
              </a:lnSpc>
              <a:spcBef>
                <a:spcPts val="1200"/>
              </a:spcBef>
            </a:pPr>
            <a:r>
              <a:rPr sz="2000" b="1" spc="-10" dirty="0">
                <a:solidFill>
                  <a:srgbClr val="404040"/>
                </a:solidFill>
                <a:latin typeface="Carlito"/>
                <a:cs typeface="Carlito"/>
              </a:rPr>
              <a:t>Extranet</a:t>
            </a:r>
            <a:r>
              <a:rPr sz="2000" spc="-10" dirty="0">
                <a:solidFill>
                  <a:srgbClr val="404040"/>
                </a:solidFill>
                <a:latin typeface="Carlito"/>
                <a:cs typeface="Carlito"/>
              </a:rPr>
              <a:t>: </a:t>
            </a:r>
            <a:r>
              <a:rPr sz="2000" dirty="0">
                <a:solidFill>
                  <a:srgbClr val="404040"/>
                </a:solidFill>
                <a:latin typeface="Carlito"/>
                <a:cs typeface="Carlito"/>
              </a:rPr>
              <a:t>A </a:t>
            </a:r>
            <a:r>
              <a:rPr sz="2000" spc="-10" dirty="0">
                <a:solidFill>
                  <a:srgbClr val="404040"/>
                </a:solidFill>
                <a:latin typeface="Carlito"/>
                <a:cs typeface="Carlito"/>
              </a:rPr>
              <a:t>network </a:t>
            </a:r>
            <a:r>
              <a:rPr sz="2000" spc="-5" dirty="0">
                <a:solidFill>
                  <a:srgbClr val="404040"/>
                </a:solidFill>
                <a:latin typeface="Carlito"/>
                <a:cs typeface="Carlito"/>
              </a:rPr>
              <a:t>based </a:t>
            </a:r>
            <a:r>
              <a:rPr sz="2000" spc="-10" dirty="0">
                <a:solidFill>
                  <a:srgbClr val="404040"/>
                </a:solidFill>
                <a:latin typeface="Carlito"/>
                <a:cs typeface="Carlito"/>
              </a:rPr>
              <a:t>on </a:t>
            </a:r>
            <a:r>
              <a:rPr sz="2000" spc="-30" dirty="0">
                <a:solidFill>
                  <a:srgbClr val="404040"/>
                </a:solidFill>
                <a:latin typeface="Carlito"/>
                <a:cs typeface="Carlito"/>
              </a:rPr>
              <a:t>Web </a:t>
            </a:r>
            <a:r>
              <a:rPr sz="2000" spc="-5" dirty="0">
                <a:solidFill>
                  <a:srgbClr val="404040"/>
                </a:solidFill>
                <a:latin typeface="Carlito"/>
                <a:cs typeface="Carlito"/>
              </a:rPr>
              <a:t>technologies that allows selected </a:t>
            </a:r>
            <a:r>
              <a:rPr sz="2000" spc="-10" dirty="0">
                <a:solidFill>
                  <a:srgbClr val="404040"/>
                </a:solidFill>
                <a:latin typeface="Carlito"/>
                <a:cs typeface="Carlito"/>
              </a:rPr>
              <a:t>outsiders,  </a:t>
            </a:r>
            <a:r>
              <a:rPr sz="2000" spc="-5" dirty="0">
                <a:solidFill>
                  <a:srgbClr val="404040"/>
                </a:solidFill>
                <a:latin typeface="Carlito"/>
                <a:cs typeface="Carlito"/>
              </a:rPr>
              <a:t>such </a:t>
            </a:r>
            <a:r>
              <a:rPr sz="2000" dirty="0">
                <a:solidFill>
                  <a:srgbClr val="404040"/>
                </a:solidFill>
                <a:latin typeface="Carlito"/>
                <a:cs typeface="Carlito"/>
              </a:rPr>
              <a:t>as </a:t>
            </a:r>
            <a:r>
              <a:rPr sz="2000" spc="-5" dirty="0">
                <a:solidFill>
                  <a:srgbClr val="404040"/>
                </a:solidFill>
                <a:latin typeface="Carlito"/>
                <a:cs typeface="Carlito"/>
              </a:rPr>
              <a:t>business </a:t>
            </a:r>
            <a:r>
              <a:rPr sz="2000" spc="-10" dirty="0">
                <a:solidFill>
                  <a:srgbClr val="404040"/>
                </a:solidFill>
                <a:latin typeface="Carlito"/>
                <a:cs typeface="Carlito"/>
              </a:rPr>
              <a:t>partners </a:t>
            </a:r>
            <a:r>
              <a:rPr sz="2000" dirty="0">
                <a:solidFill>
                  <a:srgbClr val="404040"/>
                </a:solidFill>
                <a:latin typeface="Carlito"/>
                <a:cs typeface="Carlito"/>
              </a:rPr>
              <a:t>and </a:t>
            </a:r>
            <a:r>
              <a:rPr sz="2000" spc="-15" dirty="0">
                <a:solidFill>
                  <a:srgbClr val="404040"/>
                </a:solidFill>
                <a:latin typeface="Carlito"/>
                <a:cs typeface="Carlito"/>
              </a:rPr>
              <a:t>customers, </a:t>
            </a:r>
            <a:r>
              <a:rPr sz="2000" spc="-5" dirty="0">
                <a:solidFill>
                  <a:srgbClr val="404040"/>
                </a:solidFill>
                <a:latin typeface="Carlito"/>
                <a:cs typeface="Carlito"/>
              </a:rPr>
              <a:t>to </a:t>
            </a:r>
            <a:r>
              <a:rPr sz="2000" dirty="0">
                <a:solidFill>
                  <a:srgbClr val="404040"/>
                </a:solidFill>
                <a:latin typeface="Carlito"/>
                <a:cs typeface="Carlito"/>
              </a:rPr>
              <a:t>access </a:t>
            </a:r>
            <a:r>
              <a:rPr sz="2000" spc="-5" dirty="0">
                <a:solidFill>
                  <a:srgbClr val="404040"/>
                </a:solidFill>
                <a:latin typeface="Carlito"/>
                <a:cs typeface="Carlito"/>
              </a:rPr>
              <a:t>authorized </a:t>
            </a:r>
            <a:r>
              <a:rPr sz="2000" spc="-10" dirty="0">
                <a:solidFill>
                  <a:srgbClr val="404040"/>
                </a:solidFill>
                <a:latin typeface="Carlito"/>
                <a:cs typeface="Carlito"/>
              </a:rPr>
              <a:t>resources </a:t>
            </a:r>
            <a:r>
              <a:rPr sz="2000" spc="-5" dirty="0">
                <a:solidFill>
                  <a:srgbClr val="404040"/>
                </a:solidFill>
                <a:latin typeface="Carlito"/>
                <a:cs typeface="Carlito"/>
              </a:rPr>
              <a:t>of </a:t>
            </a:r>
            <a:r>
              <a:rPr sz="2000" dirty="0">
                <a:solidFill>
                  <a:srgbClr val="404040"/>
                </a:solidFill>
                <a:latin typeface="Carlito"/>
                <a:cs typeface="Carlito"/>
              </a:rPr>
              <a:t>a  </a:t>
            </a:r>
            <a:r>
              <a:rPr sz="2000" spc="-15" dirty="0">
                <a:solidFill>
                  <a:srgbClr val="404040"/>
                </a:solidFill>
                <a:latin typeface="Carlito"/>
                <a:cs typeface="Carlito"/>
              </a:rPr>
              <a:t>company’s</a:t>
            </a:r>
            <a:r>
              <a:rPr sz="2000" spc="-35" dirty="0">
                <a:solidFill>
                  <a:srgbClr val="404040"/>
                </a:solidFill>
                <a:latin typeface="Carlito"/>
                <a:cs typeface="Carlito"/>
              </a:rPr>
              <a:t> </a:t>
            </a:r>
            <a:r>
              <a:rPr sz="2000" spc="-10" dirty="0">
                <a:solidFill>
                  <a:srgbClr val="404040"/>
                </a:solidFill>
                <a:latin typeface="Carlito"/>
                <a:cs typeface="Carlito"/>
              </a:rPr>
              <a:t>intranet</a:t>
            </a:r>
            <a:endParaRPr sz="2000">
              <a:latin typeface="Carlito"/>
              <a:cs typeface="Carlito"/>
            </a:endParaRPr>
          </a:p>
        </p:txBody>
      </p:sp>
      <p:sp>
        <p:nvSpPr>
          <p:cNvPr id="4" name="object 4"/>
          <p:cNvSpPr txBox="1"/>
          <p:nvPr/>
        </p:nvSpPr>
        <p:spPr>
          <a:xfrm>
            <a:off x="5940552" y="115823"/>
            <a:ext cx="2743200" cy="1201420"/>
          </a:xfrm>
          <a:prstGeom prst="rect">
            <a:avLst/>
          </a:prstGeom>
          <a:ln w="15875">
            <a:solidFill>
              <a:srgbClr val="855540"/>
            </a:solidFill>
          </a:ln>
        </p:spPr>
        <p:txBody>
          <a:bodyPr vert="horz" wrap="square" lIns="0" tIns="30480" rIns="0" bIns="0" rtlCol="0">
            <a:spAutoFit/>
          </a:bodyPr>
          <a:lstStyle/>
          <a:p>
            <a:pPr marL="92075" marR="131445">
              <a:lnSpc>
                <a:spcPct val="100000"/>
              </a:lnSpc>
              <a:spcBef>
                <a:spcPts val="240"/>
              </a:spcBef>
            </a:pPr>
            <a:r>
              <a:rPr sz="1800" spc="-5" dirty="0">
                <a:solidFill>
                  <a:srgbClr val="00AFEF"/>
                </a:solidFill>
                <a:latin typeface="Carlito"/>
                <a:cs typeface="Carlito"/>
              </a:rPr>
              <a:t>Enables </a:t>
            </a:r>
            <a:r>
              <a:rPr sz="1800" spc="-15" dirty="0">
                <a:solidFill>
                  <a:srgbClr val="00AFEF"/>
                </a:solidFill>
                <a:latin typeface="Carlito"/>
                <a:cs typeface="Carlito"/>
              </a:rPr>
              <a:t>organizations </a:t>
            </a:r>
            <a:r>
              <a:rPr sz="1800" spc="-10" dirty="0">
                <a:solidFill>
                  <a:srgbClr val="00AFEF"/>
                </a:solidFill>
                <a:latin typeface="Carlito"/>
                <a:cs typeface="Carlito"/>
              </a:rPr>
              <a:t>to  </a:t>
            </a:r>
            <a:r>
              <a:rPr sz="1800" spc="-5" dirty="0">
                <a:solidFill>
                  <a:srgbClr val="00AFEF"/>
                </a:solidFill>
                <a:latin typeface="Carlito"/>
                <a:cs typeface="Carlito"/>
              </a:rPr>
              <a:t>carry out </a:t>
            </a:r>
            <a:r>
              <a:rPr sz="1800" dirty="0">
                <a:solidFill>
                  <a:srgbClr val="00AFEF"/>
                </a:solidFill>
                <a:latin typeface="Carlito"/>
                <a:cs typeface="Carlito"/>
              </a:rPr>
              <a:t>their </a:t>
            </a:r>
            <a:r>
              <a:rPr sz="1800" spc="-5" dirty="0">
                <a:solidFill>
                  <a:srgbClr val="00AFEF"/>
                </a:solidFill>
                <a:latin typeface="Carlito"/>
                <a:cs typeface="Carlito"/>
              </a:rPr>
              <a:t>processes  </a:t>
            </a:r>
            <a:r>
              <a:rPr sz="1800" dirty="0">
                <a:solidFill>
                  <a:srgbClr val="00AFEF"/>
                </a:solidFill>
                <a:latin typeface="Carlito"/>
                <a:cs typeface="Carlito"/>
              </a:rPr>
              <a:t>and </a:t>
            </a:r>
            <a:r>
              <a:rPr sz="1800" spc="-10" dirty="0">
                <a:solidFill>
                  <a:srgbClr val="00AFEF"/>
                </a:solidFill>
                <a:latin typeface="Carlito"/>
                <a:cs typeface="Carlito"/>
              </a:rPr>
              <a:t>tasks through effective  computer</a:t>
            </a:r>
            <a:r>
              <a:rPr sz="1800" dirty="0">
                <a:solidFill>
                  <a:srgbClr val="00AFEF"/>
                </a:solidFill>
                <a:latin typeface="Carlito"/>
                <a:cs typeface="Carlito"/>
              </a:rPr>
              <a:t> </a:t>
            </a:r>
            <a:r>
              <a:rPr sz="1800" spc="-10" dirty="0">
                <a:solidFill>
                  <a:srgbClr val="00AFEF"/>
                </a:solidFill>
                <a:latin typeface="Carlito"/>
                <a:cs typeface="Carlito"/>
              </a:rPr>
              <a:t>networks.</a:t>
            </a:r>
            <a:endParaRPr sz="1800">
              <a:latin typeface="Carlito"/>
              <a:cs typeface="Carlito"/>
            </a:endParaRPr>
          </a:p>
        </p:txBody>
      </p:sp>
      <p:sp>
        <p:nvSpPr>
          <p:cNvPr id="5" name="object 5"/>
          <p:cNvSpPr/>
          <p:nvPr/>
        </p:nvSpPr>
        <p:spPr>
          <a:xfrm>
            <a:off x="4427220" y="710691"/>
            <a:ext cx="1516380" cy="849630"/>
          </a:xfrm>
          <a:custGeom>
            <a:avLst/>
            <a:gdLst/>
            <a:ahLst/>
            <a:cxnLst/>
            <a:rect l="l" t="t" r="r" b="b"/>
            <a:pathLst>
              <a:path w="1516379" h="849630">
                <a:moveTo>
                  <a:pt x="56260" y="757682"/>
                </a:moveTo>
                <a:lnTo>
                  <a:pt x="52324" y="758698"/>
                </a:lnTo>
                <a:lnTo>
                  <a:pt x="50545" y="761746"/>
                </a:lnTo>
                <a:lnTo>
                  <a:pt x="0" y="846963"/>
                </a:lnTo>
                <a:lnTo>
                  <a:pt x="99059" y="848995"/>
                </a:lnTo>
                <a:lnTo>
                  <a:pt x="102615" y="849122"/>
                </a:lnTo>
                <a:lnTo>
                  <a:pt x="105282" y="846455"/>
                </a:lnTo>
                <a:lnTo>
                  <a:pt x="14096" y="846455"/>
                </a:lnTo>
                <a:lnTo>
                  <a:pt x="7874" y="835279"/>
                </a:lnTo>
                <a:lnTo>
                  <a:pt x="28512" y="823801"/>
                </a:lnTo>
                <a:lnTo>
                  <a:pt x="61467" y="768223"/>
                </a:lnTo>
                <a:lnTo>
                  <a:pt x="63245" y="765175"/>
                </a:lnTo>
                <a:lnTo>
                  <a:pt x="62229" y="761238"/>
                </a:lnTo>
                <a:lnTo>
                  <a:pt x="59181" y="759460"/>
                </a:lnTo>
                <a:lnTo>
                  <a:pt x="56260" y="757682"/>
                </a:lnTo>
                <a:close/>
              </a:path>
              <a:path w="1516379" h="849630">
                <a:moveTo>
                  <a:pt x="28512" y="823801"/>
                </a:moveTo>
                <a:lnTo>
                  <a:pt x="7874" y="835279"/>
                </a:lnTo>
                <a:lnTo>
                  <a:pt x="14096" y="846455"/>
                </a:lnTo>
                <a:lnTo>
                  <a:pt x="18435" y="844042"/>
                </a:lnTo>
                <a:lnTo>
                  <a:pt x="16509" y="844042"/>
                </a:lnTo>
                <a:lnTo>
                  <a:pt x="11175" y="834517"/>
                </a:lnTo>
                <a:lnTo>
                  <a:pt x="22157" y="834517"/>
                </a:lnTo>
                <a:lnTo>
                  <a:pt x="28512" y="823801"/>
                </a:lnTo>
                <a:close/>
              </a:path>
              <a:path w="1516379" h="849630">
                <a:moveTo>
                  <a:pt x="34708" y="834991"/>
                </a:moveTo>
                <a:lnTo>
                  <a:pt x="14096" y="846455"/>
                </a:lnTo>
                <a:lnTo>
                  <a:pt x="105282" y="846455"/>
                </a:lnTo>
                <a:lnTo>
                  <a:pt x="105663" y="839343"/>
                </a:lnTo>
                <a:lnTo>
                  <a:pt x="102869" y="836422"/>
                </a:lnTo>
                <a:lnTo>
                  <a:pt x="99313" y="836295"/>
                </a:lnTo>
                <a:lnTo>
                  <a:pt x="34708" y="834991"/>
                </a:lnTo>
                <a:close/>
              </a:path>
              <a:path w="1516379" h="849630">
                <a:moveTo>
                  <a:pt x="11175" y="834517"/>
                </a:moveTo>
                <a:lnTo>
                  <a:pt x="16509" y="844042"/>
                </a:lnTo>
                <a:lnTo>
                  <a:pt x="22028" y="834735"/>
                </a:lnTo>
                <a:lnTo>
                  <a:pt x="11175" y="834517"/>
                </a:lnTo>
                <a:close/>
              </a:path>
              <a:path w="1516379" h="849630">
                <a:moveTo>
                  <a:pt x="22028" y="834735"/>
                </a:moveTo>
                <a:lnTo>
                  <a:pt x="16509" y="844042"/>
                </a:lnTo>
                <a:lnTo>
                  <a:pt x="18435" y="844042"/>
                </a:lnTo>
                <a:lnTo>
                  <a:pt x="34708" y="834991"/>
                </a:lnTo>
                <a:lnTo>
                  <a:pt x="22028" y="834735"/>
                </a:lnTo>
                <a:close/>
              </a:path>
              <a:path w="1516379" h="849630">
                <a:moveTo>
                  <a:pt x="1509776" y="0"/>
                </a:moveTo>
                <a:lnTo>
                  <a:pt x="28512" y="823801"/>
                </a:lnTo>
                <a:lnTo>
                  <a:pt x="22028" y="834735"/>
                </a:lnTo>
                <a:lnTo>
                  <a:pt x="34708" y="834991"/>
                </a:lnTo>
                <a:lnTo>
                  <a:pt x="1515999" y="11175"/>
                </a:lnTo>
                <a:lnTo>
                  <a:pt x="1509776" y="0"/>
                </a:lnTo>
                <a:close/>
              </a:path>
              <a:path w="1516379" h="849630">
                <a:moveTo>
                  <a:pt x="22157" y="834517"/>
                </a:moveTo>
                <a:lnTo>
                  <a:pt x="11175" y="834517"/>
                </a:lnTo>
                <a:lnTo>
                  <a:pt x="22028" y="834735"/>
                </a:lnTo>
                <a:lnTo>
                  <a:pt x="22157" y="834517"/>
                </a:lnTo>
                <a:close/>
              </a:path>
            </a:pathLst>
          </a:custGeom>
          <a:solidFill>
            <a:srgbClr val="855540"/>
          </a:solidFill>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090" y="908050"/>
            <a:ext cx="1085215" cy="756920"/>
          </a:xfrm>
          <a:prstGeom prst="rect">
            <a:avLst/>
          </a:prstGeom>
        </p:spPr>
        <p:txBody>
          <a:bodyPr vert="horz" wrap="square" lIns="0" tIns="12700" rIns="0" bIns="0" rtlCol="0">
            <a:spAutoFit/>
          </a:bodyPr>
          <a:lstStyle/>
          <a:p>
            <a:pPr marL="12700">
              <a:lnSpc>
                <a:spcPct val="100000"/>
              </a:lnSpc>
              <a:spcBef>
                <a:spcPts val="100"/>
              </a:spcBef>
            </a:pPr>
            <a:r>
              <a:rPr spc="-355" dirty="0"/>
              <a:t>C</a:t>
            </a:r>
            <a:r>
              <a:rPr spc="-200" dirty="0"/>
              <a:t>B</a:t>
            </a:r>
            <a:r>
              <a:rPr spc="-210" dirty="0"/>
              <a:t>I</a:t>
            </a:r>
            <a:r>
              <a:rPr spc="-140" dirty="0"/>
              <a:t>S</a:t>
            </a:r>
          </a:p>
        </p:txBody>
      </p:sp>
      <p:sp>
        <p:nvSpPr>
          <p:cNvPr id="3" name="object 3"/>
          <p:cNvSpPr txBox="1"/>
          <p:nvPr/>
        </p:nvSpPr>
        <p:spPr>
          <a:xfrm>
            <a:off x="809650" y="1832610"/>
            <a:ext cx="5318125" cy="1962150"/>
          </a:xfrm>
          <a:prstGeom prst="rect">
            <a:avLst/>
          </a:prstGeom>
        </p:spPr>
        <p:txBody>
          <a:bodyPr vert="horz" wrap="square" lIns="0" tIns="13335" rIns="0" bIns="0" rtlCol="0">
            <a:spAutoFit/>
          </a:bodyPr>
          <a:lstStyle/>
          <a:p>
            <a:pPr marL="12700">
              <a:lnSpc>
                <a:spcPct val="100000"/>
              </a:lnSpc>
              <a:spcBef>
                <a:spcPts val="105"/>
              </a:spcBef>
            </a:pPr>
            <a:r>
              <a:rPr sz="2000" b="1" u="heavy" spc="-10" dirty="0">
                <a:solidFill>
                  <a:srgbClr val="404040"/>
                </a:solidFill>
                <a:uFill>
                  <a:solidFill>
                    <a:srgbClr val="404040"/>
                  </a:solidFill>
                </a:uFill>
                <a:latin typeface="Carlito"/>
                <a:cs typeface="Carlito"/>
              </a:rPr>
              <a:t>People</a:t>
            </a:r>
            <a:endParaRPr sz="2000" dirty="0">
              <a:latin typeface="Carlito"/>
              <a:cs typeface="Carlito"/>
            </a:endParaRPr>
          </a:p>
          <a:p>
            <a:pPr>
              <a:lnSpc>
                <a:spcPct val="100000"/>
              </a:lnSpc>
            </a:pPr>
            <a:endParaRPr sz="2000" dirty="0">
              <a:latin typeface="Carlito"/>
              <a:cs typeface="Carlito"/>
            </a:endParaRPr>
          </a:p>
          <a:p>
            <a:pPr>
              <a:lnSpc>
                <a:spcPct val="100000"/>
              </a:lnSpc>
              <a:spcBef>
                <a:spcPts val="15"/>
              </a:spcBef>
            </a:pPr>
            <a:endParaRPr sz="1850" dirty="0">
              <a:latin typeface="Carlito"/>
              <a:cs typeface="Carlito"/>
            </a:endParaRPr>
          </a:p>
          <a:p>
            <a:pPr marL="12700">
              <a:lnSpc>
                <a:spcPct val="100000"/>
              </a:lnSpc>
            </a:pPr>
            <a:r>
              <a:rPr sz="2000" b="1" u="heavy" spc="-5" dirty="0">
                <a:solidFill>
                  <a:srgbClr val="404040"/>
                </a:solidFill>
                <a:uFill>
                  <a:solidFill>
                    <a:srgbClr val="404040"/>
                  </a:solidFill>
                </a:uFill>
                <a:latin typeface="Carlito"/>
                <a:cs typeface="Carlito"/>
              </a:rPr>
              <a:t>Procedures:</a:t>
            </a:r>
            <a:endParaRPr sz="2000" dirty="0">
              <a:latin typeface="Carlito"/>
              <a:cs typeface="Carlito"/>
            </a:endParaRPr>
          </a:p>
          <a:p>
            <a:pPr marL="927100" marR="5080" indent="914400">
              <a:lnSpc>
                <a:spcPts val="2160"/>
              </a:lnSpc>
              <a:spcBef>
                <a:spcPts val="1435"/>
              </a:spcBef>
            </a:pPr>
            <a:r>
              <a:rPr sz="2000" spc="-10" dirty="0">
                <a:solidFill>
                  <a:srgbClr val="404040"/>
                </a:solidFill>
                <a:latin typeface="Carlito"/>
                <a:cs typeface="Carlito"/>
              </a:rPr>
              <a:t>Strategies, </a:t>
            </a:r>
            <a:r>
              <a:rPr sz="2000" spc="-5" dirty="0">
                <a:solidFill>
                  <a:srgbClr val="404040"/>
                </a:solidFill>
                <a:latin typeface="Carlito"/>
                <a:cs typeface="Carlito"/>
              </a:rPr>
              <a:t>policies, methods, </a:t>
            </a:r>
            <a:r>
              <a:rPr sz="2000" dirty="0">
                <a:solidFill>
                  <a:srgbClr val="404040"/>
                </a:solidFill>
                <a:latin typeface="Carlito"/>
                <a:cs typeface="Carlito"/>
              </a:rPr>
              <a:t>and  </a:t>
            </a:r>
            <a:r>
              <a:rPr sz="2000" spc="-5" dirty="0">
                <a:solidFill>
                  <a:srgbClr val="404040"/>
                </a:solidFill>
                <a:latin typeface="Carlito"/>
                <a:cs typeface="Carlito"/>
              </a:rPr>
              <a:t>rules </a:t>
            </a:r>
            <a:r>
              <a:rPr sz="2000" spc="-15" dirty="0">
                <a:solidFill>
                  <a:srgbClr val="404040"/>
                </a:solidFill>
                <a:latin typeface="Carlito"/>
                <a:cs typeface="Carlito"/>
              </a:rPr>
              <a:t>for </a:t>
            </a:r>
            <a:r>
              <a:rPr sz="2000" spc="-5" dirty="0">
                <a:solidFill>
                  <a:srgbClr val="404040"/>
                </a:solidFill>
                <a:latin typeface="Carlito"/>
                <a:cs typeface="Carlito"/>
              </a:rPr>
              <a:t>using </a:t>
            </a:r>
            <a:r>
              <a:rPr sz="2000" dirty="0">
                <a:solidFill>
                  <a:srgbClr val="404040"/>
                </a:solidFill>
                <a:latin typeface="Carlito"/>
                <a:cs typeface="Carlito"/>
              </a:rPr>
              <a:t>a</a:t>
            </a:r>
            <a:r>
              <a:rPr sz="2000" spc="-5" dirty="0">
                <a:solidFill>
                  <a:srgbClr val="404040"/>
                </a:solidFill>
                <a:latin typeface="Carlito"/>
                <a:cs typeface="Carlito"/>
              </a:rPr>
              <a:t> CBIS.</a:t>
            </a:r>
            <a:endParaRPr sz="2000" dirty="0">
              <a:latin typeface="Carlito"/>
              <a:cs typeface="Carlito"/>
            </a:endParaRPr>
          </a:p>
        </p:txBody>
      </p:sp>
      <p:sp>
        <p:nvSpPr>
          <p:cNvPr id="4" name="object 4"/>
          <p:cNvSpPr/>
          <p:nvPr/>
        </p:nvSpPr>
        <p:spPr>
          <a:xfrm>
            <a:off x="3060192" y="4076700"/>
            <a:ext cx="3422904" cy="217474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090" y="251586"/>
            <a:ext cx="6351270" cy="680720"/>
          </a:xfrm>
          <a:prstGeom prst="rect">
            <a:avLst/>
          </a:prstGeom>
        </p:spPr>
        <p:txBody>
          <a:bodyPr vert="horz" wrap="square" lIns="0" tIns="12065" rIns="0" bIns="0" rtlCol="0">
            <a:spAutoFit/>
          </a:bodyPr>
          <a:lstStyle/>
          <a:p>
            <a:pPr marL="12700">
              <a:lnSpc>
                <a:spcPct val="100000"/>
              </a:lnSpc>
              <a:spcBef>
                <a:spcPts val="95"/>
              </a:spcBef>
            </a:pPr>
            <a:r>
              <a:rPr sz="4300" spc="-185" dirty="0"/>
              <a:t>Business </a:t>
            </a:r>
            <a:r>
              <a:rPr sz="4300" spc="-245" dirty="0"/>
              <a:t>Information</a:t>
            </a:r>
            <a:r>
              <a:rPr sz="4300" spc="-660" dirty="0"/>
              <a:t> </a:t>
            </a:r>
            <a:r>
              <a:rPr sz="4300" spc="-240" dirty="0"/>
              <a:t>Systems</a:t>
            </a:r>
            <a:endParaRPr sz="4300"/>
          </a:p>
        </p:txBody>
      </p:sp>
      <p:sp>
        <p:nvSpPr>
          <p:cNvPr id="3" name="object 3"/>
          <p:cNvSpPr txBox="1"/>
          <p:nvPr/>
        </p:nvSpPr>
        <p:spPr>
          <a:xfrm>
            <a:off x="809650" y="1823465"/>
            <a:ext cx="7512684" cy="2723515"/>
          </a:xfrm>
          <a:prstGeom prst="rect">
            <a:avLst/>
          </a:prstGeom>
        </p:spPr>
        <p:txBody>
          <a:bodyPr vert="horz" wrap="square" lIns="0" tIns="53975" rIns="0" bIns="0" rtlCol="0">
            <a:spAutoFit/>
          </a:bodyPr>
          <a:lstStyle/>
          <a:p>
            <a:pPr marL="12700" marR="5080">
              <a:lnSpc>
                <a:spcPts val="2590"/>
              </a:lnSpc>
              <a:spcBef>
                <a:spcPts val="425"/>
              </a:spcBef>
            </a:pPr>
            <a:r>
              <a:rPr lang="en-US" sz="2400" dirty="0">
                <a:solidFill>
                  <a:srgbClr val="404040"/>
                </a:solidFill>
                <a:latin typeface="Carlito"/>
                <a:cs typeface="Carlito"/>
              </a:rPr>
              <a:t>Business information systems provide information that organizations use to manage themselves efficiently and effectively, typically using computer systems and technology.</a:t>
            </a:r>
          </a:p>
          <a:p>
            <a:pPr>
              <a:lnSpc>
                <a:spcPct val="100000"/>
              </a:lnSpc>
            </a:pPr>
            <a:endParaRPr sz="2400" dirty="0">
              <a:latin typeface="Carlito"/>
              <a:cs typeface="Carlito"/>
            </a:endParaRPr>
          </a:p>
          <a:p>
            <a:pPr>
              <a:lnSpc>
                <a:spcPct val="100000"/>
              </a:lnSpc>
              <a:spcBef>
                <a:spcPts val="35"/>
              </a:spcBef>
            </a:pPr>
            <a:endParaRPr sz="2000" dirty="0">
              <a:latin typeface="Carlito"/>
              <a:cs typeface="Carlito"/>
            </a:endParaRPr>
          </a:p>
          <a:p>
            <a:pPr marL="12700" marR="390525">
              <a:lnSpc>
                <a:spcPts val="2590"/>
              </a:lnSpc>
              <a:spcBef>
                <a:spcPts val="5"/>
              </a:spcBef>
            </a:pPr>
            <a:r>
              <a:rPr sz="2400" spc="-10" dirty="0">
                <a:solidFill>
                  <a:srgbClr val="404040"/>
                </a:solidFill>
                <a:latin typeface="Carlito"/>
                <a:cs typeface="Carlito"/>
              </a:rPr>
              <a:t>Information can </a:t>
            </a:r>
            <a:r>
              <a:rPr sz="2400" spc="-5" dirty="0">
                <a:solidFill>
                  <a:srgbClr val="404040"/>
                </a:solidFill>
                <a:latin typeface="Carlito"/>
                <a:cs typeface="Carlito"/>
              </a:rPr>
              <a:t>be used </a:t>
            </a:r>
            <a:r>
              <a:rPr sz="2400" spc="-15" dirty="0">
                <a:solidFill>
                  <a:srgbClr val="404040"/>
                </a:solidFill>
                <a:latin typeface="Carlito"/>
                <a:cs typeface="Carlito"/>
              </a:rPr>
              <a:t>to </a:t>
            </a:r>
            <a:r>
              <a:rPr sz="2400" spc="-5" dirty="0">
                <a:solidFill>
                  <a:srgbClr val="404040"/>
                </a:solidFill>
                <a:latin typeface="Carlito"/>
                <a:cs typeface="Carlito"/>
              </a:rPr>
              <a:t>support </a:t>
            </a:r>
            <a:r>
              <a:rPr sz="2400" spc="-10" dirty="0">
                <a:solidFill>
                  <a:srgbClr val="404040"/>
                </a:solidFill>
                <a:latin typeface="Carlito"/>
                <a:cs typeface="Carlito"/>
              </a:rPr>
              <a:t>forecasting, </a:t>
            </a:r>
            <a:r>
              <a:rPr sz="2400" spc="-5" dirty="0">
                <a:solidFill>
                  <a:srgbClr val="404040"/>
                </a:solidFill>
                <a:latin typeface="Carlito"/>
                <a:cs typeface="Carlito"/>
              </a:rPr>
              <a:t>planning,  </a:t>
            </a:r>
            <a:r>
              <a:rPr sz="2400" spc="-15" dirty="0">
                <a:solidFill>
                  <a:srgbClr val="404040"/>
                </a:solidFill>
                <a:latin typeface="Carlito"/>
                <a:cs typeface="Carlito"/>
              </a:rPr>
              <a:t>control, </a:t>
            </a:r>
            <a:r>
              <a:rPr sz="2400" spc="-10" dirty="0">
                <a:solidFill>
                  <a:srgbClr val="404040"/>
                </a:solidFill>
                <a:latin typeface="Carlito"/>
                <a:cs typeface="Carlito"/>
              </a:rPr>
              <a:t>coordination, </a:t>
            </a:r>
            <a:r>
              <a:rPr sz="2400" spc="-5" dirty="0">
                <a:solidFill>
                  <a:srgbClr val="404040"/>
                </a:solidFill>
                <a:latin typeface="Carlito"/>
                <a:cs typeface="Carlito"/>
              </a:rPr>
              <a:t>decision </a:t>
            </a:r>
            <a:r>
              <a:rPr sz="2400" dirty="0">
                <a:solidFill>
                  <a:srgbClr val="404040"/>
                </a:solidFill>
                <a:latin typeface="Carlito"/>
                <a:cs typeface="Carlito"/>
              </a:rPr>
              <a:t>making and </a:t>
            </a:r>
            <a:r>
              <a:rPr sz="2400" spc="-10" dirty="0">
                <a:solidFill>
                  <a:srgbClr val="404040"/>
                </a:solidFill>
                <a:latin typeface="Carlito"/>
                <a:cs typeface="Carlito"/>
              </a:rPr>
              <a:t>operational  </a:t>
            </a:r>
            <a:r>
              <a:rPr sz="2400" dirty="0">
                <a:solidFill>
                  <a:srgbClr val="404040"/>
                </a:solidFill>
                <a:latin typeface="Carlito"/>
                <a:cs typeface="Carlito"/>
              </a:rPr>
              <a:t>activities</a:t>
            </a:r>
            <a:endParaRPr sz="2400" dirty="0">
              <a:latin typeface="Carlito"/>
              <a:cs typeface="Carlito"/>
            </a:endParaRPr>
          </a:p>
        </p:txBody>
      </p:sp>
      <p:pic>
        <p:nvPicPr>
          <p:cNvPr id="5" name="Picture 4">
            <a:extLst>
              <a:ext uri="{FF2B5EF4-FFF2-40B4-BE49-F238E27FC236}">
                <a16:creationId xmlns:a16="http://schemas.microsoft.com/office/drawing/2014/main" id="{16C79E4F-C63B-CF83-DF00-1D4C9E5B98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4186518"/>
            <a:ext cx="3248547" cy="200117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8A6146-227C-318C-12A5-690B03E277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5800"/>
            <a:ext cx="9144000" cy="4728265"/>
          </a:xfrm>
          <a:prstGeom prst="rect">
            <a:avLst/>
          </a:prstGeom>
        </p:spPr>
      </p:pic>
    </p:spTree>
    <p:extLst>
      <p:ext uri="{BB962C8B-B14F-4D97-AF65-F5344CB8AC3E}">
        <p14:creationId xmlns:p14="http://schemas.microsoft.com/office/powerpoint/2010/main" val="116121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86258"/>
            <a:ext cx="8610599" cy="754053"/>
          </a:xfrm>
          <a:prstGeom prst="rect">
            <a:avLst/>
          </a:prstGeom>
        </p:spPr>
        <p:txBody>
          <a:bodyPr vert="horz" wrap="square" lIns="0" tIns="124460" rIns="0" bIns="0" rtlCol="0">
            <a:spAutoFit/>
          </a:bodyPr>
          <a:lstStyle/>
          <a:p>
            <a:pPr marL="38100" marR="5080">
              <a:lnSpc>
                <a:spcPts val="4900"/>
              </a:lnSpc>
              <a:spcBef>
                <a:spcPts val="980"/>
              </a:spcBef>
            </a:pPr>
            <a:r>
              <a:rPr spc="-310" dirty="0"/>
              <a:t>Electronic </a:t>
            </a:r>
            <a:r>
              <a:rPr spc="-225" dirty="0"/>
              <a:t>and</a:t>
            </a:r>
            <a:r>
              <a:rPr spc="-675" dirty="0"/>
              <a:t> </a:t>
            </a:r>
            <a:r>
              <a:rPr spc="-130" dirty="0"/>
              <a:t>Mobile  </a:t>
            </a:r>
            <a:r>
              <a:rPr spc="-280" dirty="0"/>
              <a:t>Commerce</a:t>
            </a:r>
          </a:p>
        </p:txBody>
      </p:sp>
      <p:sp>
        <p:nvSpPr>
          <p:cNvPr id="3" name="object 3"/>
          <p:cNvSpPr/>
          <p:nvPr/>
        </p:nvSpPr>
        <p:spPr>
          <a:xfrm>
            <a:off x="1988566" y="5070094"/>
            <a:ext cx="152019" cy="160019"/>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381000" y="1457760"/>
            <a:ext cx="8229600" cy="3960058"/>
          </a:xfrm>
          <a:prstGeom prst="rect">
            <a:avLst/>
          </a:prstGeom>
        </p:spPr>
        <p:txBody>
          <a:bodyPr vert="horz" wrap="square" lIns="0" tIns="134620" rIns="0" bIns="0" rtlCol="0">
            <a:spAutoFit/>
          </a:bodyPr>
          <a:lstStyle/>
          <a:p>
            <a:pPr marL="12700">
              <a:lnSpc>
                <a:spcPct val="100000"/>
              </a:lnSpc>
              <a:spcBef>
                <a:spcPts val="1060"/>
              </a:spcBef>
            </a:pPr>
            <a:r>
              <a:rPr sz="2400" b="1" u="heavy" spc="-5" dirty="0">
                <a:solidFill>
                  <a:srgbClr val="404040"/>
                </a:solidFill>
                <a:uFill>
                  <a:solidFill>
                    <a:srgbClr val="404040"/>
                  </a:solidFill>
                </a:uFill>
                <a:latin typeface="Carlito"/>
                <a:cs typeface="Carlito"/>
              </a:rPr>
              <a:t>E-Commerce</a:t>
            </a:r>
            <a:r>
              <a:rPr sz="2400" spc="-5" dirty="0">
                <a:solidFill>
                  <a:srgbClr val="404040"/>
                </a:solidFill>
                <a:latin typeface="Carlito"/>
                <a:cs typeface="Carlito"/>
              </a:rPr>
              <a:t>:</a:t>
            </a:r>
            <a:endParaRPr sz="2400" dirty="0">
              <a:latin typeface="Carlito"/>
              <a:cs typeface="Carlito"/>
            </a:endParaRPr>
          </a:p>
          <a:p>
            <a:pPr marL="295910" marR="5080">
              <a:lnSpc>
                <a:spcPts val="2160"/>
              </a:lnSpc>
              <a:spcBef>
                <a:spcPts val="1230"/>
              </a:spcBef>
            </a:pPr>
            <a:r>
              <a:rPr sz="2400" spc="-10" dirty="0">
                <a:solidFill>
                  <a:srgbClr val="404040"/>
                </a:solidFill>
                <a:latin typeface="Carlito"/>
                <a:cs typeface="Carlito"/>
              </a:rPr>
              <a:t>Any </a:t>
            </a:r>
            <a:r>
              <a:rPr sz="2400" spc="-5" dirty="0">
                <a:solidFill>
                  <a:srgbClr val="404040"/>
                </a:solidFill>
                <a:latin typeface="Carlito"/>
                <a:cs typeface="Carlito"/>
              </a:rPr>
              <a:t>business transaction </a:t>
            </a:r>
            <a:r>
              <a:rPr sz="2400" spc="-15" dirty="0">
                <a:solidFill>
                  <a:srgbClr val="404040"/>
                </a:solidFill>
                <a:latin typeface="Carlito"/>
                <a:cs typeface="Carlito"/>
              </a:rPr>
              <a:t>executed </a:t>
            </a:r>
            <a:r>
              <a:rPr sz="2400" spc="-5" dirty="0">
                <a:solidFill>
                  <a:srgbClr val="404040"/>
                </a:solidFill>
                <a:latin typeface="Carlito"/>
                <a:cs typeface="Carlito"/>
              </a:rPr>
              <a:t>electronically between companies  </a:t>
            </a:r>
            <a:r>
              <a:rPr sz="2400" spc="-5" dirty="0">
                <a:solidFill>
                  <a:srgbClr val="FF0000"/>
                </a:solidFill>
                <a:latin typeface="Carlito"/>
                <a:cs typeface="Carlito"/>
              </a:rPr>
              <a:t>(business-to-business, or </a:t>
            </a:r>
            <a:r>
              <a:rPr sz="2400" spc="5" dirty="0">
                <a:solidFill>
                  <a:srgbClr val="FF0000"/>
                </a:solidFill>
                <a:latin typeface="Carlito"/>
                <a:cs typeface="Carlito"/>
              </a:rPr>
              <a:t>B2B)</a:t>
            </a:r>
            <a:r>
              <a:rPr sz="2400" spc="5" dirty="0">
                <a:solidFill>
                  <a:srgbClr val="404040"/>
                </a:solidFill>
                <a:latin typeface="Carlito"/>
                <a:cs typeface="Carlito"/>
              </a:rPr>
              <a:t>, </a:t>
            </a:r>
            <a:r>
              <a:rPr sz="2400" spc="-5" dirty="0">
                <a:solidFill>
                  <a:srgbClr val="404040"/>
                </a:solidFill>
                <a:latin typeface="Carlito"/>
                <a:cs typeface="Carlito"/>
              </a:rPr>
              <a:t>companies </a:t>
            </a:r>
            <a:r>
              <a:rPr sz="2400" dirty="0">
                <a:solidFill>
                  <a:srgbClr val="404040"/>
                </a:solidFill>
                <a:latin typeface="Carlito"/>
                <a:cs typeface="Carlito"/>
              </a:rPr>
              <a:t>and </a:t>
            </a:r>
            <a:r>
              <a:rPr sz="2400" spc="-10" dirty="0">
                <a:solidFill>
                  <a:srgbClr val="404040"/>
                </a:solidFill>
                <a:latin typeface="Carlito"/>
                <a:cs typeface="Carlito"/>
              </a:rPr>
              <a:t>consumers </a:t>
            </a:r>
            <a:r>
              <a:rPr sz="2400" spc="-5" dirty="0">
                <a:solidFill>
                  <a:srgbClr val="FF0000"/>
                </a:solidFill>
                <a:latin typeface="Carlito"/>
                <a:cs typeface="Carlito"/>
              </a:rPr>
              <a:t>(business-  </a:t>
            </a:r>
            <a:r>
              <a:rPr sz="2400" spc="-20" dirty="0">
                <a:solidFill>
                  <a:srgbClr val="FF0000"/>
                </a:solidFill>
                <a:latin typeface="Carlito"/>
                <a:cs typeface="Carlito"/>
              </a:rPr>
              <a:t>to-consumer, </a:t>
            </a:r>
            <a:r>
              <a:rPr sz="2400" spc="-5" dirty="0">
                <a:solidFill>
                  <a:srgbClr val="FF0000"/>
                </a:solidFill>
                <a:latin typeface="Carlito"/>
                <a:cs typeface="Carlito"/>
              </a:rPr>
              <a:t>or </a:t>
            </a:r>
            <a:r>
              <a:rPr sz="2400" dirty="0">
                <a:solidFill>
                  <a:srgbClr val="FF0000"/>
                </a:solidFill>
                <a:latin typeface="Carlito"/>
                <a:cs typeface="Carlito"/>
              </a:rPr>
              <a:t>B2C)</a:t>
            </a:r>
            <a:r>
              <a:rPr sz="2400" dirty="0">
                <a:solidFill>
                  <a:srgbClr val="404040"/>
                </a:solidFill>
                <a:latin typeface="Carlito"/>
                <a:cs typeface="Carlito"/>
              </a:rPr>
              <a:t>, </a:t>
            </a:r>
            <a:r>
              <a:rPr sz="2400" spc="-10" dirty="0">
                <a:solidFill>
                  <a:srgbClr val="404040"/>
                </a:solidFill>
                <a:latin typeface="Carlito"/>
                <a:cs typeface="Carlito"/>
              </a:rPr>
              <a:t>consumers </a:t>
            </a:r>
            <a:r>
              <a:rPr sz="2400" dirty="0">
                <a:solidFill>
                  <a:srgbClr val="404040"/>
                </a:solidFill>
                <a:latin typeface="Carlito"/>
                <a:cs typeface="Carlito"/>
              </a:rPr>
              <a:t>and </a:t>
            </a:r>
            <a:r>
              <a:rPr sz="2400" spc="-5" dirty="0">
                <a:solidFill>
                  <a:srgbClr val="404040"/>
                </a:solidFill>
                <a:latin typeface="Carlito"/>
                <a:cs typeface="Carlito"/>
              </a:rPr>
              <a:t>other consumers </a:t>
            </a:r>
            <a:r>
              <a:rPr sz="2400" spc="-5" dirty="0">
                <a:solidFill>
                  <a:srgbClr val="FF0000"/>
                </a:solidFill>
                <a:latin typeface="Carlito"/>
                <a:cs typeface="Carlito"/>
              </a:rPr>
              <a:t>(consumer-  </a:t>
            </a:r>
            <a:r>
              <a:rPr sz="2400" spc="-20" dirty="0">
                <a:solidFill>
                  <a:srgbClr val="FF0000"/>
                </a:solidFill>
                <a:latin typeface="Carlito"/>
                <a:cs typeface="Carlito"/>
              </a:rPr>
              <a:t>to-consumer, </a:t>
            </a:r>
            <a:r>
              <a:rPr sz="2400" dirty="0">
                <a:solidFill>
                  <a:srgbClr val="FF0000"/>
                </a:solidFill>
                <a:latin typeface="Carlito"/>
                <a:cs typeface="Carlito"/>
              </a:rPr>
              <a:t>or</a:t>
            </a:r>
            <a:r>
              <a:rPr sz="2400" spc="-10" dirty="0">
                <a:solidFill>
                  <a:srgbClr val="FF0000"/>
                </a:solidFill>
                <a:latin typeface="Carlito"/>
                <a:cs typeface="Carlito"/>
              </a:rPr>
              <a:t> </a:t>
            </a:r>
            <a:r>
              <a:rPr sz="2400" dirty="0">
                <a:solidFill>
                  <a:srgbClr val="FF0000"/>
                </a:solidFill>
                <a:latin typeface="Carlito"/>
                <a:cs typeface="Carlito"/>
              </a:rPr>
              <a:t>C2C)</a:t>
            </a:r>
            <a:r>
              <a:rPr sz="2400" dirty="0">
                <a:solidFill>
                  <a:srgbClr val="404040"/>
                </a:solidFill>
                <a:latin typeface="Carlito"/>
                <a:cs typeface="Carlito"/>
              </a:rPr>
              <a:t>.</a:t>
            </a:r>
            <a:endParaRPr sz="2400" dirty="0">
              <a:latin typeface="Carlito"/>
              <a:cs typeface="Carlito"/>
            </a:endParaRPr>
          </a:p>
          <a:p>
            <a:pPr>
              <a:lnSpc>
                <a:spcPct val="100000"/>
              </a:lnSpc>
            </a:pPr>
            <a:endParaRPr sz="2400" dirty="0">
              <a:latin typeface="Carlito"/>
              <a:cs typeface="Carlito"/>
            </a:endParaRPr>
          </a:p>
          <a:p>
            <a:pPr>
              <a:lnSpc>
                <a:spcPct val="100000"/>
              </a:lnSpc>
              <a:spcBef>
                <a:spcPts val="15"/>
              </a:spcBef>
            </a:pPr>
            <a:endParaRPr sz="2400" dirty="0">
              <a:latin typeface="Carlito"/>
              <a:cs typeface="Carlito"/>
            </a:endParaRPr>
          </a:p>
          <a:p>
            <a:pPr marL="12700">
              <a:lnSpc>
                <a:spcPct val="100000"/>
              </a:lnSpc>
            </a:pPr>
            <a:r>
              <a:rPr sz="2400" b="1" u="heavy" spc="-5" dirty="0">
                <a:solidFill>
                  <a:srgbClr val="404040"/>
                </a:solidFill>
                <a:uFill>
                  <a:solidFill>
                    <a:srgbClr val="404040"/>
                  </a:solidFill>
                </a:uFill>
                <a:latin typeface="Carlito"/>
                <a:cs typeface="Carlito"/>
              </a:rPr>
              <a:t>M-Commerce</a:t>
            </a:r>
            <a:r>
              <a:rPr sz="2400" spc="-5" dirty="0">
                <a:solidFill>
                  <a:srgbClr val="404040"/>
                </a:solidFill>
                <a:latin typeface="Carlito"/>
                <a:cs typeface="Carlito"/>
              </a:rPr>
              <a:t>:</a:t>
            </a:r>
            <a:endParaRPr sz="2400" dirty="0">
              <a:latin typeface="Carlito"/>
              <a:cs typeface="Carlito"/>
            </a:endParaRPr>
          </a:p>
          <a:p>
            <a:pPr marL="295910">
              <a:lnSpc>
                <a:spcPts val="2280"/>
              </a:lnSpc>
              <a:spcBef>
                <a:spcPts val="960"/>
              </a:spcBef>
            </a:pPr>
            <a:r>
              <a:rPr sz="2400" spc="-5" dirty="0">
                <a:solidFill>
                  <a:srgbClr val="404040"/>
                </a:solidFill>
                <a:latin typeface="Carlito"/>
                <a:cs typeface="Carlito"/>
              </a:rPr>
              <a:t>The use of mobile, wireless devices </a:t>
            </a:r>
            <a:r>
              <a:rPr sz="2400" spc="-15" dirty="0">
                <a:solidFill>
                  <a:srgbClr val="404040"/>
                </a:solidFill>
                <a:latin typeface="Carlito"/>
                <a:cs typeface="Carlito"/>
              </a:rPr>
              <a:t>to </a:t>
            </a:r>
            <a:r>
              <a:rPr sz="2400" spc="-5" dirty="0">
                <a:solidFill>
                  <a:srgbClr val="404040"/>
                </a:solidFill>
                <a:latin typeface="Carlito"/>
                <a:cs typeface="Carlito"/>
              </a:rPr>
              <a:t>place </a:t>
            </a:r>
            <a:r>
              <a:rPr sz="2400" spc="-15" dirty="0">
                <a:solidFill>
                  <a:srgbClr val="404040"/>
                </a:solidFill>
                <a:latin typeface="Carlito"/>
                <a:cs typeface="Carlito"/>
              </a:rPr>
              <a:t>orders </a:t>
            </a:r>
            <a:r>
              <a:rPr sz="2400" dirty="0">
                <a:solidFill>
                  <a:srgbClr val="404040"/>
                </a:solidFill>
                <a:latin typeface="Carlito"/>
                <a:cs typeface="Carlito"/>
              </a:rPr>
              <a:t>and</a:t>
            </a:r>
            <a:r>
              <a:rPr sz="2400" spc="75" dirty="0">
                <a:solidFill>
                  <a:srgbClr val="404040"/>
                </a:solidFill>
                <a:latin typeface="Carlito"/>
                <a:cs typeface="Carlito"/>
              </a:rPr>
              <a:t> </a:t>
            </a:r>
            <a:r>
              <a:rPr sz="2400" spc="-5" dirty="0">
                <a:solidFill>
                  <a:srgbClr val="404040"/>
                </a:solidFill>
                <a:latin typeface="Carlito"/>
                <a:cs typeface="Carlito"/>
              </a:rPr>
              <a:t>conduct</a:t>
            </a:r>
            <a:endParaRPr sz="2400" dirty="0">
              <a:latin typeface="Carlito"/>
              <a:cs typeface="Carlito"/>
            </a:endParaRPr>
          </a:p>
          <a:p>
            <a:pPr marL="295910">
              <a:lnSpc>
                <a:spcPts val="2225"/>
              </a:lnSpc>
            </a:pPr>
            <a:r>
              <a:rPr sz="2400" spc="-5" dirty="0">
                <a:solidFill>
                  <a:srgbClr val="404040"/>
                </a:solidFill>
                <a:latin typeface="Carlito"/>
                <a:cs typeface="Carlito"/>
              </a:rPr>
              <a:t>business</a:t>
            </a:r>
            <a:endParaRPr sz="2400" dirty="0">
              <a:latin typeface="Carlito"/>
              <a:cs typeface="Carlito"/>
            </a:endParaRPr>
          </a:p>
          <a:p>
            <a:pPr marL="1259205">
              <a:lnSpc>
                <a:spcPts val="2825"/>
              </a:lnSpc>
            </a:pPr>
            <a:r>
              <a:rPr sz="2400" spc="-5" dirty="0">
                <a:solidFill>
                  <a:srgbClr val="404040"/>
                </a:solidFill>
                <a:latin typeface="Carlito"/>
                <a:cs typeface="Carlito"/>
              </a:rPr>
              <a:t>Relies on wireless</a:t>
            </a:r>
            <a:r>
              <a:rPr sz="2400" spc="-50" dirty="0">
                <a:solidFill>
                  <a:srgbClr val="404040"/>
                </a:solidFill>
                <a:latin typeface="Carlito"/>
                <a:cs typeface="Carlito"/>
              </a:rPr>
              <a:t> </a:t>
            </a:r>
            <a:r>
              <a:rPr sz="2400" spc="-10" dirty="0">
                <a:solidFill>
                  <a:srgbClr val="404040"/>
                </a:solidFill>
                <a:latin typeface="Carlito"/>
                <a:cs typeface="Carlito"/>
              </a:rPr>
              <a:t>communications</a:t>
            </a:r>
            <a:endParaRPr sz="2400" dirty="0">
              <a:latin typeface="Carlito"/>
              <a:cs typeface="Carli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60000"/>
            <a:lumOff val="4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E5E0BA-B483-5949-0827-8010C1B6DB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6800"/>
            <a:ext cx="9144000" cy="5143500"/>
          </a:xfrm>
          <a:prstGeom prst="rect">
            <a:avLst/>
          </a:prstGeom>
        </p:spPr>
      </p:pic>
      <p:sp>
        <p:nvSpPr>
          <p:cNvPr id="4" name="TextBox 3">
            <a:extLst>
              <a:ext uri="{FF2B5EF4-FFF2-40B4-BE49-F238E27FC236}">
                <a16:creationId xmlns:a16="http://schemas.microsoft.com/office/drawing/2014/main" id="{CA0E15B2-1828-76A0-14E4-B144038E5EBC}"/>
              </a:ext>
            </a:extLst>
          </p:cNvPr>
          <p:cNvSpPr txBox="1"/>
          <p:nvPr/>
        </p:nvSpPr>
        <p:spPr>
          <a:xfrm>
            <a:off x="742950" y="152400"/>
            <a:ext cx="7658100" cy="769441"/>
          </a:xfrm>
          <a:prstGeom prst="rect">
            <a:avLst/>
          </a:prstGeom>
          <a:noFill/>
        </p:spPr>
        <p:txBody>
          <a:bodyPr wrap="square" rtlCol="0">
            <a:spAutoFit/>
          </a:bodyPr>
          <a:lstStyle/>
          <a:p>
            <a:pPr algn="ctr"/>
            <a:r>
              <a:rPr lang="en-US" sz="4400" b="1" dirty="0">
                <a:solidFill>
                  <a:schemeClr val="bg1"/>
                </a:solidFill>
              </a:rPr>
              <a:t>Transaction Processing System</a:t>
            </a:r>
          </a:p>
        </p:txBody>
      </p:sp>
    </p:spTree>
    <p:extLst>
      <p:ext uri="{BB962C8B-B14F-4D97-AF65-F5344CB8AC3E}">
        <p14:creationId xmlns:p14="http://schemas.microsoft.com/office/powerpoint/2010/main" val="2289294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81000" y="1219200"/>
            <a:ext cx="8077200" cy="3744038"/>
          </a:xfrm>
          <a:prstGeom prst="rect">
            <a:avLst/>
          </a:prstGeom>
        </p:spPr>
        <p:txBody>
          <a:bodyPr vert="horz" wrap="square" lIns="0" tIns="13335" rIns="0" bIns="0" rtlCol="0">
            <a:spAutoFit/>
          </a:bodyPr>
          <a:lstStyle/>
          <a:p>
            <a:pPr marL="295910" indent="-283845">
              <a:lnSpc>
                <a:spcPct val="150000"/>
              </a:lnSpc>
              <a:spcBef>
                <a:spcPts val="105"/>
              </a:spcBef>
              <a:buClr>
                <a:srgbClr val="E38312"/>
              </a:buClr>
              <a:buFont typeface="Arial"/>
              <a:buChar char=""/>
              <a:tabLst>
                <a:tab pos="295910" algn="l"/>
                <a:tab pos="296545" algn="l"/>
              </a:tabLst>
            </a:pPr>
            <a:r>
              <a:rPr sz="2800" b="1" spc="-15" dirty="0">
                <a:solidFill>
                  <a:srgbClr val="404040"/>
                </a:solidFill>
                <a:latin typeface="Tahoma" panose="020B0604030504040204" pitchFamily="34" charset="0"/>
                <a:ea typeface="Tahoma" panose="020B0604030504040204" pitchFamily="34" charset="0"/>
                <a:cs typeface="Tahoma" panose="020B0604030504040204" pitchFamily="34" charset="0"/>
              </a:rPr>
              <a:t>Transaction</a:t>
            </a:r>
            <a:endParaRPr sz="2800" b="1" dirty="0">
              <a:latin typeface="Tahoma" panose="020B0604030504040204" pitchFamily="34" charset="0"/>
              <a:ea typeface="Tahoma" panose="020B0604030504040204" pitchFamily="34" charset="0"/>
              <a:cs typeface="Tahoma" panose="020B0604030504040204" pitchFamily="34" charset="0"/>
            </a:endParaRPr>
          </a:p>
          <a:p>
            <a:pPr marL="570230" marR="5080" lvl="1" indent="-238125">
              <a:lnSpc>
                <a:spcPct val="150000"/>
              </a:lnSpc>
              <a:spcBef>
                <a:spcPts val="250"/>
              </a:spcBef>
              <a:buClr>
                <a:srgbClr val="E38312"/>
              </a:buClr>
              <a:buFont typeface="Verdana"/>
              <a:buChar char="◦"/>
              <a:tabLst>
                <a:tab pos="570230" algn="l"/>
                <a:tab pos="570865" algn="l"/>
              </a:tabLst>
            </a:pPr>
            <a:r>
              <a:rPr sz="2000" dirty="0">
                <a:solidFill>
                  <a:srgbClr val="404040"/>
                </a:solidFill>
                <a:latin typeface="Tahoma" panose="020B0604030504040204" pitchFamily="34" charset="0"/>
                <a:ea typeface="Tahoma" panose="020B0604030504040204" pitchFamily="34" charset="0"/>
                <a:cs typeface="Tahoma" panose="020B0604030504040204" pitchFamily="34" charset="0"/>
              </a:rPr>
              <a:t>A </a:t>
            </a:r>
            <a:r>
              <a:rPr sz="2000" spc="-5" dirty="0">
                <a:solidFill>
                  <a:srgbClr val="404040"/>
                </a:solidFill>
                <a:latin typeface="Tahoma" panose="020B0604030504040204" pitchFamily="34" charset="0"/>
                <a:ea typeface="Tahoma" panose="020B0604030504040204" pitchFamily="34" charset="0"/>
                <a:cs typeface="Tahoma" panose="020B0604030504040204" pitchFamily="34" charset="0"/>
              </a:rPr>
              <a:t>transaction </a:t>
            </a:r>
            <a:r>
              <a:rPr sz="2000" dirty="0">
                <a:solidFill>
                  <a:srgbClr val="404040"/>
                </a:solidFill>
                <a:latin typeface="Tahoma" panose="020B0604030504040204" pitchFamily="34" charset="0"/>
                <a:ea typeface="Tahoma" panose="020B0604030504040204" pitchFamily="34" charset="0"/>
                <a:cs typeface="Tahoma" panose="020B0604030504040204" pitchFamily="34" charset="0"/>
              </a:rPr>
              <a:t>is </a:t>
            </a:r>
            <a:r>
              <a:rPr sz="2000" spc="-10" dirty="0">
                <a:solidFill>
                  <a:srgbClr val="404040"/>
                </a:solidFill>
                <a:latin typeface="Tahoma" panose="020B0604030504040204" pitchFamily="34" charset="0"/>
                <a:ea typeface="Tahoma" panose="020B0604030504040204" pitchFamily="34" charset="0"/>
                <a:cs typeface="Tahoma" panose="020B0604030504040204" pitchFamily="34" charset="0"/>
              </a:rPr>
              <a:t>any business-related exchange </a:t>
            </a:r>
            <a:r>
              <a:rPr sz="2000" spc="-5" dirty="0">
                <a:solidFill>
                  <a:srgbClr val="404040"/>
                </a:solidFill>
                <a:latin typeface="Tahoma" panose="020B0604030504040204" pitchFamily="34" charset="0"/>
                <a:ea typeface="Tahoma" panose="020B0604030504040204" pitchFamily="34" charset="0"/>
                <a:cs typeface="Tahoma" panose="020B0604030504040204" pitchFamily="34" charset="0"/>
              </a:rPr>
              <a:t>such </a:t>
            </a:r>
            <a:r>
              <a:rPr sz="2000" dirty="0">
                <a:solidFill>
                  <a:srgbClr val="404040"/>
                </a:solidFill>
                <a:latin typeface="Tahoma" panose="020B0604030504040204" pitchFamily="34" charset="0"/>
                <a:ea typeface="Tahoma" panose="020B0604030504040204" pitchFamily="34" charset="0"/>
                <a:cs typeface="Tahoma" panose="020B0604030504040204" pitchFamily="34" charset="0"/>
              </a:rPr>
              <a:t>as </a:t>
            </a:r>
            <a:r>
              <a:rPr sz="2000" spc="-10" dirty="0">
                <a:solidFill>
                  <a:srgbClr val="404040"/>
                </a:solidFill>
                <a:latin typeface="Tahoma" panose="020B0604030504040204" pitchFamily="34" charset="0"/>
                <a:ea typeface="Tahoma" panose="020B0604030504040204" pitchFamily="34" charset="0"/>
                <a:cs typeface="Tahoma" panose="020B0604030504040204" pitchFamily="34" charset="0"/>
              </a:rPr>
              <a:t>payments </a:t>
            </a:r>
            <a:r>
              <a:rPr sz="2000" spc="-15" dirty="0">
                <a:solidFill>
                  <a:srgbClr val="404040"/>
                </a:solidFill>
                <a:latin typeface="Tahoma" panose="020B0604030504040204" pitchFamily="34" charset="0"/>
                <a:ea typeface="Tahoma" panose="020B0604030504040204" pitchFamily="34" charset="0"/>
                <a:cs typeface="Tahoma" panose="020B0604030504040204" pitchFamily="34" charset="0"/>
              </a:rPr>
              <a:t>to  </a:t>
            </a:r>
            <a:r>
              <a:rPr sz="2000" spc="-5" dirty="0">
                <a:solidFill>
                  <a:srgbClr val="404040"/>
                </a:solidFill>
                <a:latin typeface="Tahoma" panose="020B0604030504040204" pitchFamily="34" charset="0"/>
                <a:ea typeface="Tahoma" panose="020B0604030504040204" pitchFamily="34" charset="0"/>
                <a:cs typeface="Tahoma" panose="020B0604030504040204" pitchFamily="34" charset="0"/>
              </a:rPr>
              <a:t>employees, sales </a:t>
            </a:r>
            <a:r>
              <a:rPr sz="2000" spc="-15" dirty="0">
                <a:solidFill>
                  <a:srgbClr val="404040"/>
                </a:solidFill>
                <a:latin typeface="Tahoma" panose="020B0604030504040204" pitchFamily="34" charset="0"/>
                <a:ea typeface="Tahoma" panose="020B0604030504040204" pitchFamily="34" charset="0"/>
                <a:cs typeface="Tahoma" panose="020B0604030504040204" pitchFamily="34" charset="0"/>
              </a:rPr>
              <a:t>to </a:t>
            </a:r>
            <a:r>
              <a:rPr sz="2000" spc="-10" dirty="0">
                <a:solidFill>
                  <a:srgbClr val="404040"/>
                </a:solidFill>
                <a:latin typeface="Tahoma" panose="020B0604030504040204" pitchFamily="34" charset="0"/>
                <a:ea typeface="Tahoma" panose="020B0604030504040204" pitchFamily="34" charset="0"/>
                <a:cs typeface="Tahoma" panose="020B0604030504040204" pitchFamily="34" charset="0"/>
              </a:rPr>
              <a:t>customers, </a:t>
            </a:r>
            <a:r>
              <a:rPr sz="2000" spc="-5" dirty="0">
                <a:solidFill>
                  <a:srgbClr val="404040"/>
                </a:solidFill>
                <a:latin typeface="Tahoma" panose="020B0604030504040204" pitchFamily="34" charset="0"/>
                <a:ea typeface="Tahoma" panose="020B0604030504040204" pitchFamily="34" charset="0"/>
                <a:cs typeface="Tahoma" panose="020B0604030504040204" pitchFamily="34" charset="0"/>
              </a:rPr>
              <a:t>or </a:t>
            </a:r>
            <a:r>
              <a:rPr sz="2000" spc="-10" dirty="0">
                <a:solidFill>
                  <a:srgbClr val="404040"/>
                </a:solidFill>
                <a:latin typeface="Tahoma" panose="020B0604030504040204" pitchFamily="34" charset="0"/>
                <a:ea typeface="Tahoma" panose="020B0604030504040204" pitchFamily="34" charset="0"/>
                <a:cs typeface="Tahoma" panose="020B0604030504040204" pitchFamily="34" charset="0"/>
              </a:rPr>
              <a:t>payments </a:t>
            </a:r>
            <a:r>
              <a:rPr sz="2000" spc="-15" dirty="0">
                <a:solidFill>
                  <a:srgbClr val="404040"/>
                </a:solidFill>
                <a:latin typeface="Tahoma" panose="020B0604030504040204" pitchFamily="34" charset="0"/>
                <a:ea typeface="Tahoma" panose="020B0604030504040204" pitchFamily="34" charset="0"/>
                <a:cs typeface="Tahoma" panose="020B0604030504040204" pitchFamily="34" charset="0"/>
              </a:rPr>
              <a:t>to</a:t>
            </a:r>
            <a:r>
              <a:rPr sz="2000" spc="50" dirty="0">
                <a:solidFill>
                  <a:srgbClr val="404040"/>
                </a:solidFill>
                <a:latin typeface="Tahoma" panose="020B0604030504040204" pitchFamily="34" charset="0"/>
                <a:ea typeface="Tahoma" panose="020B0604030504040204" pitchFamily="34" charset="0"/>
                <a:cs typeface="Tahoma" panose="020B0604030504040204" pitchFamily="34" charset="0"/>
              </a:rPr>
              <a:t> </a:t>
            </a:r>
            <a:r>
              <a:rPr sz="2000" spc="-10" dirty="0">
                <a:solidFill>
                  <a:srgbClr val="404040"/>
                </a:solidFill>
                <a:latin typeface="Tahoma" panose="020B0604030504040204" pitchFamily="34" charset="0"/>
                <a:ea typeface="Tahoma" panose="020B0604030504040204" pitchFamily="34" charset="0"/>
                <a:cs typeface="Tahoma" panose="020B0604030504040204" pitchFamily="34" charset="0"/>
              </a:rPr>
              <a:t>suppliers.</a:t>
            </a:r>
            <a:endParaRPr sz="2000" dirty="0">
              <a:latin typeface="Tahoma" panose="020B0604030504040204" pitchFamily="34" charset="0"/>
              <a:ea typeface="Tahoma" panose="020B0604030504040204" pitchFamily="34" charset="0"/>
              <a:cs typeface="Tahoma" panose="020B0604030504040204" pitchFamily="34" charset="0"/>
            </a:endParaRPr>
          </a:p>
          <a:p>
            <a:pPr marL="295910" indent="-283845">
              <a:lnSpc>
                <a:spcPct val="150000"/>
              </a:lnSpc>
              <a:spcBef>
                <a:spcPts val="930"/>
              </a:spcBef>
              <a:buClr>
                <a:srgbClr val="E38312"/>
              </a:buClr>
              <a:buFont typeface="Arial"/>
              <a:buChar char=""/>
              <a:tabLst>
                <a:tab pos="295910" algn="l"/>
                <a:tab pos="296545" algn="l"/>
              </a:tabLst>
            </a:pPr>
            <a:r>
              <a:rPr sz="2800" b="1" spc="-15" dirty="0">
                <a:solidFill>
                  <a:srgbClr val="404040"/>
                </a:solidFill>
                <a:latin typeface="Tahoma" panose="020B0604030504040204" pitchFamily="34" charset="0"/>
                <a:ea typeface="Tahoma" panose="020B0604030504040204" pitchFamily="34" charset="0"/>
                <a:cs typeface="Tahoma" panose="020B0604030504040204" pitchFamily="34" charset="0"/>
              </a:rPr>
              <a:t>Transaction </a:t>
            </a:r>
            <a:r>
              <a:rPr sz="2800" b="1" spc="-10" dirty="0">
                <a:solidFill>
                  <a:srgbClr val="404040"/>
                </a:solidFill>
                <a:latin typeface="Tahoma" panose="020B0604030504040204" pitchFamily="34" charset="0"/>
                <a:ea typeface="Tahoma" panose="020B0604030504040204" pitchFamily="34" charset="0"/>
                <a:cs typeface="Tahoma" panose="020B0604030504040204" pitchFamily="34" charset="0"/>
              </a:rPr>
              <a:t>Processing </a:t>
            </a:r>
            <a:r>
              <a:rPr sz="2800" b="1" spc="-15" dirty="0">
                <a:solidFill>
                  <a:srgbClr val="404040"/>
                </a:solidFill>
                <a:latin typeface="Tahoma" panose="020B0604030504040204" pitchFamily="34" charset="0"/>
                <a:ea typeface="Tahoma" panose="020B0604030504040204" pitchFamily="34" charset="0"/>
                <a:cs typeface="Tahoma" panose="020B0604030504040204" pitchFamily="34" charset="0"/>
              </a:rPr>
              <a:t>System</a:t>
            </a:r>
            <a:r>
              <a:rPr sz="2800" b="1" spc="45" dirty="0">
                <a:solidFill>
                  <a:srgbClr val="404040"/>
                </a:solidFill>
                <a:latin typeface="Tahoma" panose="020B0604030504040204" pitchFamily="34" charset="0"/>
                <a:ea typeface="Tahoma" panose="020B0604030504040204" pitchFamily="34" charset="0"/>
                <a:cs typeface="Tahoma" panose="020B0604030504040204" pitchFamily="34" charset="0"/>
              </a:rPr>
              <a:t> </a:t>
            </a:r>
            <a:r>
              <a:rPr sz="2800" b="1" spc="-5" dirty="0">
                <a:solidFill>
                  <a:srgbClr val="404040"/>
                </a:solidFill>
                <a:latin typeface="Tahoma" panose="020B0604030504040204" pitchFamily="34" charset="0"/>
                <a:ea typeface="Tahoma" panose="020B0604030504040204" pitchFamily="34" charset="0"/>
                <a:cs typeface="Tahoma" panose="020B0604030504040204" pitchFamily="34" charset="0"/>
              </a:rPr>
              <a:t>(TPS)</a:t>
            </a:r>
            <a:endParaRPr sz="2800" b="1" dirty="0">
              <a:latin typeface="Tahoma" panose="020B0604030504040204" pitchFamily="34" charset="0"/>
              <a:ea typeface="Tahoma" panose="020B0604030504040204" pitchFamily="34" charset="0"/>
              <a:cs typeface="Tahoma" panose="020B0604030504040204" pitchFamily="34" charset="0"/>
            </a:endParaRPr>
          </a:p>
          <a:p>
            <a:pPr marL="570230" marR="511175" lvl="1" indent="-238125">
              <a:lnSpc>
                <a:spcPct val="150000"/>
              </a:lnSpc>
              <a:spcBef>
                <a:spcPts val="250"/>
              </a:spcBef>
              <a:buClr>
                <a:srgbClr val="E38312"/>
              </a:buClr>
              <a:buFont typeface="Verdana"/>
              <a:buChar char="◦"/>
              <a:tabLst>
                <a:tab pos="570230" algn="l"/>
                <a:tab pos="570865" algn="l"/>
              </a:tabLst>
            </a:pPr>
            <a:r>
              <a:rPr sz="2000" spc="-5" dirty="0">
                <a:solidFill>
                  <a:srgbClr val="404040"/>
                </a:solidFill>
                <a:latin typeface="Tahoma" panose="020B0604030504040204" pitchFamily="34" charset="0"/>
                <a:ea typeface="Tahoma" panose="020B0604030504040204" pitchFamily="34" charset="0"/>
                <a:cs typeface="Tahoma" panose="020B0604030504040204" pitchFamily="34" charset="0"/>
              </a:rPr>
              <a:t>TPS </a:t>
            </a:r>
            <a:r>
              <a:rPr sz="2000" dirty="0">
                <a:solidFill>
                  <a:srgbClr val="404040"/>
                </a:solidFill>
                <a:latin typeface="Tahoma" panose="020B0604030504040204" pitchFamily="34" charset="0"/>
                <a:ea typeface="Tahoma" panose="020B0604030504040204" pitchFamily="34" charset="0"/>
                <a:cs typeface="Tahoma" panose="020B0604030504040204" pitchFamily="34" charset="0"/>
              </a:rPr>
              <a:t>is an </a:t>
            </a:r>
            <a:r>
              <a:rPr sz="2000" spc="-15" dirty="0">
                <a:solidFill>
                  <a:srgbClr val="404040"/>
                </a:solidFill>
                <a:latin typeface="Tahoma" panose="020B0604030504040204" pitchFamily="34" charset="0"/>
                <a:ea typeface="Tahoma" panose="020B0604030504040204" pitchFamily="34" charset="0"/>
                <a:cs typeface="Tahoma" panose="020B0604030504040204" pitchFamily="34" charset="0"/>
              </a:rPr>
              <a:t>organized </a:t>
            </a:r>
            <a:r>
              <a:rPr sz="2000" spc="-5" dirty="0">
                <a:solidFill>
                  <a:srgbClr val="404040"/>
                </a:solidFill>
                <a:latin typeface="Tahoma" panose="020B0604030504040204" pitchFamily="34" charset="0"/>
                <a:ea typeface="Tahoma" panose="020B0604030504040204" pitchFamily="34" charset="0"/>
                <a:cs typeface="Tahoma" panose="020B0604030504040204" pitchFamily="34" charset="0"/>
              </a:rPr>
              <a:t>collection of people, </a:t>
            </a:r>
            <a:r>
              <a:rPr sz="2000" spc="-10" dirty="0">
                <a:solidFill>
                  <a:srgbClr val="404040"/>
                </a:solidFill>
                <a:latin typeface="Tahoma" panose="020B0604030504040204" pitchFamily="34" charset="0"/>
                <a:ea typeface="Tahoma" panose="020B0604030504040204" pitchFamily="34" charset="0"/>
                <a:cs typeface="Tahoma" panose="020B0604030504040204" pitchFamily="34" charset="0"/>
              </a:rPr>
              <a:t>procedures, software,  </a:t>
            </a:r>
            <a:r>
              <a:rPr sz="2000" spc="-5" dirty="0">
                <a:solidFill>
                  <a:srgbClr val="404040"/>
                </a:solidFill>
                <a:latin typeface="Tahoma" panose="020B0604030504040204" pitchFamily="34" charset="0"/>
                <a:ea typeface="Tahoma" panose="020B0604030504040204" pitchFamily="34" charset="0"/>
                <a:cs typeface="Tahoma" panose="020B0604030504040204" pitchFamily="34" charset="0"/>
              </a:rPr>
              <a:t>databases, </a:t>
            </a:r>
            <a:r>
              <a:rPr sz="2000" dirty="0">
                <a:solidFill>
                  <a:srgbClr val="404040"/>
                </a:solidFill>
                <a:latin typeface="Tahoma" panose="020B0604030504040204" pitchFamily="34" charset="0"/>
                <a:ea typeface="Tahoma" panose="020B0604030504040204" pitchFamily="34" charset="0"/>
                <a:cs typeface="Tahoma" panose="020B0604030504040204" pitchFamily="34" charset="0"/>
              </a:rPr>
              <a:t>and </a:t>
            </a:r>
            <a:r>
              <a:rPr sz="2000" spc="-5" dirty="0">
                <a:solidFill>
                  <a:srgbClr val="404040"/>
                </a:solidFill>
                <a:latin typeface="Tahoma" panose="020B0604030504040204" pitchFamily="34" charset="0"/>
                <a:ea typeface="Tahoma" panose="020B0604030504040204" pitchFamily="34" charset="0"/>
                <a:cs typeface="Tahoma" panose="020B0604030504040204" pitchFamily="34" charset="0"/>
              </a:rPr>
              <a:t>devices </a:t>
            </a:r>
            <a:r>
              <a:rPr sz="2000" b="1" dirty="0">
                <a:solidFill>
                  <a:srgbClr val="FF0000"/>
                </a:solidFill>
                <a:latin typeface="Tahoma" panose="020B0604030504040204" pitchFamily="34" charset="0"/>
                <a:ea typeface="Tahoma" panose="020B0604030504040204" pitchFamily="34" charset="0"/>
                <a:cs typeface="Tahoma" panose="020B0604030504040204" pitchFamily="34" charset="0"/>
              </a:rPr>
              <a:t>used </a:t>
            </a:r>
            <a:r>
              <a:rPr sz="2000" b="1" spc="-15" dirty="0">
                <a:solidFill>
                  <a:srgbClr val="FF0000"/>
                </a:solidFill>
                <a:latin typeface="Tahoma" panose="020B0604030504040204" pitchFamily="34" charset="0"/>
                <a:ea typeface="Tahoma" panose="020B0604030504040204" pitchFamily="34" charset="0"/>
                <a:cs typeface="Tahoma" panose="020B0604030504040204" pitchFamily="34" charset="0"/>
              </a:rPr>
              <a:t>to </a:t>
            </a:r>
            <a:r>
              <a:rPr sz="2000" b="1" spc="-5" dirty="0">
                <a:solidFill>
                  <a:srgbClr val="FF0000"/>
                </a:solidFill>
                <a:latin typeface="Tahoma" panose="020B0604030504040204" pitchFamily="34" charset="0"/>
                <a:ea typeface="Tahoma" panose="020B0604030504040204" pitchFamily="34" charset="0"/>
                <a:cs typeface="Tahoma" panose="020B0604030504040204" pitchFamily="34" charset="0"/>
              </a:rPr>
              <a:t>perform </a:t>
            </a:r>
            <a:r>
              <a:rPr sz="2000" b="1" dirty="0">
                <a:solidFill>
                  <a:srgbClr val="FF0000"/>
                </a:solidFill>
                <a:latin typeface="Tahoma" panose="020B0604030504040204" pitchFamily="34" charset="0"/>
                <a:ea typeface="Tahoma" panose="020B0604030504040204" pitchFamily="34" charset="0"/>
                <a:cs typeface="Tahoma" panose="020B0604030504040204" pitchFamily="34" charset="0"/>
              </a:rPr>
              <a:t>and </a:t>
            </a:r>
            <a:r>
              <a:rPr sz="2000" b="1" spc="-15" dirty="0">
                <a:solidFill>
                  <a:srgbClr val="FF0000"/>
                </a:solidFill>
                <a:latin typeface="Tahoma" panose="020B0604030504040204" pitchFamily="34" charset="0"/>
                <a:ea typeface="Tahoma" panose="020B0604030504040204" pitchFamily="34" charset="0"/>
                <a:cs typeface="Tahoma" panose="020B0604030504040204" pitchFamily="34" charset="0"/>
              </a:rPr>
              <a:t>record </a:t>
            </a:r>
            <a:r>
              <a:rPr sz="2000" b="1" dirty="0">
                <a:solidFill>
                  <a:srgbClr val="FF0000"/>
                </a:solidFill>
                <a:latin typeface="Tahoma" panose="020B0604030504040204" pitchFamily="34" charset="0"/>
                <a:ea typeface="Tahoma" panose="020B0604030504040204" pitchFamily="34" charset="0"/>
                <a:cs typeface="Tahoma" panose="020B0604030504040204" pitchFamily="34" charset="0"/>
              </a:rPr>
              <a:t>business  </a:t>
            </a:r>
            <a:r>
              <a:rPr sz="2000" b="1" spc="-5" dirty="0">
                <a:solidFill>
                  <a:srgbClr val="FF0000"/>
                </a:solidFill>
                <a:latin typeface="Tahoma" panose="020B0604030504040204" pitchFamily="34" charset="0"/>
                <a:ea typeface="Tahoma" panose="020B0604030504040204" pitchFamily="34" charset="0"/>
                <a:cs typeface="Tahoma" panose="020B0604030504040204" pitchFamily="34" charset="0"/>
              </a:rPr>
              <a:t>transactions.</a:t>
            </a:r>
            <a:endParaRPr sz="20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3CA008-276C-23E7-A237-17A14884DB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0"/>
            <a:ext cx="6858000" cy="6858000"/>
          </a:xfrm>
          <a:prstGeom prst="rect">
            <a:avLst/>
          </a:prstGeom>
        </p:spPr>
      </p:pic>
    </p:spTree>
    <p:extLst>
      <p:ext uri="{BB962C8B-B14F-4D97-AF65-F5344CB8AC3E}">
        <p14:creationId xmlns:p14="http://schemas.microsoft.com/office/powerpoint/2010/main" val="2805777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090" y="908050"/>
            <a:ext cx="946785" cy="756920"/>
          </a:xfrm>
          <a:prstGeom prst="rect">
            <a:avLst/>
          </a:prstGeom>
        </p:spPr>
        <p:txBody>
          <a:bodyPr vert="horz" wrap="square" lIns="0" tIns="12700" rIns="0" bIns="0" rtlCol="0">
            <a:spAutoFit/>
          </a:bodyPr>
          <a:lstStyle/>
          <a:p>
            <a:pPr marL="12700">
              <a:lnSpc>
                <a:spcPct val="100000"/>
              </a:lnSpc>
              <a:spcBef>
                <a:spcPts val="100"/>
              </a:spcBef>
            </a:pPr>
            <a:r>
              <a:rPr spc="-270" dirty="0"/>
              <a:t>E</a:t>
            </a:r>
            <a:r>
              <a:rPr spc="-285" dirty="0"/>
              <a:t>R</a:t>
            </a:r>
            <a:r>
              <a:rPr spc="-240" dirty="0"/>
              <a:t>P</a:t>
            </a:r>
          </a:p>
        </p:txBody>
      </p:sp>
      <p:sp>
        <p:nvSpPr>
          <p:cNvPr id="3" name="object 3"/>
          <p:cNvSpPr txBox="1"/>
          <p:nvPr/>
        </p:nvSpPr>
        <p:spPr>
          <a:xfrm>
            <a:off x="457200" y="2133600"/>
            <a:ext cx="8382000" cy="2475678"/>
          </a:xfrm>
          <a:prstGeom prst="rect">
            <a:avLst/>
          </a:prstGeom>
        </p:spPr>
        <p:txBody>
          <a:bodyPr vert="horz" wrap="square" lIns="0" tIns="13335" rIns="0" bIns="0" rtlCol="0">
            <a:spAutoFit/>
          </a:bodyPr>
          <a:lstStyle/>
          <a:p>
            <a:pPr marL="12700">
              <a:lnSpc>
                <a:spcPct val="100000"/>
              </a:lnSpc>
              <a:spcBef>
                <a:spcPts val="105"/>
              </a:spcBef>
            </a:pPr>
            <a:r>
              <a:rPr lang="en-US" sz="3200" spc="-5" dirty="0">
                <a:solidFill>
                  <a:srgbClr val="404040"/>
                </a:solidFill>
                <a:latin typeface="Carlito"/>
                <a:cs typeface="Carlito"/>
              </a:rPr>
              <a:t>ERP stands for Enterprise Resource Planning and refers to software and systems used to plan and manage all the core supply chain, manufacturing, services, financial and other processes of an organization.</a:t>
            </a:r>
            <a:endParaRPr lang="en-US" sz="3200" dirty="0">
              <a:latin typeface="Carlito"/>
              <a:cs typeface="Carli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91946" y="1711299"/>
            <a:ext cx="7489190" cy="878840"/>
          </a:xfrm>
          <a:prstGeom prst="rect">
            <a:avLst/>
          </a:prstGeom>
        </p:spPr>
        <p:txBody>
          <a:bodyPr vert="horz" wrap="square" lIns="0" tIns="134620" rIns="0" bIns="0" rtlCol="0">
            <a:spAutoFit/>
          </a:bodyPr>
          <a:lstStyle/>
          <a:p>
            <a:pPr marL="12700">
              <a:lnSpc>
                <a:spcPct val="100000"/>
              </a:lnSpc>
              <a:spcBef>
                <a:spcPts val="1060"/>
              </a:spcBef>
            </a:pPr>
            <a:r>
              <a:rPr sz="2000" b="1" u="heavy" spc="-5" dirty="0">
                <a:solidFill>
                  <a:srgbClr val="404040"/>
                </a:solidFill>
                <a:uFill>
                  <a:solidFill>
                    <a:srgbClr val="404040"/>
                  </a:solidFill>
                </a:uFill>
                <a:latin typeface="Carlito"/>
                <a:cs typeface="Carlito"/>
              </a:rPr>
              <a:t>Management Information</a:t>
            </a:r>
            <a:r>
              <a:rPr sz="2000" b="1" u="heavy" spc="-25" dirty="0">
                <a:solidFill>
                  <a:srgbClr val="404040"/>
                </a:solidFill>
                <a:uFill>
                  <a:solidFill>
                    <a:srgbClr val="404040"/>
                  </a:solidFill>
                </a:uFill>
                <a:latin typeface="Carlito"/>
                <a:cs typeface="Carlito"/>
              </a:rPr>
              <a:t> </a:t>
            </a:r>
            <a:r>
              <a:rPr sz="2000" b="1" u="heavy" spc="-15" dirty="0">
                <a:solidFill>
                  <a:srgbClr val="404040"/>
                </a:solidFill>
                <a:uFill>
                  <a:solidFill>
                    <a:srgbClr val="404040"/>
                  </a:solidFill>
                </a:uFill>
                <a:latin typeface="Carlito"/>
                <a:cs typeface="Carlito"/>
              </a:rPr>
              <a:t>System</a:t>
            </a:r>
            <a:r>
              <a:rPr sz="2000" b="1" spc="-15" dirty="0">
                <a:solidFill>
                  <a:srgbClr val="404040"/>
                </a:solidFill>
                <a:latin typeface="Carlito"/>
                <a:cs typeface="Carlito"/>
              </a:rPr>
              <a:t>:</a:t>
            </a:r>
            <a:endParaRPr sz="2000" dirty="0">
              <a:latin typeface="Carlito"/>
              <a:cs typeface="Carlito"/>
            </a:endParaRPr>
          </a:p>
          <a:p>
            <a:pPr marL="844550">
              <a:lnSpc>
                <a:spcPct val="100000"/>
              </a:lnSpc>
              <a:spcBef>
                <a:spcPts val="960"/>
              </a:spcBef>
              <a:tabLst>
                <a:tab pos="4502785" algn="l"/>
                <a:tab pos="5985510" algn="l"/>
                <a:tab pos="6466205" algn="l"/>
              </a:tabLst>
            </a:pPr>
            <a:r>
              <a:rPr sz="2000" dirty="0">
                <a:solidFill>
                  <a:srgbClr val="404040"/>
                </a:solidFill>
                <a:latin typeface="Carlito"/>
                <a:cs typeface="Carlito"/>
              </a:rPr>
              <a:t>A</a:t>
            </a:r>
            <a:r>
              <a:rPr sz="2000" spc="-5" dirty="0">
                <a:solidFill>
                  <a:srgbClr val="404040"/>
                </a:solidFill>
                <a:latin typeface="Carlito"/>
                <a:cs typeface="Carlito"/>
              </a:rPr>
              <a:t> </a:t>
            </a:r>
            <a:r>
              <a:rPr sz="2000" spc="-45" dirty="0">
                <a:solidFill>
                  <a:srgbClr val="404040"/>
                </a:solidFill>
                <a:latin typeface="Carlito"/>
                <a:cs typeface="Carlito"/>
              </a:rPr>
              <a:t>s</a:t>
            </a:r>
            <a:r>
              <a:rPr sz="2000" spc="-20" dirty="0">
                <a:solidFill>
                  <a:srgbClr val="404040"/>
                </a:solidFill>
                <a:latin typeface="Carlito"/>
                <a:cs typeface="Carlito"/>
              </a:rPr>
              <a:t>y</a:t>
            </a:r>
            <a:r>
              <a:rPr sz="2000" spc="-30" dirty="0">
                <a:solidFill>
                  <a:srgbClr val="404040"/>
                </a:solidFill>
                <a:latin typeface="Carlito"/>
                <a:cs typeface="Carlito"/>
              </a:rPr>
              <a:t>s</a:t>
            </a:r>
            <a:r>
              <a:rPr sz="2000" spc="-25" dirty="0">
                <a:solidFill>
                  <a:srgbClr val="404040"/>
                </a:solidFill>
                <a:latin typeface="Carlito"/>
                <a:cs typeface="Carlito"/>
              </a:rPr>
              <a:t>t</a:t>
            </a:r>
            <a:r>
              <a:rPr sz="2000" dirty="0">
                <a:solidFill>
                  <a:srgbClr val="404040"/>
                </a:solidFill>
                <a:latin typeface="Carlito"/>
                <a:cs typeface="Carlito"/>
              </a:rPr>
              <a:t>em</a:t>
            </a:r>
            <a:r>
              <a:rPr sz="2000" spc="20" dirty="0">
                <a:solidFill>
                  <a:srgbClr val="404040"/>
                </a:solidFill>
                <a:latin typeface="Carlito"/>
                <a:cs typeface="Carlito"/>
              </a:rPr>
              <a:t> </a:t>
            </a:r>
            <a:r>
              <a:rPr sz="2000" spc="-5" dirty="0">
                <a:solidFill>
                  <a:srgbClr val="404040"/>
                </a:solidFill>
                <a:latin typeface="Carlito"/>
                <a:cs typeface="Carlito"/>
              </a:rPr>
              <a:t>use</a:t>
            </a:r>
            <a:r>
              <a:rPr sz="2000" dirty="0">
                <a:solidFill>
                  <a:srgbClr val="404040"/>
                </a:solidFill>
                <a:latin typeface="Carlito"/>
                <a:cs typeface="Carlito"/>
              </a:rPr>
              <a:t>d</a:t>
            </a:r>
            <a:r>
              <a:rPr sz="2000" spc="-5" dirty="0">
                <a:solidFill>
                  <a:srgbClr val="404040"/>
                </a:solidFill>
                <a:latin typeface="Carlito"/>
                <a:cs typeface="Carlito"/>
              </a:rPr>
              <a:t> </a:t>
            </a:r>
            <a:r>
              <a:rPr sz="2000" spc="-25" dirty="0">
                <a:solidFill>
                  <a:srgbClr val="404040"/>
                </a:solidFill>
                <a:latin typeface="Carlito"/>
                <a:cs typeface="Carlito"/>
              </a:rPr>
              <a:t>t</a:t>
            </a:r>
            <a:r>
              <a:rPr sz="2000" dirty="0">
                <a:solidFill>
                  <a:srgbClr val="404040"/>
                </a:solidFill>
                <a:latin typeface="Carlito"/>
                <a:cs typeface="Carlito"/>
              </a:rPr>
              <a:t>o </a:t>
            </a:r>
            <a:r>
              <a:rPr sz="2000" spc="-5" dirty="0">
                <a:solidFill>
                  <a:srgbClr val="404040"/>
                </a:solidFill>
                <a:latin typeface="Carlito"/>
                <a:cs typeface="Carlito"/>
              </a:rPr>
              <a:t>p</a:t>
            </a:r>
            <a:r>
              <a:rPr sz="2000" spc="-40" dirty="0">
                <a:solidFill>
                  <a:srgbClr val="404040"/>
                </a:solidFill>
                <a:latin typeface="Carlito"/>
                <a:cs typeface="Carlito"/>
              </a:rPr>
              <a:t>r</a:t>
            </a:r>
            <a:r>
              <a:rPr sz="2000" spc="-15" dirty="0">
                <a:solidFill>
                  <a:srgbClr val="404040"/>
                </a:solidFill>
                <a:latin typeface="Carlito"/>
                <a:cs typeface="Carlito"/>
              </a:rPr>
              <a:t>o</a:t>
            </a:r>
            <a:r>
              <a:rPr sz="2000" dirty="0">
                <a:solidFill>
                  <a:srgbClr val="404040"/>
                </a:solidFill>
                <a:latin typeface="Carlito"/>
                <a:cs typeface="Carlito"/>
              </a:rPr>
              <a:t>v</a:t>
            </a:r>
            <a:r>
              <a:rPr sz="2000" spc="-10" dirty="0">
                <a:solidFill>
                  <a:srgbClr val="404040"/>
                </a:solidFill>
                <a:latin typeface="Carlito"/>
                <a:cs typeface="Carlito"/>
              </a:rPr>
              <a:t>i</a:t>
            </a:r>
            <a:r>
              <a:rPr sz="2000" spc="-5" dirty="0">
                <a:solidFill>
                  <a:srgbClr val="404040"/>
                </a:solidFill>
                <a:latin typeface="Carlito"/>
                <a:cs typeface="Carlito"/>
              </a:rPr>
              <a:t>d</a:t>
            </a:r>
            <a:r>
              <a:rPr sz="2000" dirty="0">
                <a:solidFill>
                  <a:srgbClr val="404040"/>
                </a:solidFill>
                <a:latin typeface="Carlito"/>
                <a:cs typeface="Carlito"/>
              </a:rPr>
              <a:t>e</a:t>
            </a:r>
            <a:r>
              <a:rPr sz="2000" spc="5" dirty="0">
                <a:solidFill>
                  <a:srgbClr val="404040"/>
                </a:solidFill>
                <a:latin typeface="Carlito"/>
                <a:cs typeface="Carlito"/>
              </a:rPr>
              <a:t> </a:t>
            </a:r>
            <a:r>
              <a:rPr sz="2000" spc="-40" dirty="0">
                <a:solidFill>
                  <a:srgbClr val="404040"/>
                </a:solidFill>
                <a:latin typeface="Carlito"/>
                <a:cs typeface="Carlito"/>
              </a:rPr>
              <a:t>r</a:t>
            </a:r>
            <a:r>
              <a:rPr sz="2000" spc="-5" dirty="0">
                <a:solidFill>
                  <a:srgbClr val="404040"/>
                </a:solidFill>
                <a:latin typeface="Carlito"/>
                <a:cs typeface="Carlito"/>
              </a:rPr>
              <a:t>outin</a:t>
            </a:r>
            <a:r>
              <a:rPr sz="2000" dirty="0">
                <a:solidFill>
                  <a:srgbClr val="404040"/>
                </a:solidFill>
                <a:latin typeface="Carlito"/>
                <a:cs typeface="Carlito"/>
              </a:rPr>
              <a:t>e	i</a:t>
            </a:r>
            <a:r>
              <a:rPr sz="2000" spc="-15" dirty="0">
                <a:solidFill>
                  <a:srgbClr val="404040"/>
                </a:solidFill>
                <a:latin typeface="Carlito"/>
                <a:cs typeface="Carlito"/>
              </a:rPr>
              <a:t>n</a:t>
            </a:r>
            <a:r>
              <a:rPr sz="2000" spc="-40" dirty="0">
                <a:solidFill>
                  <a:srgbClr val="404040"/>
                </a:solidFill>
                <a:latin typeface="Carlito"/>
                <a:cs typeface="Carlito"/>
              </a:rPr>
              <a:t>f</a:t>
            </a:r>
            <a:r>
              <a:rPr sz="2000" spc="-5" dirty="0">
                <a:solidFill>
                  <a:srgbClr val="404040"/>
                </a:solidFill>
                <a:latin typeface="Carlito"/>
                <a:cs typeface="Carlito"/>
              </a:rPr>
              <a:t>or</a:t>
            </a:r>
            <a:r>
              <a:rPr sz="2000" spc="-10" dirty="0">
                <a:solidFill>
                  <a:srgbClr val="404040"/>
                </a:solidFill>
                <a:latin typeface="Carlito"/>
                <a:cs typeface="Carlito"/>
              </a:rPr>
              <a:t>m</a:t>
            </a:r>
            <a:r>
              <a:rPr sz="2000" spc="-25" dirty="0">
                <a:solidFill>
                  <a:srgbClr val="404040"/>
                </a:solidFill>
                <a:latin typeface="Carlito"/>
                <a:cs typeface="Carlito"/>
              </a:rPr>
              <a:t>a</a:t>
            </a:r>
            <a:r>
              <a:rPr sz="2000" dirty="0">
                <a:solidFill>
                  <a:srgbClr val="404040"/>
                </a:solidFill>
                <a:latin typeface="Carlito"/>
                <a:cs typeface="Carlito"/>
              </a:rPr>
              <a:t>tion	</a:t>
            </a:r>
            <a:r>
              <a:rPr sz="2000" spc="-25" dirty="0">
                <a:solidFill>
                  <a:srgbClr val="404040"/>
                </a:solidFill>
                <a:latin typeface="Carlito"/>
                <a:cs typeface="Carlito"/>
              </a:rPr>
              <a:t>t</a:t>
            </a:r>
            <a:r>
              <a:rPr sz="2000" dirty="0">
                <a:solidFill>
                  <a:srgbClr val="404040"/>
                </a:solidFill>
                <a:latin typeface="Carlito"/>
                <a:cs typeface="Carlito"/>
              </a:rPr>
              <a:t>o	mana</a:t>
            </a:r>
            <a:r>
              <a:rPr sz="2000" spc="-10" dirty="0">
                <a:solidFill>
                  <a:srgbClr val="404040"/>
                </a:solidFill>
                <a:latin typeface="Carlito"/>
                <a:cs typeface="Carlito"/>
              </a:rPr>
              <a:t>g</a:t>
            </a:r>
            <a:r>
              <a:rPr sz="2000" dirty="0">
                <a:solidFill>
                  <a:srgbClr val="404040"/>
                </a:solidFill>
                <a:latin typeface="Carlito"/>
                <a:cs typeface="Carlito"/>
              </a:rPr>
              <a:t>e</a:t>
            </a:r>
            <a:r>
              <a:rPr sz="2000" spc="-45" dirty="0">
                <a:solidFill>
                  <a:srgbClr val="404040"/>
                </a:solidFill>
                <a:latin typeface="Carlito"/>
                <a:cs typeface="Carlito"/>
              </a:rPr>
              <a:t>r</a:t>
            </a:r>
            <a:r>
              <a:rPr sz="2000" dirty="0">
                <a:solidFill>
                  <a:srgbClr val="404040"/>
                </a:solidFill>
                <a:latin typeface="Carlito"/>
                <a:cs typeface="Carlito"/>
              </a:rPr>
              <a:t>s</a:t>
            </a:r>
            <a:endParaRPr sz="2000" dirty="0">
              <a:latin typeface="Carlito"/>
              <a:cs typeface="Carlito"/>
            </a:endParaRPr>
          </a:p>
        </p:txBody>
      </p:sp>
      <p:sp>
        <p:nvSpPr>
          <p:cNvPr id="3" name="object 3"/>
          <p:cNvSpPr txBox="1"/>
          <p:nvPr/>
        </p:nvSpPr>
        <p:spPr>
          <a:xfrm>
            <a:off x="1175715" y="2533650"/>
            <a:ext cx="6055995" cy="330835"/>
          </a:xfrm>
          <a:prstGeom prst="rect">
            <a:avLst/>
          </a:prstGeom>
        </p:spPr>
        <p:txBody>
          <a:bodyPr vert="horz" wrap="square" lIns="0" tIns="13335" rIns="0" bIns="0" rtlCol="0">
            <a:spAutoFit/>
          </a:bodyPr>
          <a:lstStyle/>
          <a:p>
            <a:pPr marL="12700">
              <a:lnSpc>
                <a:spcPct val="100000"/>
              </a:lnSpc>
              <a:spcBef>
                <a:spcPts val="105"/>
              </a:spcBef>
              <a:tabLst>
                <a:tab pos="1475105" algn="l"/>
                <a:tab pos="5133340" algn="l"/>
              </a:tabLst>
            </a:pPr>
            <a:r>
              <a:rPr sz="2000" dirty="0">
                <a:solidFill>
                  <a:srgbClr val="404040"/>
                </a:solidFill>
                <a:latin typeface="Carlito"/>
                <a:cs typeface="Carlito"/>
              </a:rPr>
              <a:t>and</a:t>
            </a:r>
            <a:r>
              <a:rPr sz="2000" spc="-5" dirty="0">
                <a:solidFill>
                  <a:srgbClr val="404040"/>
                </a:solidFill>
                <a:latin typeface="Carlito"/>
                <a:cs typeface="Carlito"/>
              </a:rPr>
              <a:t> de</a:t>
            </a:r>
            <a:r>
              <a:rPr sz="2000" dirty="0">
                <a:solidFill>
                  <a:srgbClr val="404040"/>
                </a:solidFill>
                <a:latin typeface="Carlito"/>
                <a:cs typeface="Carlito"/>
              </a:rPr>
              <a:t>ci</a:t>
            </a:r>
            <a:r>
              <a:rPr sz="2000" spc="-10" dirty="0">
                <a:solidFill>
                  <a:srgbClr val="404040"/>
                </a:solidFill>
                <a:latin typeface="Carlito"/>
                <a:cs typeface="Carlito"/>
              </a:rPr>
              <a:t>s</a:t>
            </a:r>
            <a:r>
              <a:rPr sz="2000" dirty="0">
                <a:solidFill>
                  <a:srgbClr val="404040"/>
                </a:solidFill>
                <a:latin typeface="Carlito"/>
                <a:cs typeface="Carlito"/>
              </a:rPr>
              <a:t>ion	ma</a:t>
            </a:r>
            <a:r>
              <a:rPr sz="2000" spc="-65" dirty="0">
                <a:solidFill>
                  <a:srgbClr val="404040"/>
                </a:solidFill>
                <a:latin typeface="Carlito"/>
                <a:cs typeface="Carlito"/>
              </a:rPr>
              <a:t>k</a:t>
            </a:r>
            <a:r>
              <a:rPr sz="2000" dirty="0">
                <a:solidFill>
                  <a:srgbClr val="404040"/>
                </a:solidFill>
                <a:latin typeface="Carlito"/>
                <a:cs typeface="Carlito"/>
              </a:rPr>
              <a:t>e</a:t>
            </a:r>
            <a:r>
              <a:rPr sz="2000" spc="-45" dirty="0">
                <a:solidFill>
                  <a:srgbClr val="404040"/>
                </a:solidFill>
                <a:latin typeface="Carlito"/>
                <a:cs typeface="Carlito"/>
              </a:rPr>
              <a:t>r</a:t>
            </a:r>
            <a:r>
              <a:rPr sz="2000" spc="-5" dirty="0">
                <a:solidFill>
                  <a:srgbClr val="404040"/>
                </a:solidFill>
                <a:latin typeface="Carlito"/>
                <a:cs typeface="Carlito"/>
              </a:rPr>
              <a:t>s</a:t>
            </a:r>
            <a:r>
              <a:rPr sz="2000" dirty="0">
                <a:solidFill>
                  <a:srgbClr val="404040"/>
                </a:solidFill>
                <a:latin typeface="Carlito"/>
                <a:cs typeface="Carlito"/>
              </a:rPr>
              <a:t>.</a:t>
            </a:r>
            <a:r>
              <a:rPr sz="2000" spc="10" dirty="0">
                <a:solidFill>
                  <a:srgbClr val="404040"/>
                </a:solidFill>
                <a:latin typeface="Carlito"/>
                <a:cs typeface="Carlito"/>
              </a:rPr>
              <a:t> </a:t>
            </a:r>
            <a:r>
              <a:rPr sz="2000" dirty="0">
                <a:solidFill>
                  <a:srgbClr val="FF0000"/>
                </a:solidFill>
                <a:latin typeface="Carlito"/>
                <a:cs typeface="Carlito"/>
              </a:rPr>
              <a:t>MISs</a:t>
            </a:r>
            <a:r>
              <a:rPr sz="2000" spc="-10" dirty="0">
                <a:solidFill>
                  <a:srgbClr val="FF0000"/>
                </a:solidFill>
                <a:latin typeface="Carlito"/>
                <a:cs typeface="Carlito"/>
              </a:rPr>
              <a:t> </a:t>
            </a:r>
            <a:r>
              <a:rPr sz="2000" dirty="0">
                <a:solidFill>
                  <a:srgbClr val="FF0000"/>
                </a:solidFill>
                <a:latin typeface="Carlito"/>
                <a:cs typeface="Carlito"/>
              </a:rPr>
              <a:t>ty</a:t>
            </a:r>
            <a:r>
              <a:rPr sz="2000" spc="5" dirty="0">
                <a:solidFill>
                  <a:srgbClr val="FF0000"/>
                </a:solidFill>
                <a:latin typeface="Carlito"/>
                <a:cs typeface="Carlito"/>
              </a:rPr>
              <a:t>p</a:t>
            </a:r>
            <a:r>
              <a:rPr sz="2000" dirty="0">
                <a:solidFill>
                  <a:srgbClr val="FF0000"/>
                </a:solidFill>
                <a:latin typeface="Carlito"/>
                <a:cs typeface="Carlito"/>
              </a:rPr>
              <a:t>i</a:t>
            </a:r>
            <a:r>
              <a:rPr sz="2000" spc="-15" dirty="0">
                <a:solidFill>
                  <a:srgbClr val="FF0000"/>
                </a:solidFill>
                <a:latin typeface="Carlito"/>
                <a:cs typeface="Carlito"/>
              </a:rPr>
              <a:t>c</a:t>
            </a:r>
            <a:r>
              <a:rPr sz="2000" dirty="0">
                <a:solidFill>
                  <a:srgbClr val="FF0000"/>
                </a:solidFill>
                <a:latin typeface="Carlito"/>
                <a:cs typeface="Carlito"/>
              </a:rPr>
              <a:t>al</a:t>
            </a:r>
            <a:r>
              <a:rPr sz="2000" spc="-10" dirty="0">
                <a:solidFill>
                  <a:srgbClr val="FF0000"/>
                </a:solidFill>
                <a:latin typeface="Carlito"/>
                <a:cs typeface="Carlito"/>
              </a:rPr>
              <a:t>l</a:t>
            </a:r>
            <a:r>
              <a:rPr sz="2000" dirty="0">
                <a:solidFill>
                  <a:srgbClr val="FF0000"/>
                </a:solidFill>
                <a:latin typeface="Carlito"/>
                <a:cs typeface="Carlito"/>
              </a:rPr>
              <a:t>y </a:t>
            </a:r>
            <a:r>
              <a:rPr sz="2000" spc="-5" dirty="0">
                <a:solidFill>
                  <a:srgbClr val="FF0000"/>
                </a:solidFill>
                <a:latin typeface="Carlito"/>
                <a:cs typeface="Carlito"/>
              </a:rPr>
              <a:t>p</a:t>
            </a:r>
            <a:r>
              <a:rPr sz="2000" spc="-40" dirty="0">
                <a:solidFill>
                  <a:srgbClr val="FF0000"/>
                </a:solidFill>
                <a:latin typeface="Carlito"/>
                <a:cs typeface="Carlito"/>
              </a:rPr>
              <a:t>r</a:t>
            </a:r>
            <a:r>
              <a:rPr sz="2000" spc="-15" dirty="0">
                <a:solidFill>
                  <a:srgbClr val="FF0000"/>
                </a:solidFill>
                <a:latin typeface="Carlito"/>
                <a:cs typeface="Carlito"/>
              </a:rPr>
              <a:t>o</a:t>
            </a:r>
            <a:r>
              <a:rPr sz="2000" dirty="0">
                <a:solidFill>
                  <a:srgbClr val="FF0000"/>
                </a:solidFill>
                <a:latin typeface="Carlito"/>
                <a:cs typeface="Carlito"/>
              </a:rPr>
              <a:t>v</a:t>
            </a:r>
            <a:r>
              <a:rPr sz="2000" spc="-10" dirty="0">
                <a:solidFill>
                  <a:srgbClr val="FF0000"/>
                </a:solidFill>
                <a:latin typeface="Carlito"/>
                <a:cs typeface="Carlito"/>
              </a:rPr>
              <a:t>i</a:t>
            </a:r>
            <a:r>
              <a:rPr sz="2000" spc="-5" dirty="0">
                <a:solidFill>
                  <a:srgbClr val="FF0000"/>
                </a:solidFill>
                <a:latin typeface="Carlito"/>
                <a:cs typeface="Carlito"/>
              </a:rPr>
              <a:t>d</a:t>
            </a:r>
            <a:r>
              <a:rPr sz="2000" dirty="0">
                <a:solidFill>
                  <a:srgbClr val="FF0000"/>
                </a:solidFill>
                <a:latin typeface="Carlito"/>
                <a:cs typeface="Carlito"/>
              </a:rPr>
              <a:t>e</a:t>
            </a:r>
            <a:r>
              <a:rPr lang="en-US" sz="2000" dirty="0">
                <a:solidFill>
                  <a:srgbClr val="FF0000"/>
                </a:solidFill>
                <a:latin typeface="Carlito"/>
                <a:cs typeface="Carlito"/>
              </a:rPr>
              <a:t> </a:t>
            </a:r>
            <a:r>
              <a:rPr sz="2000" spc="-30" dirty="0">
                <a:solidFill>
                  <a:srgbClr val="FF0000"/>
                </a:solidFill>
                <a:latin typeface="Carlito"/>
                <a:cs typeface="Carlito"/>
              </a:rPr>
              <a:t>s</a:t>
            </a:r>
            <a:r>
              <a:rPr sz="2000" spc="-25" dirty="0">
                <a:solidFill>
                  <a:srgbClr val="FF0000"/>
                </a:solidFill>
                <a:latin typeface="Carlito"/>
                <a:cs typeface="Carlito"/>
              </a:rPr>
              <a:t>t</a:t>
            </a:r>
            <a:r>
              <a:rPr sz="2000" dirty="0">
                <a:solidFill>
                  <a:srgbClr val="FF0000"/>
                </a:solidFill>
                <a:latin typeface="Carlito"/>
                <a:cs typeface="Carlito"/>
              </a:rPr>
              <a:t>an</a:t>
            </a:r>
            <a:r>
              <a:rPr sz="2000" spc="5" dirty="0">
                <a:solidFill>
                  <a:srgbClr val="FF0000"/>
                </a:solidFill>
                <a:latin typeface="Carlito"/>
                <a:cs typeface="Carlito"/>
              </a:rPr>
              <a:t>d</a:t>
            </a:r>
            <a:r>
              <a:rPr sz="2000" dirty="0">
                <a:solidFill>
                  <a:srgbClr val="FF0000"/>
                </a:solidFill>
                <a:latin typeface="Carlito"/>
                <a:cs typeface="Carlito"/>
              </a:rPr>
              <a:t>a</a:t>
            </a:r>
            <a:r>
              <a:rPr sz="2000" spc="-30" dirty="0">
                <a:solidFill>
                  <a:srgbClr val="FF0000"/>
                </a:solidFill>
                <a:latin typeface="Carlito"/>
                <a:cs typeface="Carlito"/>
              </a:rPr>
              <a:t>r</a:t>
            </a:r>
            <a:r>
              <a:rPr sz="2000" dirty="0">
                <a:solidFill>
                  <a:srgbClr val="FF0000"/>
                </a:solidFill>
                <a:latin typeface="Carlito"/>
                <a:cs typeface="Carlito"/>
              </a:rPr>
              <a:t>d</a:t>
            </a:r>
            <a:endParaRPr sz="2000" dirty="0">
              <a:latin typeface="Carlito"/>
              <a:cs typeface="Carlito"/>
            </a:endParaRPr>
          </a:p>
        </p:txBody>
      </p:sp>
      <p:sp>
        <p:nvSpPr>
          <p:cNvPr id="4" name="object 4"/>
          <p:cNvSpPr txBox="1"/>
          <p:nvPr/>
        </p:nvSpPr>
        <p:spPr>
          <a:xfrm>
            <a:off x="6785343" y="2505573"/>
            <a:ext cx="779780" cy="330835"/>
          </a:xfrm>
          <a:prstGeom prst="rect">
            <a:avLst/>
          </a:prstGeom>
        </p:spPr>
        <p:txBody>
          <a:bodyPr vert="horz" wrap="square" lIns="0" tIns="13335" rIns="0" bIns="0" rtlCol="0">
            <a:spAutoFit/>
          </a:bodyPr>
          <a:lstStyle/>
          <a:p>
            <a:pPr marL="12700">
              <a:lnSpc>
                <a:spcPct val="100000"/>
              </a:lnSpc>
              <a:spcBef>
                <a:spcPts val="105"/>
              </a:spcBef>
            </a:pPr>
            <a:r>
              <a:rPr sz="2000" spc="-30" dirty="0">
                <a:solidFill>
                  <a:srgbClr val="FF0000"/>
                </a:solidFill>
                <a:latin typeface="Carlito"/>
                <a:cs typeface="Carlito"/>
              </a:rPr>
              <a:t>r</a:t>
            </a:r>
            <a:r>
              <a:rPr sz="2000" dirty="0">
                <a:solidFill>
                  <a:srgbClr val="FF0000"/>
                </a:solidFill>
                <a:latin typeface="Carlito"/>
                <a:cs typeface="Carlito"/>
              </a:rPr>
              <a:t>eports</a:t>
            </a:r>
            <a:endParaRPr sz="2000" dirty="0">
              <a:latin typeface="Carlito"/>
              <a:cs typeface="Carlito"/>
            </a:endParaRPr>
          </a:p>
        </p:txBody>
      </p:sp>
      <p:sp>
        <p:nvSpPr>
          <p:cNvPr id="5" name="object 5"/>
          <p:cNvSpPr txBox="1"/>
          <p:nvPr/>
        </p:nvSpPr>
        <p:spPr>
          <a:xfrm>
            <a:off x="891946" y="2807970"/>
            <a:ext cx="7006590" cy="1611630"/>
          </a:xfrm>
          <a:prstGeom prst="rect">
            <a:avLst/>
          </a:prstGeom>
        </p:spPr>
        <p:txBody>
          <a:bodyPr vert="horz" wrap="square" lIns="0" tIns="13335" rIns="0" bIns="0" rtlCol="0">
            <a:spAutoFit/>
          </a:bodyPr>
          <a:lstStyle/>
          <a:p>
            <a:pPr marL="295910">
              <a:lnSpc>
                <a:spcPct val="100000"/>
              </a:lnSpc>
              <a:spcBef>
                <a:spcPts val="105"/>
              </a:spcBef>
              <a:tabLst>
                <a:tab pos="2673985" algn="l"/>
              </a:tabLst>
            </a:pPr>
            <a:r>
              <a:rPr sz="2000" spc="-10" dirty="0">
                <a:solidFill>
                  <a:srgbClr val="FF0000"/>
                </a:solidFill>
                <a:latin typeface="Carlito"/>
                <a:cs typeface="Carlito"/>
              </a:rPr>
              <a:t>generated</a:t>
            </a:r>
            <a:r>
              <a:rPr sz="2000" spc="-5" dirty="0">
                <a:solidFill>
                  <a:srgbClr val="FF0000"/>
                </a:solidFill>
                <a:latin typeface="Carlito"/>
                <a:cs typeface="Carlito"/>
              </a:rPr>
              <a:t> with</a:t>
            </a:r>
            <a:r>
              <a:rPr sz="2000" spc="15" dirty="0">
                <a:solidFill>
                  <a:srgbClr val="FF0000"/>
                </a:solidFill>
                <a:latin typeface="Carlito"/>
                <a:cs typeface="Carlito"/>
              </a:rPr>
              <a:t> </a:t>
            </a:r>
            <a:r>
              <a:rPr sz="2000" spc="-15" dirty="0">
                <a:solidFill>
                  <a:srgbClr val="FF0000"/>
                </a:solidFill>
                <a:latin typeface="Carlito"/>
                <a:cs typeface="Carlito"/>
              </a:rPr>
              <a:t>data</a:t>
            </a:r>
            <a:r>
              <a:rPr lang="en-US" sz="2000" spc="-15" dirty="0">
                <a:solidFill>
                  <a:srgbClr val="FF0000"/>
                </a:solidFill>
                <a:latin typeface="Carlito"/>
                <a:cs typeface="Carlito"/>
              </a:rPr>
              <a:t> </a:t>
            </a:r>
            <a:r>
              <a:rPr sz="2000" dirty="0">
                <a:solidFill>
                  <a:srgbClr val="FF0000"/>
                </a:solidFill>
                <a:latin typeface="Carlito"/>
                <a:cs typeface="Carlito"/>
              </a:rPr>
              <a:t>and </a:t>
            </a:r>
            <a:r>
              <a:rPr sz="2000" spc="-10" dirty="0">
                <a:solidFill>
                  <a:srgbClr val="FF0000"/>
                </a:solidFill>
                <a:latin typeface="Carlito"/>
                <a:cs typeface="Carlito"/>
              </a:rPr>
              <a:t>information </a:t>
            </a:r>
            <a:r>
              <a:rPr sz="2000" spc="-15" dirty="0">
                <a:solidFill>
                  <a:srgbClr val="FF0000"/>
                </a:solidFill>
                <a:latin typeface="Carlito"/>
                <a:cs typeface="Carlito"/>
              </a:rPr>
              <a:t>from </a:t>
            </a:r>
            <a:r>
              <a:rPr sz="2000" dirty="0">
                <a:solidFill>
                  <a:srgbClr val="FF0000"/>
                </a:solidFill>
                <a:latin typeface="Carlito"/>
                <a:cs typeface="Carlito"/>
              </a:rPr>
              <a:t>the </a:t>
            </a:r>
            <a:r>
              <a:rPr sz="2000" spc="-5" dirty="0">
                <a:solidFill>
                  <a:srgbClr val="FF0000"/>
                </a:solidFill>
                <a:latin typeface="Carlito"/>
                <a:cs typeface="Carlito"/>
              </a:rPr>
              <a:t>TPS or</a:t>
            </a:r>
            <a:r>
              <a:rPr sz="2000" spc="10" dirty="0">
                <a:solidFill>
                  <a:srgbClr val="FF0000"/>
                </a:solidFill>
                <a:latin typeface="Carlito"/>
                <a:cs typeface="Carlito"/>
              </a:rPr>
              <a:t> </a:t>
            </a:r>
            <a:r>
              <a:rPr sz="2000" dirty="0">
                <a:solidFill>
                  <a:srgbClr val="FF0000"/>
                </a:solidFill>
                <a:latin typeface="Carlito"/>
                <a:cs typeface="Carlito"/>
              </a:rPr>
              <a:t>ERP</a:t>
            </a:r>
            <a:endParaRPr sz="2000" dirty="0">
              <a:latin typeface="Carlito"/>
              <a:cs typeface="Carlito"/>
            </a:endParaRPr>
          </a:p>
          <a:p>
            <a:pPr>
              <a:lnSpc>
                <a:spcPct val="100000"/>
              </a:lnSpc>
            </a:pPr>
            <a:endParaRPr sz="2000" dirty="0">
              <a:latin typeface="Carlito"/>
              <a:cs typeface="Carlito"/>
            </a:endParaRPr>
          </a:p>
          <a:p>
            <a:pPr>
              <a:lnSpc>
                <a:spcPct val="100000"/>
              </a:lnSpc>
              <a:spcBef>
                <a:spcPts val="45"/>
              </a:spcBef>
            </a:pPr>
            <a:endParaRPr sz="1500" dirty="0">
              <a:latin typeface="Carlito"/>
              <a:cs typeface="Carlito"/>
            </a:endParaRPr>
          </a:p>
          <a:p>
            <a:pPr marL="12700">
              <a:lnSpc>
                <a:spcPct val="100000"/>
              </a:lnSpc>
            </a:pPr>
            <a:r>
              <a:rPr sz="2000" b="1" u="heavy" spc="-5" dirty="0">
                <a:solidFill>
                  <a:srgbClr val="404040"/>
                </a:solidFill>
                <a:uFill>
                  <a:solidFill>
                    <a:srgbClr val="404040"/>
                  </a:solidFill>
                </a:uFill>
                <a:latin typeface="Carlito"/>
                <a:cs typeface="Carlito"/>
              </a:rPr>
              <a:t>Decision </a:t>
            </a:r>
            <a:r>
              <a:rPr sz="2000" b="1" u="heavy" dirty="0">
                <a:solidFill>
                  <a:srgbClr val="404040"/>
                </a:solidFill>
                <a:uFill>
                  <a:solidFill>
                    <a:srgbClr val="404040"/>
                  </a:solidFill>
                </a:uFill>
                <a:latin typeface="Carlito"/>
                <a:cs typeface="Carlito"/>
              </a:rPr>
              <a:t>Support</a:t>
            </a:r>
            <a:r>
              <a:rPr sz="2000" b="1" u="heavy" spc="-35" dirty="0">
                <a:solidFill>
                  <a:srgbClr val="404040"/>
                </a:solidFill>
                <a:uFill>
                  <a:solidFill>
                    <a:srgbClr val="404040"/>
                  </a:solidFill>
                </a:uFill>
                <a:latin typeface="Carlito"/>
                <a:cs typeface="Carlito"/>
              </a:rPr>
              <a:t> </a:t>
            </a:r>
            <a:r>
              <a:rPr sz="2000" b="1" u="heavy" spc="-10" dirty="0">
                <a:solidFill>
                  <a:srgbClr val="404040"/>
                </a:solidFill>
                <a:uFill>
                  <a:solidFill>
                    <a:srgbClr val="404040"/>
                  </a:solidFill>
                </a:uFill>
                <a:latin typeface="Carlito"/>
                <a:cs typeface="Carlito"/>
              </a:rPr>
              <a:t>System</a:t>
            </a:r>
            <a:r>
              <a:rPr sz="2000" spc="-10" dirty="0">
                <a:solidFill>
                  <a:srgbClr val="404040"/>
                </a:solidFill>
                <a:latin typeface="Carlito"/>
                <a:cs typeface="Carlito"/>
              </a:rPr>
              <a:t>:</a:t>
            </a:r>
            <a:endParaRPr sz="2000" dirty="0">
              <a:latin typeface="Carlito"/>
              <a:cs typeface="Carlito"/>
            </a:endParaRPr>
          </a:p>
          <a:p>
            <a:pPr marL="844550">
              <a:lnSpc>
                <a:spcPct val="100000"/>
              </a:lnSpc>
              <a:spcBef>
                <a:spcPts val="960"/>
              </a:spcBef>
            </a:pPr>
            <a:r>
              <a:rPr sz="2000" dirty="0">
                <a:solidFill>
                  <a:srgbClr val="404040"/>
                </a:solidFill>
                <a:latin typeface="Carlito"/>
                <a:cs typeface="Carlito"/>
              </a:rPr>
              <a:t>A </a:t>
            </a:r>
            <a:r>
              <a:rPr sz="2000" spc="-20" dirty="0">
                <a:solidFill>
                  <a:srgbClr val="404040"/>
                </a:solidFill>
                <a:latin typeface="Carlito"/>
                <a:cs typeface="Carlito"/>
              </a:rPr>
              <a:t>system </a:t>
            </a:r>
            <a:r>
              <a:rPr sz="2000" spc="-5" dirty="0">
                <a:solidFill>
                  <a:srgbClr val="404040"/>
                </a:solidFill>
                <a:latin typeface="Carlito"/>
                <a:cs typeface="Carlito"/>
              </a:rPr>
              <a:t>used </a:t>
            </a:r>
            <a:r>
              <a:rPr sz="2000" spc="-15" dirty="0">
                <a:solidFill>
                  <a:srgbClr val="404040"/>
                </a:solidFill>
                <a:latin typeface="Carlito"/>
                <a:cs typeface="Carlito"/>
              </a:rPr>
              <a:t>to </a:t>
            </a:r>
            <a:r>
              <a:rPr sz="2000" spc="-5" dirty="0">
                <a:solidFill>
                  <a:srgbClr val="404040"/>
                </a:solidFill>
                <a:latin typeface="Carlito"/>
                <a:cs typeface="Carlito"/>
              </a:rPr>
              <a:t>support problem- specific decision</a:t>
            </a:r>
            <a:r>
              <a:rPr sz="2000" spc="-85" dirty="0">
                <a:solidFill>
                  <a:srgbClr val="404040"/>
                </a:solidFill>
                <a:latin typeface="Carlito"/>
                <a:cs typeface="Carlito"/>
              </a:rPr>
              <a:t> </a:t>
            </a:r>
            <a:r>
              <a:rPr sz="2000" spc="-5" dirty="0">
                <a:solidFill>
                  <a:srgbClr val="404040"/>
                </a:solidFill>
                <a:latin typeface="Carlito"/>
                <a:cs typeface="Carlito"/>
              </a:rPr>
              <a:t>making</a:t>
            </a:r>
            <a:endParaRPr sz="2000" dirty="0">
              <a:latin typeface="Carlito"/>
              <a:cs typeface="Carli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37795">
              <a:lnSpc>
                <a:spcPct val="100000"/>
              </a:lnSpc>
              <a:spcBef>
                <a:spcPts val="95"/>
              </a:spcBef>
            </a:pPr>
            <a:r>
              <a:rPr spc="-15" dirty="0"/>
              <a:t>Remember!</a:t>
            </a:r>
          </a:p>
        </p:txBody>
      </p:sp>
      <p:sp>
        <p:nvSpPr>
          <p:cNvPr id="3" name="object 3"/>
          <p:cNvSpPr txBox="1"/>
          <p:nvPr/>
        </p:nvSpPr>
        <p:spPr>
          <a:xfrm>
            <a:off x="890422" y="3010357"/>
            <a:ext cx="7229475" cy="880110"/>
          </a:xfrm>
          <a:prstGeom prst="rect">
            <a:avLst/>
          </a:prstGeom>
        </p:spPr>
        <p:txBody>
          <a:bodyPr vert="horz" wrap="square" lIns="0" tIns="47625" rIns="0" bIns="0" rtlCol="0">
            <a:spAutoFit/>
          </a:bodyPr>
          <a:lstStyle/>
          <a:p>
            <a:pPr marL="12700" marR="5080">
              <a:lnSpc>
                <a:spcPts val="2160"/>
              </a:lnSpc>
              <a:spcBef>
                <a:spcPts val="375"/>
              </a:spcBef>
            </a:pPr>
            <a:r>
              <a:rPr sz="2000" spc="-5" dirty="0">
                <a:solidFill>
                  <a:srgbClr val="404040"/>
                </a:solidFill>
                <a:latin typeface="Carlito"/>
                <a:cs typeface="Carlito"/>
              </a:rPr>
              <a:t>The </a:t>
            </a:r>
            <a:r>
              <a:rPr sz="2000" spc="-10" dirty="0">
                <a:solidFill>
                  <a:srgbClr val="404040"/>
                </a:solidFill>
                <a:latin typeface="Carlito"/>
                <a:cs typeface="Carlito"/>
              </a:rPr>
              <a:t>focus </a:t>
            </a:r>
            <a:r>
              <a:rPr sz="2000" dirty="0">
                <a:solidFill>
                  <a:srgbClr val="404040"/>
                </a:solidFill>
                <a:latin typeface="Carlito"/>
                <a:cs typeface="Carlito"/>
              </a:rPr>
              <a:t>of a DSS is on </a:t>
            </a:r>
            <a:r>
              <a:rPr sz="2000" spc="-5" dirty="0">
                <a:solidFill>
                  <a:srgbClr val="FF0000"/>
                </a:solidFill>
                <a:latin typeface="Carlito"/>
                <a:cs typeface="Carlito"/>
              </a:rPr>
              <a:t>making </a:t>
            </a:r>
            <a:r>
              <a:rPr sz="2000" spc="-15" dirty="0">
                <a:solidFill>
                  <a:srgbClr val="FF0000"/>
                </a:solidFill>
                <a:latin typeface="Carlito"/>
                <a:cs typeface="Carlito"/>
              </a:rPr>
              <a:t>effective </a:t>
            </a:r>
            <a:r>
              <a:rPr sz="2000" spc="-5" dirty="0">
                <a:solidFill>
                  <a:srgbClr val="FF0000"/>
                </a:solidFill>
                <a:latin typeface="Carlito"/>
                <a:cs typeface="Carlito"/>
              </a:rPr>
              <a:t>decisions. </a:t>
            </a:r>
            <a:r>
              <a:rPr sz="2000" spc="-5" dirty="0">
                <a:solidFill>
                  <a:srgbClr val="404040"/>
                </a:solidFill>
                <a:latin typeface="Carlito"/>
                <a:cs typeface="Carlito"/>
              </a:rPr>
              <a:t>Whereas </a:t>
            </a:r>
            <a:r>
              <a:rPr sz="2000" dirty="0">
                <a:solidFill>
                  <a:srgbClr val="404040"/>
                </a:solidFill>
                <a:latin typeface="Carlito"/>
                <a:cs typeface="Carlito"/>
              </a:rPr>
              <a:t>an MIS  </a:t>
            </a:r>
            <a:r>
              <a:rPr sz="2000" spc="-5" dirty="0">
                <a:solidFill>
                  <a:srgbClr val="404040"/>
                </a:solidFill>
                <a:latin typeface="Carlito"/>
                <a:cs typeface="Carlito"/>
              </a:rPr>
              <a:t>helps </a:t>
            </a:r>
            <a:r>
              <a:rPr sz="2000" dirty="0">
                <a:solidFill>
                  <a:srgbClr val="404040"/>
                </a:solidFill>
                <a:latin typeface="Carlito"/>
                <a:cs typeface="Carlito"/>
              </a:rPr>
              <a:t>an </a:t>
            </a:r>
            <a:r>
              <a:rPr sz="2000" spc="-10" dirty="0">
                <a:solidFill>
                  <a:srgbClr val="404040"/>
                </a:solidFill>
                <a:latin typeface="Carlito"/>
                <a:cs typeface="Carlito"/>
              </a:rPr>
              <a:t>organization </a:t>
            </a:r>
            <a:r>
              <a:rPr sz="2000" spc="-30" dirty="0">
                <a:solidFill>
                  <a:srgbClr val="FF0000"/>
                </a:solidFill>
                <a:latin typeface="Carlito"/>
                <a:cs typeface="Carlito"/>
              </a:rPr>
              <a:t>“do </a:t>
            </a:r>
            <a:r>
              <a:rPr sz="2000" dirty="0">
                <a:solidFill>
                  <a:srgbClr val="FF0000"/>
                </a:solidFill>
                <a:latin typeface="Carlito"/>
                <a:cs typeface="Carlito"/>
              </a:rPr>
              <a:t>things </a:t>
            </a:r>
            <a:r>
              <a:rPr sz="2000" spc="-25" dirty="0">
                <a:solidFill>
                  <a:srgbClr val="FF0000"/>
                </a:solidFill>
                <a:latin typeface="Carlito"/>
                <a:cs typeface="Carlito"/>
              </a:rPr>
              <a:t>right</a:t>
            </a:r>
            <a:r>
              <a:rPr sz="2000" spc="-25" dirty="0">
                <a:solidFill>
                  <a:srgbClr val="404040"/>
                </a:solidFill>
                <a:latin typeface="Carlito"/>
                <a:cs typeface="Carlito"/>
              </a:rPr>
              <a:t>,” </a:t>
            </a:r>
            <a:r>
              <a:rPr sz="2000" dirty="0">
                <a:solidFill>
                  <a:srgbClr val="404040"/>
                </a:solidFill>
                <a:latin typeface="Carlito"/>
                <a:cs typeface="Carlito"/>
              </a:rPr>
              <a:t>a DSS </a:t>
            </a:r>
            <a:r>
              <a:rPr sz="2000" spc="-5" dirty="0">
                <a:solidFill>
                  <a:srgbClr val="404040"/>
                </a:solidFill>
                <a:latin typeface="Carlito"/>
                <a:cs typeface="Carlito"/>
              </a:rPr>
              <a:t>helps </a:t>
            </a:r>
            <a:r>
              <a:rPr sz="2000" dirty="0">
                <a:solidFill>
                  <a:srgbClr val="404040"/>
                </a:solidFill>
                <a:latin typeface="Carlito"/>
                <a:cs typeface="Carlito"/>
              </a:rPr>
              <a:t>a manager </a:t>
            </a:r>
            <a:r>
              <a:rPr sz="2000" spc="-35" dirty="0">
                <a:solidFill>
                  <a:srgbClr val="FF0000"/>
                </a:solidFill>
                <a:latin typeface="Carlito"/>
                <a:cs typeface="Carlito"/>
              </a:rPr>
              <a:t>“do </a:t>
            </a:r>
            <a:r>
              <a:rPr sz="2000" dirty="0">
                <a:solidFill>
                  <a:srgbClr val="FF0000"/>
                </a:solidFill>
                <a:latin typeface="Carlito"/>
                <a:cs typeface="Carlito"/>
              </a:rPr>
              <a:t>the  </a:t>
            </a:r>
            <a:r>
              <a:rPr sz="2000" spc="-5" dirty="0">
                <a:solidFill>
                  <a:srgbClr val="FF0000"/>
                </a:solidFill>
                <a:latin typeface="Carlito"/>
                <a:cs typeface="Carlito"/>
              </a:rPr>
              <a:t>right </a:t>
            </a:r>
            <a:r>
              <a:rPr sz="2000" spc="-15" dirty="0">
                <a:solidFill>
                  <a:srgbClr val="FF0000"/>
                </a:solidFill>
                <a:latin typeface="Carlito"/>
                <a:cs typeface="Carlito"/>
              </a:rPr>
              <a:t>thing”</a:t>
            </a:r>
            <a:r>
              <a:rPr sz="2000" spc="-15" dirty="0">
                <a:solidFill>
                  <a:srgbClr val="404040"/>
                </a:solidFill>
                <a:latin typeface="Carlito"/>
                <a:cs typeface="Carlito"/>
              </a:rPr>
              <a:t>.</a:t>
            </a:r>
            <a:endParaRPr sz="2000" dirty="0">
              <a:latin typeface="Carlito"/>
              <a:cs typeface="Carli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1090" y="908050"/>
            <a:ext cx="7336790" cy="756920"/>
          </a:xfrm>
          <a:prstGeom prst="rect">
            <a:avLst/>
          </a:prstGeom>
        </p:spPr>
        <p:txBody>
          <a:bodyPr vert="horz" wrap="square" lIns="0" tIns="12700" rIns="0" bIns="0" rtlCol="0">
            <a:spAutoFit/>
          </a:bodyPr>
          <a:lstStyle/>
          <a:p>
            <a:pPr marL="12700">
              <a:lnSpc>
                <a:spcPct val="100000"/>
              </a:lnSpc>
              <a:spcBef>
                <a:spcPts val="100"/>
              </a:spcBef>
            </a:pPr>
            <a:r>
              <a:rPr sz="4800" spc="-265" dirty="0">
                <a:solidFill>
                  <a:srgbClr val="63744E"/>
                </a:solidFill>
                <a:latin typeface="Trebuchet MS"/>
                <a:cs typeface="Trebuchet MS"/>
              </a:rPr>
              <a:t>Information Systems </a:t>
            </a:r>
            <a:r>
              <a:rPr sz="4800" spc="-250" dirty="0">
                <a:solidFill>
                  <a:srgbClr val="63744E"/>
                </a:solidFill>
                <a:latin typeface="Trebuchet MS"/>
                <a:cs typeface="Trebuchet MS"/>
              </a:rPr>
              <a:t>in</a:t>
            </a:r>
            <a:r>
              <a:rPr sz="4800" spc="-835" dirty="0">
                <a:solidFill>
                  <a:srgbClr val="63744E"/>
                </a:solidFill>
                <a:latin typeface="Trebuchet MS"/>
                <a:cs typeface="Trebuchet MS"/>
              </a:rPr>
              <a:t> </a:t>
            </a:r>
            <a:r>
              <a:rPr sz="4800" spc="-290" dirty="0">
                <a:solidFill>
                  <a:srgbClr val="63744E"/>
                </a:solidFill>
                <a:latin typeface="Trebuchet MS"/>
                <a:cs typeface="Trebuchet MS"/>
              </a:rPr>
              <a:t>Society</a:t>
            </a:r>
            <a:endParaRPr sz="4800">
              <a:latin typeface="Trebuchet MS"/>
              <a:cs typeface="Trebuchet MS"/>
            </a:endParaRPr>
          </a:p>
        </p:txBody>
      </p:sp>
      <p:sp>
        <p:nvSpPr>
          <p:cNvPr id="3" name="object 3"/>
          <p:cNvSpPr txBox="1"/>
          <p:nvPr/>
        </p:nvSpPr>
        <p:spPr>
          <a:xfrm>
            <a:off x="901090" y="2690317"/>
            <a:ext cx="7014845" cy="1732280"/>
          </a:xfrm>
          <a:prstGeom prst="rect">
            <a:avLst/>
          </a:prstGeom>
        </p:spPr>
        <p:txBody>
          <a:bodyPr vert="horz" wrap="square" lIns="0" tIns="81280" rIns="0" bIns="0" rtlCol="0">
            <a:spAutoFit/>
          </a:bodyPr>
          <a:lstStyle/>
          <a:p>
            <a:pPr marL="12700" marR="5080">
              <a:lnSpc>
                <a:spcPts val="4320"/>
              </a:lnSpc>
              <a:spcBef>
                <a:spcPts val="640"/>
              </a:spcBef>
            </a:pPr>
            <a:r>
              <a:rPr sz="4000" b="1" spc="-5" dirty="0">
                <a:solidFill>
                  <a:srgbClr val="0D0D0D"/>
                </a:solidFill>
                <a:latin typeface="Carlito"/>
                <a:cs typeface="Carlito"/>
              </a:rPr>
              <a:t>Security</a:t>
            </a:r>
            <a:r>
              <a:rPr sz="4000" spc="-5" dirty="0">
                <a:solidFill>
                  <a:srgbClr val="404040"/>
                </a:solidFill>
                <a:latin typeface="Carlito"/>
                <a:cs typeface="Carlito"/>
              </a:rPr>
              <a:t>, </a:t>
            </a:r>
            <a:r>
              <a:rPr sz="4000" b="1" spc="-15" dirty="0">
                <a:solidFill>
                  <a:srgbClr val="0D0D0D"/>
                </a:solidFill>
                <a:latin typeface="Carlito"/>
                <a:cs typeface="Carlito"/>
              </a:rPr>
              <a:t>Privacy</a:t>
            </a:r>
            <a:r>
              <a:rPr sz="4000" spc="-15" dirty="0">
                <a:solidFill>
                  <a:srgbClr val="404040"/>
                </a:solidFill>
                <a:latin typeface="Carlito"/>
                <a:cs typeface="Carlito"/>
              </a:rPr>
              <a:t>, </a:t>
            </a:r>
            <a:r>
              <a:rPr sz="4000" b="1" spc="-20" dirty="0">
                <a:solidFill>
                  <a:srgbClr val="0D0D0D"/>
                </a:solidFill>
                <a:latin typeface="Carlito"/>
                <a:cs typeface="Carlito"/>
              </a:rPr>
              <a:t>Ethical </a:t>
            </a:r>
            <a:r>
              <a:rPr sz="4000" b="1" spc="-5" dirty="0">
                <a:solidFill>
                  <a:srgbClr val="0D0D0D"/>
                </a:solidFill>
                <a:latin typeface="Carlito"/>
                <a:cs typeface="Carlito"/>
              </a:rPr>
              <a:t>Issues </a:t>
            </a:r>
            <a:r>
              <a:rPr sz="4000" spc="-5" dirty="0">
                <a:solidFill>
                  <a:srgbClr val="404040"/>
                </a:solidFill>
                <a:latin typeface="Carlito"/>
                <a:cs typeface="Carlito"/>
              </a:rPr>
              <a:t>in  </a:t>
            </a:r>
            <a:r>
              <a:rPr sz="4000" spc="-15" dirty="0">
                <a:solidFill>
                  <a:srgbClr val="404040"/>
                </a:solidFill>
                <a:latin typeface="Carlito"/>
                <a:cs typeface="Carlito"/>
              </a:rPr>
              <a:t>Information </a:t>
            </a:r>
            <a:r>
              <a:rPr sz="4000" spc="-30" dirty="0">
                <a:solidFill>
                  <a:srgbClr val="404040"/>
                </a:solidFill>
                <a:latin typeface="Carlito"/>
                <a:cs typeface="Carlito"/>
              </a:rPr>
              <a:t>Systems </a:t>
            </a:r>
            <a:r>
              <a:rPr sz="4000" spc="-5" dirty="0">
                <a:solidFill>
                  <a:srgbClr val="404040"/>
                </a:solidFill>
                <a:latin typeface="Carlito"/>
                <a:cs typeface="Carlito"/>
              </a:rPr>
              <a:t>and </a:t>
            </a:r>
            <a:r>
              <a:rPr sz="4000" b="1" i="1" spc="-5" dirty="0">
                <a:solidFill>
                  <a:srgbClr val="0D0D0D"/>
                </a:solidFill>
                <a:latin typeface="Carlito"/>
                <a:cs typeface="Carlito"/>
              </a:rPr>
              <a:t>the  </a:t>
            </a:r>
            <a:r>
              <a:rPr sz="4000" b="1" i="1" spc="-15" dirty="0">
                <a:solidFill>
                  <a:srgbClr val="0D0D0D"/>
                </a:solidFill>
                <a:latin typeface="Carlito"/>
                <a:cs typeface="Carlito"/>
              </a:rPr>
              <a:t>Internet</a:t>
            </a:r>
            <a:r>
              <a:rPr sz="4000" spc="-15" dirty="0">
                <a:solidFill>
                  <a:srgbClr val="404040"/>
                </a:solidFill>
                <a:latin typeface="Carlito"/>
                <a:cs typeface="Carlito"/>
              </a:rPr>
              <a:t>.</a:t>
            </a:r>
            <a:endParaRPr sz="4000">
              <a:latin typeface="Carlito"/>
              <a:cs typeface="Carli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33744"/>
            <a:ext cx="9144000" cy="524510"/>
            <a:chOff x="0" y="6333744"/>
            <a:chExt cx="9144000" cy="524510"/>
          </a:xfrm>
        </p:grpSpPr>
        <p:sp>
          <p:nvSpPr>
            <p:cNvPr id="3" name="object 3"/>
            <p:cNvSpPr/>
            <p:nvPr/>
          </p:nvSpPr>
          <p:spPr>
            <a:xfrm>
              <a:off x="0" y="6400799"/>
              <a:ext cx="9144000" cy="457200"/>
            </a:xfrm>
            <a:custGeom>
              <a:avLst/>
              <a:gdLst/>
              <a:ahLst/>
              <a:cxnLst/>
              <a:rect l="l" t="t" r="r" b="b"/>
              <a:pathLst>
                <a:path w="9144000" h="457200">
                  <a:moveTo>
                    <a:pt x="9144000" y="0"/>
                  </a:moveTo>
                  <a:lnTo>
                    <a:pt x="0" y="0"/>
                  </a:lnTo>
                  <a:lnTo>
                    <a:pt x="0" y="457199"/>
                  </a:lnTo>
                  <a:lnTo>
                    <a:pt x="9144000" y="457199"/>
                  </a:lnTo>
                  <a:lnTo>
                    <a:pt x="9144000" y="0"/>
                  </a:lnTo>
                  <a:close/>
                </a:path>
              </a:pathLst>
            </a:custGeom>
            <a:solidFill>
              <a:srgbClr val="BC572C"/>
            </a:solidFill>
          </p:spPr>
          <p:txBody>
            <a:bodyPr wrap="square" lIns="0" tIns="0" rIns="0" bIns="0" rtlCol="0"/>
            <a:lstStyle/>
            <a:p>
              <a:endParaRPr/>
            </a:p>
          </p:txBody>
        </p:sp>
        <p:sp>
          <p:nvSpPr>
            <p:cNvPr id="4" name="object 4"/>
            <p:cNvSpPr/>
            <p:nvPr/>
          </p:nvSpPr>
          <p:spPr>
            <a:xfrm>
              <a:off x="0" y="6333744"/>
              <a:ext cx="9144000" cy="67310"/>
            </a:xfrm>
            <a:custGeom>
              <a:avLst/>
              <a:gdLst/>
              <a:ahLst/>
              <a:cxnLst/>
              <a:rect l="l" t="t" r="r" b="b"/>
              <a:pathLst>
                <a:path w="9144000" h="67310">
                  <a:moveTo>
                    <a:pt x="9144000" y="0"/>
                  </a:moveTo>
                  <a:lnTo>
                    <a:pt x="0" y="0"/>
                  </a:lnTo>
                  <a:lnTo>
                    <a:pt x="0" y="67055"/>
                  </a:lnTo>
                  <a:lnTo>
                    <a:pt x="9144000" y="67055"/>
                  </a:lnTo>
                  <a:lnTo>
                    <a:pt x="9144000" y="0"/>
                  </a:lnTo>
                  <a:close/>
                </a:path>
              </a:pathLst>
            </a:custGeom>
            <a:solidFill>
              <a:srgbClr val="E38312"/>
            </a:solidFill>
          </p:spPr>
          <p:txBody>
            <a:bodyPr wrap="square" lIns="0" tIns="0" rIns="0" bIns="0" rtlCol="0"/>
            <a:lstStyle/>
            <a:p>
              <a:endParaRPr/>
            </a:p>
          </p:txBody>
        </p:sp>
      </p:grpSp>
      <p:sp>
        <p:nvSpPr>
          <p:cNvPr id="5" name="object 5"/>
          <p:cNvSpPr txBox="1">
            <a:spLocks noGrp="1"/>
          </p:cNvSpPr>
          <p:nvPr>
            <p:ph type="title"/>
          </p:nvPr>
        </p:nvSpPr>
        <p:spPr>
          <a:xfrm>
            <a:off x="507593" y="1072718"/>
            <a:ext cx="7877175" cy="635000"/>
          </a:xfrm>
          <a:prstGeom prst="rect">
            <a:avLst/>
          </a:prstGeom>
        </p:spPr>
        <p:txBody>
          <a:bodyPr vert="horz" wrap="square" lIns="0" tIns="12065" rIns="0" bIns="0" rtlCol="0">
            <a:spAutoFit/>
          </a:bodyPr>
          <a:lstStyle/>
          <a:p>
            <a:pPr marL="12700">
              <a:lnSpc>
                <a:spcPct val="100000"/>
              </a:lnSpc>
              <a:spcBef>
                <a:spcPts val="95"/>
              </a:spcBef>
              <a:tabLst>
                <a:tab pos="7863840" algn="l"/>
              </a:tabLst>
            </a:pPr>
            <a:r>
              <a:rPr sz="4000" spc="-229" dirty="0"/>
              <a:t>In</a:t>
            </a:r>
            <a:r>
              <a:rPr sz="4000" u="sng" spc="-229" dirty="0">
                <a:uFill>
                  <a:solidFill>
                    <a:srgbClr val="7E7E7E"/>
                  </a:solidFill>
                </a:uFill>
              </a:rPr>
              <a:t>formation </a:t>
            </a:r>
            <a:r>
              <a:rPr sz="4000" u="sng" spc="-245" dirty="0">
                <a:uFill>
                  <a:solidFill>
                    <a:srgbClr val="7E7E7E"/>
                  </a:solidFill>
                </a:uFill>
              </a:rPr>
              <a:t>System</a:t>
            </a:r>
            <a:r>
              <a:rPr sz="4000" u="sng" spc="-655" dirty="0">
                <a:uFill>
                  <a:solidFill>
                    <a:srgbClr val="7E7E7E"/>
                  </a:solidFill>
                </a:uFill>
              </a:rPr>
              <a:t> </a:t>
            </a:r>
            <a:r>
              <a:rPr sz="4000" u="sng" spc="-265" dirty="0">
                <a:uFill>
                  <a:solidFill>
                    <a:srgbClr val="7E7E7E"/>
                  </a:solidFill>
                </a:uFill>
              </a:rPr>
              <a:t>Activities	</a:t>
            </a:r>
            <a:endParaRPr sz="4000"/>
          </a:p>
        </p:txBody>
      </p:sp>
      <p:sp>
        <p:nvSpPr>
          <p:cNvPr id="6" name="object 6"/>
          <p:cNvSpPr txBox="1"/>
          <p:nvPr/>
        </p:nvSpPr>
        <p:spPr>
          <a:xfrm>
            <a:off x="526795" y="2032762"/>
            <a:ext cx="6055995" cy="2038985"/>
          </a:xfrm>
          <a:prstGeom prst="rect">
            <a:avLst/>
          </a:prstGeom>
        </p:spPr>
        <p:txBody>
          <a:bodyPr vert="horz" wrap="square" lIns="0" tIns="134620" rIns="0" bIns="0" rtlCol="0">
            <a:spAutoFit/>
          </a:bodyPr>
          <a:lstStyle/>
          <a:p>
            <a:pPr marL="527685" indent="-515620">
              <a:lnSpc>
                <a:spcPct val="100000"/>
              </a:lnSpc>
              <a:spcBef>
                <a:spcPts val="1060"/>
              </a:spcBef>
              <a:buClr>
                <a:srgbClr val="E38312"/>
              </a:buClr>
              <a:buAutoNum type="arabicPeriod"/>
              <a:tabLst>
                <a:tab pos="527685" algn="l"/>
                <a:tab pos="528320" algn="l"/>
              </a:tabLst>
            </a:pPr>
            <a:r>
              <a:rPr sz="3600" dirty="0">
                <a:solidFill>
                  <a:srgbClr val="404040"/>
                </a:solidFill>
                <a:latin typeface="Carlito"/>
                <a:cs typeface="Carlito"/>
              </a:rPr>
              <a:t>Input </a:t>
            </a:r>
            <a:r>
              <a:rPr sz="3600" spc="-5" dirty="0">
                <a:solidFill>
                  <a:srgbClr val="404040"/>
                </a:solidFill>
                <a:latin typeface="Carlito"/>
                <a:cs typeface="Carlito"/>
              </a:rPr>
              <a:t>of </a:t>
            </a:r>
            <a:r>
              <a:rPr sz="3600" spc="-25" dirty="0">
                <a:solidFill>
                  <a:srgbClr val="404040"/>
                </a:solidFill>
                <a:latin typeface="Carlito"/>
                <a:cs typeface="Carlito"/>
              </a:rPr>
              <a:t>Data</a:t>
            </a:r>
            <a:r>
              <a:rPr sz="3600" spc="-50" dirty="0">
                <a:solidFill>
                  <a:srgbClr val="404040"/>
                </a:solidFill>
                <a:latin typeface="Carlito"/>
                <a:cs typeface="Carlito"/>
              </a:rPr>
              <a:t> </a:t>
            </a:r>
            <a:r>
              <a:rPr sz="3600" spc="-15" dirty="0">
                <a:solidFill>
                  <a:srgbClr val="404040"/>
                </a:solidFill>
                <a:latin typeface="Carlito"/>
                <a:cs typeface="Carlito"/>
              </a:rPr>
              <a:t>Resources</a:t>
            </a:r>
            <a:endParaRPr sz="3600">
              <a:latin typeface="Carlito"/>
              <a:cs typeface="Carlito"/>
            </a:endParaRPr>
          </a:p>
          <a:p>
            <a:pPr marL="527685" indent="-515620">
              <a:lnSpc>
                <a:spcPct val="100000"/>
              </a:lnSpc>
              <a:spcBef>
                <a:spcPts val="960"/>
              </a:spcBef>
              <a:buClr>
                <a:srgbClr val="E38312"/>
              </a:buClr>
              <a:buAutoNum type="arabicPeriod"/>
              <a:tabLst>
                <a:tab pos="527685" algn="l"/>
                <a:tab pos="528320" algn="l"/>
              </a:tabLst>
            </a:pPr>
            <a:r>
              <a:rPr sz="3600" spc="-15" dirty="0">
                <a:solidFill>
                  <a:srgbClr val="404040"/>
                </a:solidFill>
                <a:latin typeface="Carlito"/>
                <a:cs typeface="Carlito"/>
              </a:rPr>
              <a:t>Process </a:t>
            </a:r>
            <a:r>
              <a:rPr sz="3600" spc="-25" dirty="0">
                <a:solidFill>
                  <a:srgbClr val="404040"/>
                </a:solidFill>
                <a:latin typeface="Carlito"/>
                <a:cs typeface="Carlito"/>
              </a:rPr>
              <a:t>Data </a:t>
            </a:r>
            <a:r>
              <a:rPr sz="3600" spc="-20" dirty="0">
                <a:solidFill>
                  <a:srgbClr val="404040"/>
                </a:solidFill>
                <a:latin typeface="Carlito"/>
                <a:cs typeface="Carlito"/>
              </a:rPr>
              <a:t>into</a:t>
            </a:r>
            <a:r>
              <a:rPr sz="3600" spc="-5" dirty="0">
                <a:solidFill>
                  <a:srgbClr val="404040"/>
                </a:solidFill>
                <a:latin typeface="Carlito"/>
                <a:cs typeface="Carlito"/>
              </a:rPr>
              <a:t> </a:t>
            </a:r>
            <a:r>
              <a:rPr sz="3600" spc="-15" dirty="0">
                <a:solidFill>
                  <a:srgbClr val="404040"/>
                </a:solidFill>
                <a:latin typeface="Carlito"/>
                <a:cs typeface="Carlito"/>
              </a:rPr>
              <a:t>Information</a:t>
            </a:r>
            <a:endParaRPr sz="3600">
              <a:latin typeface="Carlito"/>
              <a:cs typeface="Carlito"/>
            </a:endParaRPr>
          </a:p>
          <a:p>
            <a:pPr marL="527685" indent="-515620">
              <a:lnSpc>
                <a:spcPct val="100000"/>
              </a:lnSpc>
              <a:spcBef>
                <a:spcPts val="969"/>
              </a:spcBef>
              <a:buClr>
                <a:srgbClr val="E38312"/>
              </a:buClr>
              <a:buAutoNum type="arabicPeriod"/>
              <a:tabLst>
                <a:tab pos="527685" algn="l"/>
                <a:tab pos="528320" algn="l"/>
              </a:tabLst>
            </a:pPr>
            <a:r>
              <a:rPr sz="3600" spc="-5" dirty="0">
                <a:solidFill>
                  <a:srgbClr val="404040"/>
                </a:solidFill>
                <a:latin typeface="Carlito"/>
                <a:cs typeface="Carlito"/>
              </a:rPr>
              <a:t>Output of</a:t>
            </a:r>
            <a:r>
              <a:rPr sz="3600" spc="-30" dirty="0">
                <a:solidFill>
                  <a:srgbClr val="404040"/>
                </a:solidFill>
                <a:latin typeface="Carlito"/>
                <a:cs typeface="Carlito"/>
              </a:rPr>
              <a:t> </a:t>
            </a:r>
            <a:r>
              <a:rPr sz="3600" spc="-15" dirty="0">
                <a:solidFill>
                  <a:srgbClr val="404040"/>
                </a:solidFill>
                <a:latin typeface="Carlito"/>
                <a:cs typeface="Carlito"/>
              </a:rPr>
              <a:t>Information</a:t>
            </a:r>
            <a:endParaRPr sz="3600">
              <a:latin typeface="Carlito"/>
              <a:cs typeface="Carli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090" y="908050"/>
            <a:ext cx="5721985" cy="756920"/>
          </a:xfrm>
          <a:prstGeom prst="rect">
            <a:avLst/>
          </a:prstGeom>
        </p:spPr>
        <p:txBody>
          <a:bodyPr vert="horz" wrap="square" lIns="0" tIns="12700" rIns="0" bIns="0" rtlCol="0">
            <a:spAutoFit/>
          </a:bodyPr>
          <a:lstStyle/>
          <a:p>
            <a:pPr marL="12700">
              <a:lnSpc>
                <a:spcPct val="100000"/>
              </a:lnSpc>
              <a:spcBef>
                <a:spcPts val="100"/>
              </a:spcBef>
            </a:pPr>
            <a:r>
              <a:rPr spc="-225" dirty="0"/>
              <a:t>Input </a:t>
            </a:r>
            <a:r>
              <a:rPr spc="-229" dirty="0"/>
              <a:t>of </a:t>
            </a:r>
            <a:r>
              <a:rPr spc="-290" dirty="0"/>
              <a:t>Data</a:t>
            </a:r>
            <a:r>
              <a:rPr spc="-990" dirty="0"/>
              <a:t> </a:t>
            </a:r>
            <a:r>
              <a:rPr spc="-245" dirty="0"/>
              <a:t>Resources</a:t>
            </a:r>
          </a:p>
        </p:txBody>
      </p:sp>
      <p:sp>
        <p:nvSpPr>
          <p:cNvPr id="3" name="object 3"/>
          <p:cNvSpPr txBox="1"/>
          <p:nvPr/>
        </p:nvSpPr>
        <p:spPr>
          <a:xfrm>
            <a:off x="901090" y="1681733"/>
            <a:ext cx="6012180" cy="3752215"/>
          </a:xfrm>
          <a:prstGeom prst="rect">
            <a:avLst/>
          </a:prstGeom>
        </p:spPr>
        <p:txBody>
          <a:bodyPr vert="horz" wrap="square" lIns="0" tIns="12065" rIns="0" bIns="0" rtlCol="0">
            <a:spAutoFit/>
          </a:bodyPr>
          <a:lstStyle/>
          <a:p>
            <a:pPr marL="12700" marR="4690745">
              <a:lnSpc>
                <a:spcPct val="138800"/>
              </a:lnSpc>
              <a:spcBef>
                <a:spcPts val="95"/>
              </a:spcBef>
            </a:pPr>
            <a:r>
              <a:rPr sz="2400" spc="-15" dirty="0">
                <a:solidFill>
                  <a:srgbClr val="404040"/>
                </a:solidFill>
                <a:latin typeface="Carlito"/>
                <a:cs typeface="Carlito"/>
              </a:rPr>
              <a:t>Data</a:t>
            </a:r>
            <a:r>
              <a:rPr sz="2400" spc="-95" dirty="0">
                <a:solidFill>
                  <a:srgbClr val="404040"/>
                </a:solidFill>
                <a:latin typeface="Carlito"/>
                <a:cs typeface="Carlito"/>
              </a:rPr>
              <a:t> </a:t>
            </a:r>
            <a:r>
              <a:rPr sz="2400" spc="-5" dirty="0">
                <a:solidFill>
                  <a:srgbClr val="404040"/>
                </a:solidFill>
                <a:latin typeface="Carlito"/>
                <a:cs typeface="Carlito"/>
              </a:rPr>
              <a:t>entry  </a:t>
            </a:r>
            <a:r>
              <a:rPr sz="2400" spc="-10" dirty="0">
                <a:solidFill>
                  <a:srgbClr val="404040"/>
                </a:solidFill>
                <a:latin typeface="Carlito"/>
                <a:cs typeface="Carlito"/>
              </a:rPr>
              <a:t>Editing</a:t>
            </a:r>
            <a:endParaRPr sz="2400">
              <a:latin typeface="Carlito"/>
              <a:cs typeface="Carlito"/>
            </a:endParaRPr>
          </a:p>
          <a:p>
            <a:pPr marL="12700">
              <a:lnSpc>
                <a:spcPct val="100000"/>
              </a:lnSpc>
              <a:spcBef>
                <a:spcPts val="1120"/>
              </a:spcBef>
            </a:pPr>
            <a:r>
              <a:rPr sz="2400" dirty="0">
                <a:solidFill>
                  <a:srgbClr val="404040"/>
                </a:solidFill>
                <a:latin typeface="Carlito"/>
                <a:cs typeface="Carlito"/>
              </a:rPr>
              <a:t>Machine</a:t>
            </a:r>
            <a:r>
              <a:rPr sz="2400" spc="-15" dirty="0">
                <a:solidFill>
                  <a:srgbClr val="404040"/>
                </a:solidFill>
                <a:latin typeface="Carlito"/>
                <a:cs typeface="Carlito"/>
              </a:rPr>
              <a:t> </a:t>
            </a:r>
            <a:r>
              <a:rPr sz="2400" spc="-5" dirty="0">
                <a:solidFill>
                  <a:srgbClr val="404040"/>
                </a:solidFill>
                <a:latin typeface="Carlito"/>
                <a:cs typeface="Carlito"/>
              </a:rPr>
              <a:t>readable</a:t>
            </a:r>
            <a:endParaRPr sz="2400">
              <a:latin typeface="Carlito"/>
              <a:cs typeface="Carlito"/>
            </a:endParaRPr>
          </a:p>
          <a:p>
            <a:pPr marL="12700">
              <a:lnSpc>
                <a:spcPct val="100000"/>
              </a:lnSpc>
              <a:spcBef>
                <a:spcPts val="1105"/>
              </a:spcBef>
            </a:pPr>
            <a:r>
              <a:rPr sz="2400" spc="-10" dirty="0">
                <a:solidFill>
                  <a:srgbClr val="404040"/>
                </a:solidFill>
                <a:latin typeface="Carlito"/>
                <a:cs typeface="Carlito"/>
              </a:rPr>
              <a:t>Source</a:t>
            </a:r>
            <a:r>
              <a:rPr sz="2400" spc="-15" dirty="0">
                <a:solidFill>
                  <a:srgbClr val="404040"/>
                </a:solidFill>
                <a:latin typeface="Carlito"/>
                <a:cs typeface="Carlito"/>
              </a:rPr>
              <a:t> </a:t>
            </a:r>
            <a:r>
              <a:rPr sz="2400" spc="-5" dirty="0">
                <a:solidFill>
                  <a:srgbClr val="404040"/>
                </a:solidFill>
                <a:latin typeface="Carlito"/>
                <a:cs typeface="Carlito"/>
              </a:rPr>
              <a:t>documents</a:t>
            </a:r>
            <a:endParaRPr sz="2400">
              <a:latin typeface="Carlito"/>
              <a:cs typeface="Carlito"/>
            </a:endParaRPr>
          </a:p>
          <a:p>
            <a:pPr marL="303530" indent="-183515">
              <a:lnSpc>
                <a:spcPct val="100000"/>
              </a:lnSpc>
              <a:spcBef>
                <a:spcPts val="120"/>
              </a:spcBef>
              <a:buClr>
                <a:srgbClr val="E38312"/>
              </a:buClr>
              <a:buChar char="◦"/>
              <a:tabLst>
                <a:tab pos="304165" algn="l"/>
              </a:tabLst>
            </a:pPr>
            <a:r>
              <a:rPr sz="2400" spc="-10" dirty="0">
                <a:solidFill>
                  <a:srgbClr val="404040"/>
                </a:solidFill>
                <a:latin typeface="Carlito"/>
                <a:cs typeface="Carlito"/>
              </a:rPr>
              <a:t>Formal </a:t>
            </a:r>
            <a:r>
              <a:rPr sz="2400" spc="-20" dirty="0">
                <a:solidFill>
                  <a:srgbClr val="404040"/>
                </a:solidFill>
                <a:latin typeface="Carlito"/>
                <a:cs typeface="Carlito"/>
              </a:rPr>
              <a:t>record </a:t>
            </a:r>
            <a:r>
              <a:rPr sz="2400" spc="-5" dirty="0">
                <a:solidFill>
                  <a:srgbClr val="404040"/>
                </a:solidFill>
                <a:latin typeface="Carlito"/>
                <a:cs typeface="Carlito"/>
              </a:rPr>
              <a:t>of </a:t>
            </a:r>
            <a:r>
              <a:rPr sz="2400" dirty="0">
                <a:solidFill>
                  <a:srgbClr val="404040"/>
                </a:solidFill>
                <a:latin typeface="Carlito"/>
                <a:cs typeface="Carlito"/>
              </a:rPr>
              <a:t>a</a:t>
            </a:r>
            <a:r>
              <a:rPr sz="2400" spc="-5" dirty="0">
                <a:solidFill>
                  <a:srgbClr val="404040"/>
                </a:solidFill>
                <a:latin typeface="Carlito"/>
                <a:cs typeface="Carlito"/>
              </a:rPr>
              <a:t> transaction</a:t>
            </a:r>
            <a:endParaRPr sz="2400">
              <a:latin typeface="Carlito"/>
              <a:cs typeface="Carlito"/>
            </a:endParaRPr>
          </a:p>
          <a:p>
            <a:pPr marL="12700">
              <a:lnSpc>
                <a:spcPct val="100000"/>
              </a:lnSpc>
              <a:spcBef>
                <a:spcPts val="1305"/>
              </a:spcBef>
            </a:pPr>
            <a:r>
              <a:rPr sz="2400" dirty="0">
                <a:solidFill>
                  <a:srgbClr val="404040"/>
                </a:solidFill>
                <a:latin typeface="Carlito"/>
                <a:cs typeface="Carlito"/>
              </a:rPr>
              <a:t>User</a:t>
            </a:r>
            <a:r>
              <a:rPr sz="2400" spc="-5" dirty="0">
                <a:solidFill>
                  <a:srgbClr val="404040"/>
                </a:solidFill>
                <a:latin typeface="Carlito"/>
                <a:cs typeface="Carlito"/>
              </a:rPr>
              <a:t> </a:t>
            </a:r>
            <a:r>
              <a:rPr sz="2400" spc="-15" dirty="0">
                <a:solidFill>
                  <a:srgbClr val="404040"/>
                </a:solidFill>
                <a:latin typeface="Carlito"/>
                <a:cs typeface="Carlito"/>
              </a:rPr>
              <a:t>interface</a:t>
            </a:r>
            <a:endParaRPr sz="2400">
              <a:latin typeface="Carlito"/>
              <a:cs typeface="Carlito"/>
            </a:endParaRPr>
          </a:p>
          <a:p>
            <a:pPr marL="303530" indent="-183515">
              <a:lnSpc>
                <a:spcPct val="100000"/>
              </a:lnSpc>
              <a:spcBef>
                <a:spcPts val="110"/>
              </a:spcBef>
              <a:buClr>
                <a:srgbClr val="E38312"/>
              </a:buClr>
              <a:buChar char="◦"/>
              <a:tabLst>
                <a:tab pos="304165" algn="l"/>
              </a:tabLst>
            </a:pPr>
            <a:r>
              <a:rPr sz="2400" spc="-10" dirty="0">
                <a:solidFill>
                  <a:srgbClr val="404040"/>
                </a:solidFill>
                <a:latin typeface="Carlito"/>
                <a:cs typeface="Carlito"/>
              </a:rPr>
              <a:t>How users </a:t>
            </a:r>
            <a:r>
              <a:rPr sz="2400" spc="-15" dirty="0">
                <a:solidFill>
                  <a:srgbClr val="404040"/>
                </a:solidFill>
                <a:latin typeface="Carlito"/>
                <a:cs typeface="Carlito"/>
              </a:rPr>
              <a:t>interact </a:t>
            </a:r>
            <a:r>
              <a:rPr sz="2400" dirty="0">
                <a:solidFill>
                  <a:srgbClr val="404040"/>
                </a:solidFill>
                <a:latin typeface="Carlito"/>
                <a:cs typeface="Carlito"/>
              </a:rPr>
              <a:t>with </a:t>
            </a:r>
            <a:r>
              <a:rPr sz="2400" spc="-10" dirty="0">
                <a:solidFill>
                  <a:srgbClr val="404040"/>
                </a:solidFill>
                <a:latin typeface="Carlito"/>
                <a:cs typeface="Carlito"/>
              </a:rPr>
              <a:t>information</a:t>
            </a:r>
            <a:r>
              <a:rPr sz="2400" spc="-50" dirty="0">
                <a:solidFill>
                  <a:srgbClr val="404040"/>
                </a:solidFill>
                <a:latin typeface="Carlito"/>
                <a:cs typeface="Carlito"/>
              </a:rPr>
              <a:t> </a:t>
            </a:r>
            <a:r>
              <a:rPr sz="2400" spc="-25" dirty="0">
                <a:solidFill>
                  <a:srgbClr val="404040"/>
                </a:solidFill>
                <a:latin typeface="Carlito"/>
                <a:cs typeface="Carlito"/>
              </a:rPr>
              <a:t>system</a:t>
            </a:r>
            <a:endParaRPr sz="2400">
              <a:latin typeface="Carlito"/>
              <a:cs typeface="Carlito"/>
            </a:endParaRPr>
          </a:p>
          <a:p>
            <a:pPr marL="303530" indent="-183515">
              <a:lnSpc>
                <a:spcPct val="100000"/>
              </a:lnSpc>
              <a:spcBef>
                <a:spcPts val="315"/>
              </a:spcBef>
              <a:buClr>
                <a:srgbClr val="E38312"/>
              </a:buClr>
              <a:buChar char="◦"/>
              <a:tabLst>
                <a:tab pos="304165" algn="l"/>
              </a:tabLst>
            </a:pPr>
            <a:r>
              <a:rPr sz="2400" spc="-10" dirty="0">
                <a:solidFill>
                  <a:srgbClr val="404040"/>
                </a:solidFill>
                <a:latin typeface="Carlito"/>
                <a:cs typeface="Carlito"/>
              </a:rPr>
              <a:t>Optical </a:t>
            </a:r>
            <a:r>
              <a:rPr sz="2400" spc="-5" dirty="0">
                <a:solidFill>
                  <a:srgbClr val="404040"/>
                </a:solidFill>
                <a:latin typeface="Carlito"/>
                <a:cs typeface="Carlito"/>
              </a:rPr>
              <a:t>scanning; </a:t>
            </a:r>
            <a:r>
              <a:rPr sz="2400" dirty="0">
                <a:solidFill>
                  <a:srgbClr val="404040"/>
                </a:solidFill>
                <a:latin typeface="Carlito"/>
                <a:cs typeface="Carlito"/>
              </a:rPr>
              <a:t>menu; </a:t>
            </a:r>
            <a:r>
              <a:rPr sz="2400" spc="-10" dirty="0">
                <a:solidFill>
                  <a:srgbClr val="404040"/>
                </a:solidFill>
                <a:latin typeface="Carlito"/>
                <a:cs typeface="Carlito"/>
              </a:rPr>
              <a:t>prompts; </a:t>
            </a:r>
            <a:r>
              <a:rPr sz="2400" spc="-5" dirty="0">
                <a:solidFill>
                  <a:srgbClr val="404040"/>
                </a:solidFill>
                <a:latin typeface="Carlito"/>
                <a:cs typeface="Carlito"/>
              </a:rPr>
              <a:t>fill </a:t>
            </a:r>
            <a:r>
              <a:rPr sz="2400" dirty="0">
                <a:solidFill>
                  <a:srgbClr val="404040"/>
                </a:solidFill>
                <a:latin typeface="Carlito"/>
                <a:cs typeface="Carlito"/>
              </a:rPr>
              <a:t>in</a:t>
            </a:r>
            <a:r>
              <a:rPr sz="2400" spc="-65" dirty="0">
                <a:solidFill>
                  <a:srgbClr val="404040"/>
                </a:solidFill>
                <a:latin typeface="Carlito"/>
                <a:cs typeface="Carlito"/>
              </a:rPr>
              <a:t> </a:t>
            </a:r>
            <a:r>
              <a:rPr sz="2400" spc="-10" dirty="0">
                <a:solidFill>
                  <a:srgbClr val="404040"/>
                </a:solidFill>
                <a:latin typeface="Carlito"/>
                <a:cs typeface="Carlito"/>
              </a:rPr>
              <a:t>blanks</a:t>
            </a:r>
            <a:endParaRPr sz="2400">
              <a:latin typeface="Carlito"/>
              <a:cs typeface="Carli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090" y="908050"/>
            <a:ext cx="7100570" cy="756920"/>
          </a:xfrm>
          <a:prstGeom prst="rect">
            <a:avLst/>
          </a:prstGeom>
        </p:spPr>
        <p:txBody>
          <a:bodyPr vert="horz" wrap="square" lIns="0" tIns="12700" rIns="0" bIns="0" rtlCol="0">
            <a:spAutoFit/>
          </a:bodyPr>
          <a:lstStyle/>
          <a:p>
            <a:pPr marL="12700">
              <a:lnSpc>
                <a:spcPct val="100000"/>
              </a:lnSpc>
              <a:spcBef>
                <a:spcPts val="100"/>
              </a:spcBef>
            </a:pPr>
            <a:r>
              <a:rPr spc="-245" dirty="0"/>
              <a:t>Process </a:t>
            </a:r>
            <a:r>
              <a:rPr spc="-290" dirty="0"/>
              <a:t>Data </a:t>
            </a:r>
            <a:r>
              <a:rPr spc="-275" dirty="0"/>
              <a:t>into</a:t>
            </a:r>
            <a:r>
              <a:rPr spc="-880" dirty="0"/>
              <a:t> </a:t>
            </a:r>
            <a:r>
              <a:rPr spc="-265" dirty="0"/>
              <a:t>Information</a:t>
            </a:r>
          </a:p>
        </p:txBody>
      </p:sp>
      <p:sp>
        <p:nvSpPr>
          <p:cNvPr id="3" name="object 3"/>
          <p:cNvSpPr txBox="1"/>
          <p:nvPr/>
        </p:nvSpPr>
        <p:spPr>
          <a:xfrm>
            <a:off x="891946" y="1707641"/>
            <a:ext cx="7161530" cy="3726179"/>
          </a:xfrm>
          <a:prstGeom prst="rect">
            <a:avLst/>
          </a:prstGeom>
        </p:spPr>
        <p:txBody>
          <a:bodyPr vert="horz" wrap="square" lIns="0" tIns="128270" rIns="0" bIns="0" rtlCol="0">
            <a:spAutoFit/>
          </a:bodyPr>
          <a:lstStyle/>
          <a:p>
            <a:pPr marL="295910" indent="-283845">
              <a:lnSpc>
                <a:spcPct val="100000"/>
              </a:lnSpc>
              <a:spcBef>
                <a:spcPts val="1010"/>
              </a:spcBef>
              <a:buClr>
                <a:srgbClr val="E38312"/>
              </a:buClr>
              <a:buFont typeface="Arial"/>
              <a:buChar char=""/>
              <a:tabLst>
                <a:tab pos="296545" algn="l"/>
              </a:tabLst>
            </a:pPr>
            <a:r>
              <a:rPr sz="2400" spc="-10" dirty="0">
                <a:solidFill>
                  <a:srgbClr val="404040"/>
                </a:solidFill>
                <a:latin typeface="Carlito"/>
                <a:cs typeface="Carlito"/>
              </a:rPr>
              <a:t>Calculate</a:t>
            </a:r>
            <a:endParaRPr sz="2400">
              <a:latin typeface="Carlito"/>
              <a:cs typeface="Carlito"/>
            </a:endParaRPr>
          </a:p>
          <a:p>
            <a:pPr marL="295910" indent="-283845">
              <a:lnSpc>
                <a:spcPct val="100000"/>
              </a:lnSpc>
              <a:spcBef>
                <a:spcPts val="915"/>
              </a:spcBef>
              <a:buClr>
                <a:srgbClr val="E38312"/>
              </a:buClr>
              <a:buFont typeface="Arial"/>
              <a:buChar char=""/>
              <a:tabLst>
                <a:tab pos="296545" algn="l"/>
              </a:tabLst>
            </a:pPr>
            <a:r>
              <a:rPr sz="2400" spc="-10" dirty="0">
                <a:solidFill>
                  <a:srgbClr val="404040"/>
                </a:solidFill>
                <a:latin typeface="Carlito"/>
                <a:cs typeface="Carlito"/>
              </a:rPr>
              <a:t>Compare</a:t>
            </a:r>
            <a:endParaRPr sz="2400">
              <a:latin typeface="Carlito"/>
              <a:cs typeface="Carlito"/>
            </a:endParaRPr>
          </a:p>
          <a:p>
            <a:pPr marL="295910" indent="-283845">
              <a:lnSpc>
                <a:spcPct val="100000"/>
              </a:lnSpc>
              <a:spcBef>
                <a:spcPts val="910"/>
              </a:spcBef>
              <a:buClr>
                <a:srgbClr val="E38312"/>
              </a:buClr>
              <a:buFont typeface="Arial"/>
              <a:buChar char=""/>
              <a:tabLst>
                <a:tab pos="296545" algn="l"/>
              </a:tabLst>
            </a:pPr>
            <a:r>
              <a:rPr sz="2400" spc="-5" dirty="0">
                <a:solidFill>
                  <a:srgbClr val="404040"/>
                </a:solidFill>
                <a:latin typeface="Carlito"/>
                <a:cs typeface="Carlito"/>
              </a:rPr>
              <a:t>Sort</a:t>
            </a:r>
            <a:endParaRPr sz="2400">
              <a:latin typeface="Carlito"/>
              <a:cs typeface="Carlito"/>
            </a:endParaRPr>
          </a:p>
          <a:p>
            <a:pPr marL="295910" indent="-283845">
              <a:lnSpc>
                <a:spcPct val="100000"/>
              </a:lnSpc>
              <a:spcBef>
                <a:spcPts val="915"/>
              </a:spcBef>
              <a:buClr>
                <a:srgbClr val="E38312"/>
              </a:buClr>
              <a:buFont typeface="Arial"/>
              <a:buChar char=""/>
              <a:tabLst>
                <a:tab pos="296545" algn="l"/>
              </a:tabLst>
            </a:pPr>
            <a:r>
              <a:rPr sz="2400" spc="-5" dirty="0">
                <a:solidFill>
                  <a:srgbClr val="404040"/>
                </a:solidFill>
                <a:latin typeface="Carlito"/>
                <a:cs typeface="Carlito"/>
              </a:rPr>
              <a:t>Classify</a:t>
            </a:r>
            <a:endParaRPr sz="2400">
              <a:latin typeface="Carlito"/>
              <a:cs typeface="Carlito"/>
            </a:endParaRPr>
          </a:p>
          <a:p>
            <a:pPr marL="295910" indent="-283845">
              <a:lnSpc>
                <a:spcPct val="100000"/>
              </a:lnSpc>
              <a:spcBef>
                <a:spcPts val="910"/>
              </a:spcBef>
              <a:buClr>
                <a:srgbClr val="E38312"/>
              </a:buClr>
              <a:buFont typeface="Arial"/>
              <a:buChar char=""/>
              <a:tabLst>
                <a:tab pos="296545" algn="l"/>
              </a:tabLst>
            </a:pPr>
            <a:r>
              <a:rPr sz="2400" spc="-10" dirty="0">
                <a:solidFill>
                  <a:srgbClr val="404040"/>
                </a:solidFill>
                <a:latin typeface="Carlito"/>
                <a:cs typeface="Carlito"/>
              </a:rPr>
              <a:t>Summarize</a:t>
            </a:r>
            <a:endParaRPr sz="2400">
              <a:latin typeface="Carlito"/>
              <a:cs typeface="Carlito"/>
            </a:endParaRPr>
          </a:p>
          <a:p>
            <a:pPr>
              <a:lnSpc>
                <a:spcPct val="100000"/>
              </a:lnSpc>
            </a:pPr>
            <a:endParaRPr sz="2600">
              <a:latin typeface="Carlito"/>
              <a:cs typeface="Carlito"/>
            </a:endParaRPr>
          </a:p>
          <a:p>
            <a:pPr marL="295910" marR="5080" indent="-283845">
              <a:lnSpc>
                <a:spcPts val="2590"/>
              </a:lnSpc>
              <a:spcBef>
                <a:spcPts val="1860"/>
              </a:spcBef>
            </a:pPr>
            <a:r>
              <a:rPr sz="2400" spc="-5" dirty="0">
                <a:solidFill>
                  <a:srgbClr val="404040"/>
                </a:solidFill>
                <a:latin typeface="Carlito"/>
                <a:cs typeface="Carlito"/>
              </a:rPr>
              <a:t>The quality of </a:t>
            </a:r>
            <a:r>
              <a:rPr sz="2400" dirty="0">
                <a:solidFill>
                  <a:srgbClr val="404040"/>
                </a:solidFill>
                <a:latin typeface="Carlito"/>
                <a:cs typeface="Carlito"/>
              </a:rPr>
              <a:t>the </a:t>
            </a:r>
            <a:r>
              <a:rPr sz="2400" spc="-15" dirty="0">
                <a:solidFill>
                  <a:srgbClr val="404040"/>
                </a:solidFill>
                <a:latin typeface="Carlito"/>
                <a:cs typeface="Carlito"/>
              </a:rPr>
              <a:t>data </a:t>
            </a:r>
            <a:r>
              <a:rPr sz="2400" spc="-10" dirty="0">
                <a:solidFill>
                  <a:srgbClr val="404040"/>
                </a:solidFill>
                <a:latin typeface="Carlito"/>
                <a:cs typeface="Carlito"/>
              </a:rPr>
              <a:t>must </a:t>
            </a:r>
            <a:r>
              <a:rPr sz="2400" spc="-5" dirty="0">
                <a:solidFill>
                  <a:srgbClr val="404040"/>
                </a:solidFill>
                <a:latin typeface="Carlito"/>
                <a:cs typeface="Carlito"/>
              </a:rPr>
              <a:t>be maintained </a:t>
            </a:r>
            <a:r>
              <a:rPr sz="2400" spc="-10" dirty="0">
                <a:solidFill>
                  <a:srgbClr val="404040"/>
                </a:solidFill>
                <a:latin typeface="Carlito"/>
                <a:cs typeface="Carlito"/>
              </a:rPr>
              <a:t>by </a:t>
            </a:r>
            <a:r>
              <a:rPr sz="2400" dirty="0">
                <a:solidFill>
                  <a:srgbClr val="404040"/>
                </a:solidFill>
                <a:latin typeface="Carlito"/>
                <a:cs typeface="Carlito"/>
              </a:rPr>
              <a:t>a </a:t>
            </a:r>
            <a:r>
              <a:rPr sz="2400" spc="-10" dirty="0">
                <a:solidFill>
                  <a:srgbClr val="404040"/>
                </a:solidFill>
                <a:latin typeface="Carlito"/>
                <a:cs typeface="Carlito"/>
              </a:rPr>
              <a:t>continual  process </a:t>
            </a:r>
            <a:r>
              <a:rPr sz="2400" spc="-5" dirty="0">
                <a:solidFill>
                  <a:srgbClr val="404040"/>
                </a:solidFill>
                <a:latin typeface="Carlito"/>
                <a:cs typeface="Carlito"/>
              </a:rPr>
              <a:t>of </a:t>
            </a:r>
            <a:r>
              <a:rPr sz="2400" spc="-10" dirty="0">
                <a:solidFill>
                  <a:srgbClr val="404040"/>
                </a:solidFill>
                <a:latin typeface="Carlito"/>
                <a:cs typeface="Carlito"/>
              </a:rPr>
              <a:t>correcting </a:t>
            </a:r>
            <a:r>
              <a:rPr sz="2400" dirty="0">
                <a:solidFill>
                  <a:srgbClr val="404040"/>
                </a:solidFill>
                <a:latin typeface="Carlito"/>
                <a:cs typeface="Carlito"/>
              </a:rPr>
              <a:t>and </a:t>
            </a:r>
            <a:r>
              <a:rPr sz="2400" spc="-5" dirty="0">
                <a:solidFill>
                  <a:srgbClr val="404040"/>
                </a:solidFill>
                <a:latin typeface="Carlito"/>
                <a:cs typeface="Carlito"/>
              </a:rPr>
              <a:t>updating</a:t>
            </a:r>
            <a:r>
              <a:rPr sz="2400" spc="-45" dirty="0">
                <a:solidFill>
                  <a:srgbClr val="404040"/>
                </a:solidFill>
                <a:latin typeface="Carlito"/>
                <a:cs typeface="Carlito"/>
              </a:rPr>
              <a:t> </a:t>
            </a:r>
            <a:r>
              <a:rPr sz="2400" dirty="0">
                <a:solidFill>
                  <a:srgbClr val="404040"/>
                </a:solidFill>
                <a:latin typeface="Carlito"/>
                <a:cs typeface="Carlito"/>
              </a:rPr>
              <a:t>activities</a:t>
            </a:r>
            <a:endParaRPr sz="2400">
              <a:latin typeface="Carlito"/>
              <a:cs typeface="Carli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090" y="908050"/>
            <a:ext cx="5325110" cy="756920"/>
          </a:xfrm>
          <a:prstGeom prst="rect">
            <a:avLst/>
          </a:prstGeom>
        </p:spPr>
        <p:txBody>
          <a:bodyPr vert="horz" wrap="square" lIns="0" tIns="12700" rIns="0" bIns="0" rtlCol="0">
            <a:spAutoFit/>
          </a:bodyPr>
          <a:lstStyle/>
          <a:p>
            <a:pPr marL="12700">
              <a:lnSpc>
                <a:spcPct val="100000"/>
              </a:lnSpc>
              <a:spcBef>
                <a:spcPts val="100"/>
              </a:spcBef>
            </a:pPr>
            <a:r>
              <a:rPr spc="-240" dirty="0"/>
              <a:t>Output </a:t>
            </a:r>
            <a:r>
              <a:rPr spc="-229" dirty="0"/>
              <a:t>of</a:t>
            </a:r>
            <a:r>
              <a:rPr spc="-720" dirty="0"/>
              <a:t> </a:t>
            </a:r>
            <a:r>
              <a:rPr spc="-265" dirty="0"/>
              <a:t>Information</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98120" indent="-175260">
              <a:lnSpc>
                <a:spcPct val="100000"/>
              </a:lnSpc>
              <a:spcBef>
                <a:spcPts val="100"/>
              </a:spcBef>
              <a:buClr>
                <a:srgbClr val="E38312"/>
              </a:buClr>
              <a:buFont typeface="Arial"/>
              <a:buChar char="•"/>
              <a:tabLst>
                <a:tab pos="198120" algn="l"/>
              </a:tabLst>
            </a:pPr>
            <a:r>
              <a:rPr spc="-25" dirty="0"/>
              <a:t>Transmit </a:t>
            </a:r>
            <a:r>
              <a:rPr spc="-10" dirty="0"/>
              <a:t>information </a:t>
            </a:r>
            <a:r>
              <a:rPr spc="-15" dirty="0"/>
              <a:t>to</a:t>
            </a:r>
            <a:r>
              <a:rPr spc="-10" dirty="0"/>
              <a:t> users</a:t>
            </a:r>
          </a:p>
          <a:p>
            <a:pPr marL="405130" lvl="1" indent="-183515">
              <a:lnSpc>
                <a:spcPct val="100000"/>
              </a:lnSpc>
              <a:spcBef>
                <a:spcPts val="120"/>
              </a:spcBef>
              <a:buClr>
                <a:srgbClr val="E38312"/>
              </a:buClr>
              <a:buChar char="◦"/>
              <a:tabLst>
                <a:tab pos="405765" algn="l"/>
              </a:tabLst>
            </a:pPr>
            <a:r>
              <a:rPr sz="2400" spc="-10" dirty="0">
                <a:solidFill>
                  <a:srgbClr val="404040"/>
                </a:solidFill>
                <a:latin typeface="Carlito"/>
                <a:cs typeface="Carlito"/>
              </a:rPr>
              <a:t>Display; </a:t>
            </a:r>
            <a:r>
              <a:rPr sz="2400" spc="-5" dirty="0">
                <a:solidFill>
                  <a:srgbClr val="404040"/>
                </a:solidFill>
                <a:latin typeface="Carlito"/>
                <a:cs typeface="Carlito"/>
              </a:rPr>
              <a:t>paper;</a:t>
            </a:r>
            <a:r>
              <a:rPr sz="2400" spc="-15" dirty="0">
                <a:solidFill>
                  <a:srgbClr val="404040"/>
                </a:solidFill>
                <a:latin typeface="Carlito"/>
                <a:cs typeface="Carlito"/>
              </a:rPr>
              <a:t> </a:t>
            </a:r>
            <a:r>
              <a:rPr sz="2400" dirty="0">
                <a:solidFill>
                  <a:srgbClr val="404040"/>
                </a:solidFill>
                <a:latin typeface="Carlito"/>
                <a:cs typeface="Carlito"/>
              </a:rPr>
              <a:t>audio</a:t>
            </a:r>
            <a:endParaRPr sz="2400">
              <a:latin typeface="Carlito"/>
              <a:cs typeface="Carlito"/>
            </a:endParaRPr>
          </a:p>
          <a:p>
            <a:pPr marL="198120" indent="-175260">
              <a:lnSpc>
                <a:spcPct val="100000"/>
              </a:lnSpc>
              <a:spcBef>
                <a:spcPts val="1305"/>
              </a:spcBef>
              <a:buClr>
                <a:srgbClr val="E38312"/>
              </a:buClr>
              <a:buFont typeface="Arial"/>
              <a:buChar char="•"/>
              <a:tabLst>
                <a:tab pos="198120" algn="l"/>
              </a:tabLst>
            </a:pPr>
            <a:r>
              <a:rPr spc="-20" dirty="0"/>
              <a:t>Storage </a:t>
            </a:r>
            <a:r>
              <a:rPr spc="-5" dirty="0"/>
              <a:t>of</a:t>
            </a:r>
            <a:r>
              <a:rPr dirty="0"/>
              <a:t> </a:t>
            </a:r>
            <a:r>
              <a:rPr spc="-15" dirty="0"/>
              <a:t>data</a:t>
            </a:r>
          </a:p>
          <a:p>
            <a:pPr marL="405130" lvl="1" indent="-183515">
              <a:lnSpc>
                <a:spcPct val="100000"/>
              </a:lnSpc>
              <a:spcBef>
                <a:spcPts val="110"/>
              </a:spcBef>
              <a:buClr>
                <a:srgbClr val="E38312"/>
              </a:buClr>
              <a:buChar char="◦"/>
              <a:tabLst>
                <a:tab pos="405765" algn="l"/>
              </a:tabLst>
            </a:pPr>
            <a:r>
              <a:rPr sz="2400" spc="-15" dirty="0">
                <a:solidFill>
                  <a:srgbClr val="404040"/>
                </a:solidFill>
                <a:latin typeface="Carlito"/>
                <a:cs typeface="Carlito"/>
              </a:rPr>
              <a:t>Data are </a:t>
            </a:r>
            <a:r>
              <a:rPr sz="2400" spc="-10" dirty="0">
                <a:solidFill>
                  <a:srgbClr val="404040"/>
                </a:solidFill>
                <a:latin typeface="Carlito"/>
                <a:cs typeface="Carlito"/>
              </a:rPr>
              <a:t>retained </a:t>
            </a:r>
            <a:r>
              <a:rPr sz="2400" dirty="0">
                <a:solidFill>
                  <a:srgbClr val="404040"/>
                </a:solidFill>
                <a:latin typeface="Carlito"/>
                <a:cs typeface="Carlito"/>
              </a:rPr>
              <a:t>in an </a:t>
            </a:r>
            <a:r>
              <a:rPr sz="2400" spc="-20" dirty="0">
                <a:solidFill>
                  <a:srgbClr val="404040"/>
                </a:solidFill>
                <a:latin typeface="Carlito"/>
                <a:cs typeface="Carlito"/>
              </a:rPr>
              <a:t>organized</a:t>
            </a:r>
            <a:r>
              <a:rPr sz="2400" spc="-5" dirty="0">
                <a:solidFill>
                  <a:srgbClr val="404040"/>
                </a:solidFill>
                <a:latin typeface="Carlito"/>
                <a:cs typeface="Carlito"/>
              </a:rPr>
              <a:t> manner</a:t>
            </a:r>
            <a:endParaRPr sz="2400">
              <a:latin typeface="Carlito"/>
              <a:cs typeface="Carlito"/>
            </a:endParaRPr>
          </a:p>
          <a:p>
            <a:pPr marL="589915" lvl="2" indent="-183515">
              <a:lnSpc>
                <a:spcPct val="100000"/>
              </a:lnSpc>
              <a:spcBef>
                <a:spcPts val="315"/>
              </a:spcBef>
              <a:buClr>
                <a:srgbClr val="E38312"/>
              </a:buClr>
              <a:buChar char="◦"/>
              <a:tabLst>
                <a:tab pos="590550" algn="l"/>
              </a:tabLst>
            </a:pPr>
            <a:r>
              <a:rPr sz="2400" spc="-5" dirty="0">
                <a:solidFill>
                  <a:srgbClr val="404040"/>
                </a:solidFill>
                <a:latin typeface="Carlito"/>
                <a:cs typeface="Carlito"/>
              </a:rPr>
              <a:t>Fields; </a:t>
            </a:r>
            <a:r>
              <a:rPr sz="2400" spc="-15" dirty="0">
                <a:solidFill>
                  <a:srgbClr val="404040"/>
                </a:solidFill>
                <a:latin typeface="Carlito"/>
                <a:cs typeface="Carlito"/>
              </a:rPr>
              <a:t>records; </a:t>
            </a:r>
            <a:r>
              <a:rPr sz="2400" spc="-5" dirty="0">
                <a:solidFill>
                  <a:srgbClr val="404040"/>
                </a:solidFill>
                <a:latin typeface="Carlito"/>
                <a:cs typeface="Carlito"/>
              </a:rPr>
              <a:t>files; </a:t>
            </a:r>
            <a:r>
              <a:rPr sz="2400" spc="-15" dirty="0">
                <a:solidFill>
                  <a:srgbClr val="404040"/>
                </a:solidFill>
                <a:latin typeface="Carlito"/>
                <a:cs typeface="Carlito"/>
              </a:rPr>
              <a:t>data</a:t>
            </a:r>
            <a:r>
              <a:rPr sz="2400" spc="-35" dirty="0">
                <a:solidFill>
                  <a:srgbClr val="404040"/>
                </a:solidFill>
                <a:latin typeface="Carlito"/>
                <a:cs typeface="Carlito"/>
              </a:rPr>
              <a:t> </a:t>
            </a:r>
            <a:r>
              <a:rPr sz="2400" spc="-5" dirty="0">
                <a:solidFill>
                  <a:srgbClr val="404040"/>
                </a:solidFill>
                <a:latin typeface="Carlito"/>
                <a:cs typeface="Carlito"/>
              </a:rPr>
              <a:t>bases</a:t>
            </a:r>
            <a:endParaRPr sz="2400">
              <a:latin typeface="Carlito"/>
              <a:cs typeface="Carlito"/>
            </a:endParaRPr>
          </a:p>
          <a:p>
            <a:pPr marL="198120" indent="-175260">
              <a:lnSpc>
                <a:spcPct val="100000"/>
              </a:lnSpc>
              <a:spcBef>
                <a:spcPts val="1320"/>
              </a:spcBef>
              <a:buClr>
                <a:srgbClr val="E38312"/>
              </a:buClr>
              <a:buFont typeface="Arial"/>
              <a:buChar char="•"/>
              <a:tabLst>
                <a:tab pos="198120" algn="l"/>
              </a:tabLst>
            </a:pPr>
            <a:r>
              <a:rPr spc="-15" dirty="0"/>
              <a:t>Control </a:t>
            </a:r>
            <a:r>
              <a:rPr spc="-5" dirty="0"/>
              <a:t>of </a:t>
            </a:r>
            <a:r>
              <a:rPr spc="-25" dirty="0"/>
              <a:t>system</a:t>
            </a:r>
            <a:r>
              <a:rPr spc="-20" dirty="0"/>
              <a:t> </a:t>
            </a:r>
            <a:r>
              <a:rPr spc="-10" dirty="0"/>
              <a:t>performance</a:t>
            </a:r>
          </a:p>
          <a:p>
            <a:pPr marL="405130" marR="5080" lvl="1" indent="-183515">
              <a:lnSpc>
                <a:spcPct val="90000"/>
              </a:lnSpc>
              <a:spcBef>
                <a:spcPts val="395"/>
              </a:spcBef>
              <a:buClr>
                <a:srgbClr val="E38312"/>
              </a:buClr>
              <a:buChar char="◦"/>
              <a:tabLst>
                <a:tab pos="405765" algn="l"/>
              </a:tabLst>
            </a:pPr>
            <a:r>
              <a:rPr sz="2400" spc="-10" dirty="0">
                <a:solidFill>
                  <a:srgbClr val="404040"/>
                </a:solidFill>
                <a:latin typeface="Carlito"/>
                <a:cs typeface="Carlito"/>
              </a:rPr>
              <a:t>Feedback must </a:t>
            </a:r>
            <a:r>
              <a:rPr sz="2400" spc="-5" dirty="0">
                <a:solidFill>
                  <a:srgbClr val="404040"/>
                </a:solidFill>
                <a:latin typeface="Carlito"/>
                <a:cs typeface="Carlito"/>
              </a:rPr>
              <a:t>be </a:t>
            </a:r>
            <a:r>
              <a:rPr sz="2400" spc="-10" dirty="0">
                <a:solidFill>
                  <a:srgbClr val="404040"/>
                </a:solidFill>
                <a:latin typeface="Carlito"/>
                <a:cs typeface="Carlito"/>
              </a:rPr>
              <a:t>monitored </a:t>
            </a:r>
            <a:r>
              <a:rPr sz="2400" dirty="0">
                <a:solidFill>
                  <a:srgbClr val="404040"/>
                </a:solidFill>
                <a:latin typeface="Carlito"/>
                <a:cs typeface="Carlito"/>
              </a:rPr>
              <a:t>and </a:t>
            </a:r>
            <a:r>
              <a:rPr sz="2400" spc="-15" dirty="0">
                <a:solidFill>
                  <a:srgbClr val="404040"/>
                </a:solidFill>
                <a:latin typeface="Carlito"/>
                <a:cs typeface="Carlito"/>
              </a:rPr>
              <a:t>evaluated to </a:t>
            </a:r>
            <a:r>
              <a:rPr sz="2400" spc="-5" dirty="0">
                <a:solidFill>
                  <a:srgbClr val="404040"/>
                </a:solidFill>
                <a:latin typeface="Carlito"/>
                <a:cs typeface="Carlito"/>
              </a:rPr>
              <a:t>determine  </a:t>
            </a:r>
            <a:r>
              <a:rPr sz="2400" dirty="0">
                <a:solidFill>
                  <a:srgbClr val="404040"/>
                </a:solidFill>
                <a:latin typeface="Carlito"/>
                <a:cs typeface="Carlito"/>
              </a:rPr>
              <a:t>if the </a:t>
            </a:r>
            <a:r>
              <a:rPr sz="2400" spc="-10" dirty="0">
                <a:solidFill>
                  <a:srgbClr val="404040"/>
                </a:solidFill>
                <a:latin typeface="Carlito"/>
                <a:cs typeface="Carlito"/>
              </a:rPr>
              <a:t>information </a:t>
            </a:r>
            <a:r>
              <a:rPr sz="2400" spc="-25" dirty="0">
                <a:solidFill>
                  <a:srgbClr val="404040"/>
                </a:solidFill>
                <a:latin typeface="Carlito"/>
                <a:cs typeface="Carlito"/>
              </a:rPr>
              <a:t>system </a:t>
            </a:r>
            <a:r>
              <a:rPr sz="2400" dirty="0">
                <a:solidFill>
                  <a:srgbClr val="404040"/>
                </a:solidFill>
                <a:latin typeface="Carlito"/>
                <a:cs typeface="Carlito"/>
              </a:rPr>
              <a:t>is meeting </a:t>
            </a:r>
            <a:r>
              <a:rPr sz="2400" spc="-5" dirty="0">
                <a:solidFill>
                  <a:srgbClr val="404040"/>
                </a:solidFill>
                <a:latin typeface="Carlito"/>
                <a:cs typeface="Carlito"/>
              </a:rPr>
              <a:t>established  </a:t>
            </a:r>
            <a:r>
              <a:rPr sz="2400" spc="-10" dirty="0">
                <a:solidFill>
                  <a:srgbClr val="404040"/>
                </a:solidFill>
                <a:latin typeface="Carlito"/>
                <a:cs typeface="Carlito"/>
              </a:rPr>
              <a:t>performance</a:t>
            </a:r>
            <a:r>
              <a:rPr sz="2400" spc="-15" dirty="0">
                <a:solidFill>
                  <a:srgbClr val="404040"/>
                </a:solidFill>
                <a:latin typeface="Carlito"/>
                <a:cs typeface="Carlito"/>
              </a:rPr>
              <a:t> standards</a:t>
            </a:r>
            <a:endParaRPr sz="2400">
              <a:latin typeface="Carlito"/>
              <a:cs typeface="Carlit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3535</TotalTime>
  <Words>1398</Words>
  <Application>Microsoft Office PowerPoint</Application>
  <PresentationFormat>On-screen Show (4:3)</PresentationFormat>
  <Paragraphs>150</Paragraphs>
  <Slides>28</Slides>
  <Notes>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arial</vt:lpstr>
      <vt:lpstr>arial</vt:lpstr>
      <vt:lpstr>Calibri</vt:lpstr>
      <vt:lpstr>Carlito</vt:lpstr>
      <vt:lpstr>inherit</vt:lpstr>
      <vt:lpstr>Museo Sans Rounded</vt:lpstr>
      <vt:lpstr>Open Sans</vt:lpstr>
      <vt:lpstr>Tahoma</vt:lpstr>
      <vt:lpstr>Trebuchet MS</vt:lpstr>
      <vt:lpstr>Verdana</vt:lpstr>
      <vt:lpstr>Office Theme</vt:lpstr>
      <vt:lpstr>PowerPoint Presentation</vt:lpstr>
      <vt:lpstr>Data Vs. Information</vt:lpstr>
      <vt:lpstr>PowerPoint Presentation</vt:lpstr>
      <vt:lpstr>Information Concepts</vt:lpstr>
      <vt:lpstr>PowerPoint Presentation</vt:lpstr>
      <vt:lpstr>PowerPoint Presentation</vt:lpstr>
      <vt:lpstr>An Introduction to  Information  Systems</vt:lpstr>
      <vt:lpstr>What is an Information System?</vt:lpstr>
      <vt:lpstr>PowerPoint Presentation</vt:lpstr>
      <vt:lpstr>The Value of Information</vt:lpstr>
      <vt:lpstr>CBIS (Comp. based Info Sys)</vt:lpstr>
      <vt:lpstr>CBIS (Comp. based Info Sys)</vt:lpstr>
      <vt:lpstr>CBIS</vt:lpstr>
      <vt:lpstr>CBIS</vt:lpstr>
      <vt:lpstr>Business Information Systems</vt:lpstr>
      <vt:lpstr>PowerPoint Presentation</vt:lpstr>
      <vt:lpstr>Electronic and Mobile  Commerce</vt:lpstr>
      <vt:lpstr>PowerPoint Presentation</vt:lpstr>
      <vt:lpstr>PowerPoint Presentation</vt:lpstr>
      <vt:lpstr>PowerPoint Presentation</vt:lpstr>
      <vt:lpstr>ERP</vt:lpstr>
      <vt:lpstr>PowerPoint Presentation</vt:lpstr>
      <vt:lpstr>Remember!</vt:lpstr>
      <vt:lpstr>PowerPoint Presentation</vt:lpstr>
      <vt:lpstr>Information System Activities </vt:lpstr>
      <vt:lpstr>Input of Data Resources</vt:lpstr>
      <vt:lpstr>Process Data into Information</vt:lpstr>
      <vt:lpstr>Output of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INFORMATION SYSTEMS</dc:title>
  <dc:creator>Heather Rivera</dc:creator>
  <cp:lastModifiedBy>Qurrat Ul Ain i220727</cp:lastModifiedBy>
  <cp:revision>8</cp:revision>
  <dcterms:created xsi:type="dcterms:W3CDTF">2022-09-28T16:20:35Z</dcterms:created>
  <dcterms:modified xsi:type="dcterms:W3CDTF">2023-09-28T06:18:06Z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2020-11-13T00:00:00Z</vt:filetime>
  </property>
  <property fmtid="{D5CDD505-2E9C-101B-9397-08002B2CF9AE}" pid="3" name="Creator">
    <vt:lpwstr>Microsoft® PowerPoint® for Microsoft 365</vt:lpwstr>
  </property>
  <property fmtid="{D5CDD505-2E9C-101B-9397-08002B2CF9AE}" pid="4" name="LastSaved">
    <vt:filetime>2022-09-28T00:00:00Z</vt:filetime>
  </property>
</Properties>
</file>