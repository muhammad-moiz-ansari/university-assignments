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g"/>
  <Override PartName="/ppt/notesSlides/notesSlide2.xml" ContentType="application/vnd.openxmlformats-officedocument.presentationml.notesSlide+xml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29"/>
  </p:notesMasterIdLst>
  <p:handoutMasterIdLst>
    <p:handoutMasterId r:id="rId30"/>
  </p:handoutMasterIdLst>
  <p:sldIdLst>
    <p:sldId id="281" r:id="rId5"/>
    <p:sldId id="355" r:id="rId6"/>
    <p:sldId id="354" r:id="rId7"/>
    <p:sldId id="361" r:id="rId8"/>
    <p:sldId id="373" r:id="rId9"/>
    <p:sldId id="353" r:id="rId10"/>
    <p:sldId id="283" r:id="rId11"/>
    <p:sldId id="351" r:id="rId12"/>
    <p:sldId id="356" r:id="rId13"/>
    <p:sldId id="360" r:id="rId14"/>
    <p:sldId id="272" r:id="rId15"/>
    <p:sldId id="284" r:id="rId16"/>
    <p:sldId id="371" r:id="rId17"/>
    <p:sldId id="363" r:id="rId18"/>
    <p:sldId id="372" r:id="rId19"/>
    <p:sldId id="364" r:id="rId20"/>
    <p:sldId id="365" r:id="rId21"/>
    <p:sldId id="357" r:id="rId22"/>
    <p:sldId id="358" r:id="rId23"/>
    <p:sldId id="366" r:id="rId24"/>
    <p:sldId id="367" r:id="rId25"/>
    <p:sldId id="368" r:id="rId26"/>
    <p:sldId id="369" r:id="rId27"/>
    <p:sldId id="37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5" autoAdjust="0"/>
    <p:restoredTop sz="94151" autoAdjust="0"/>
  </p:normalViewPr>
  <p:slideViewPr>
    <p:cSldViewPr snapToGrid="0">
      <p:cViewPr varScale="1">
        <p:scale>
          <a:sx n="59" d="100"/>
          <a:sy n="59" d="100"/>
        </p:scale>
        <p:origin x="996" y="5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47F05-0506-494A-8060-3F395B947DF9}" type="datetimeFigureOut">
              <a:rPr lang="en-US" smtClean="0"/>
              <a:t>12/28/2023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1E857-36B8-43F1-9D87-FE508167BC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C0A13-3F3D-45D4-B17C-1E0ACF36A6FB}" type="datetimeFigureOut">
              <a:rPr lang="en-US" smtClean="0"/>
              <a:t>12/28/2023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AAAB6-A2C6-4A85-A3A1-98EFBA61C9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C0559-D619-4E56-BF6F-3712370C215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41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064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064" y="3355848"/>
            <a:ext cx="6272784" cy="2825496"/>
          </a:xfr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641" y="2183730"/>
            <a:ext cx="11072421" cy="1118937"/>
          </a:xfrm>
        </p:spPr>
        <p:txBody>
          <a:bodyPr>
            <a:noAutofit/>
          </a:bodyPr>
          <a:lstStyle/>
          <a:p>
            <a:pPr marL="230504" marR="224154" algn="ctr">
              <a:lnSpc>
                <a:spcPct val="101400"/>
              </a:lnSpc>
              <a:spcBef>
                <a:spcPts val="30"/>
              </a:spcBef>
            </a:pPr>
            <a:r>
              <a:rPr lang="en-US" sz="5000" b="1" i="1" dirty="0">
                <a:solidFill>
                  <a:srgbClr val="000000"/>
                </a:solidFill>
                <a:latin typeface="Times New Roman"/>
                <a:cs typeface="Times New Roman"/>
              </a:rPr>
              <a:t>Introduction</a:t>
            </a:r>
            <a:r>
              <a:rPr lang="en-US" sz="5000" b="1" i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50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lang="en-US" sz="5000" b="1" i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5000" b="1" i="1" dirty="0">
                <a:solidFill>
                  <a:srgbClr val="000000"/>
                </a:solidFill>
                <a:latin typeface="Times New Roman"/>
                <a:cs typeface="Times New Roman"/>
              </a:rPr>
              <a:t>Information </a:t>
            </a:r>
            <a:r>
              <a:rPr lang="en-US" sz="5000" b="1" i="1" spc="-10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50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br>
              <a:rPr lang="en-US" sz="5000" b="1" dirty="0">
                <a:latin typeface="Times New Roman"/>
                <a:cs typeface="Times New Roman"/>
              </a:rPr>
            </a:br>
            <a:r>
              <a:rPr lang="en-US" sz="5000" b="1" i="1" dirty="0">
                <a:solidFill>
                  <a:srgbClr val="000000"/>
                </a:solidFill>
                <a:latin typeface="Times New Roman"/>
                <a:cs typeface="Times New Roman"/>
              </a:rPr>
              <a:t>Communication	Technologies</a:t>
            </a:r>
            <a:endParaRPr lang="en-US" sz="5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Lab-1</a:t>
            </a: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A85B-2AC6-4E29-B074-AB92F8FA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00" dirty="0">
                <a:latin typeface="+mj-lt"/>
              </a:rPr>
              <a:t>About Course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AB0EB-0819-41F4-99E9-C02FA0DAF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064" y="3355848"/>
            <a:ext cx="6650736" cy="282549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/>
              <a:t>Course Code : </a:t>
            </a:r>
            <a:r>
              <a:rPr lang="en-US" sz="2800" dirty="0"/>
              <a:t>CL1000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/>
              <a:t>Title : </a:t>
            </a:r>
            <a:r>
              <a:rPr lang="en-US" sz="2800" dirty="0"/>
              <a:t>Introduction To Information And Communication  Technologies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/>
              <a:t>Pre-req : </a:t>
            </a:r>
            <a:r>
              <a:rPr lang="en-US" sz="2800" dirty="0"/>
              <a:t>None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/>
              <a:t>Credit hours </a:t>
            </a:r>
            <a:r>
              <a:rPr lang="en-US" sz="2800" dirty="0"/>
              <a:t>: 0 + 1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/>
              <a:t>LMS : </a:t>
            </a:r>
            <a:r>
              <a:rPr lang="en-US" sz="2800" dirty="0"/>
              <a:t>Google Classroom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FA539-2DA6-4197-AA13-56E0C339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2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AF15D27-BB66-4F41-96C3-F583FA0209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10783" r="10783" b="7951"/>
          <a:stretch/>
        </p:blipFill>
        <p:spPr>
          <a:xfrm>
            <a:off x="457200" y="603504"/>
            <a:ext cx="4050792" cy="5134356"/>
          </a:xfrm>
        </p:spPr>
      </p:pic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41C1E-7FB9-4FD0-9195-B9ADFD18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039112"/>
          </a:xfrm>
        </p:spPr>
        <p:txBody>
          <a:bodyPr/>
          <a:lstStyle/>
          <a:p>
            <a:r>
              <a:rPr lang="en-US" sz="2800" b="1" dirty="0"/>
              <a:t>Name : </a:t>
            </a:r>
            <a:r>
              <a:rPr lang="en-US" sz="2800" dirty="0" err="1"/>
              <a:t>Qurrat</a:t>
            </a:r>
            <a:r>
              <a:rPr lang="en-US" sz="2800" dirty="0"/>
              <a:t> Ul Ain</a:t>
            </a:r>
          </a:p>
          <a:p>
            <a:r>
              <a:rPr lang="en-US" sz="2800" b="1" dirty="0"/>
              <a:t>Experience : </a:t>
            </a:r>
            <a:r>
              <a:rPr lang="en-US" sz="2800" dirty="0"/>
              <a:t>4+ years </a:t>
            </a:r>
          </a:p>
          <a:p>
            <a:r>
              <a:rPr lang="en-US" sz="2800" b="1" dirty="0"/>
              <a:t>Email : </a:t>
            </a:r>
            <a:r>
              <a:rPr lang="en-US" sz="2800" dirty="0"/>
              <a:t>i220727@nu.edu.pk</a:t>
            </a:r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4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48" y="451358"/>
            <a:ext cx="10168128" cy="1179576"/>
          </a:xfrm>
        </p:spPr>
        <p:txBody>
          <a:bodyPr/>
          <a:lstStyle/>
          <a:p>
            <a:r>
              <a:rPr lang="en-US" b="1" dirty="0"/>
              <a:t>Class Rules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AD427-A722-2F03-3BC5-F8C09EDCC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30933"/>
            <a:ext cx="11567160" cy="509054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 attendance after 15 minutes.</a:t>
            </a:r>
          </a:p>
          <a:p>
            <a:r>
              <a:rPr lang="en-US" dirty="0"/>
              <a:t>Use of mobile phone is strictly prohibited.</a:t>
            </a:r>
          </a:p>
          <a:p>
            <a:r>
              <a:rPr lang="en-US" dirty="0"/>
              <a:t>Noise/Distribution not allowed.</a:t>
            </a:r>
          </a:p>
          <a:p>
            <a:r>
              <a:rPr lang="en-US" dirty="0"/>
              <a:t>Commenting on peers is strictly forbidden.</a:t>
            </a:r>
          </a:p>
          <a:p>
            <a:r>
              <a:rPr lang="en-US" dirty="0"/>
              <a:t>No Quiz/Assignment retake.</a:t>
            </a:r>
          </a:p>
          <a:p>
            <a:r>
              <a:rPr lang="en-US" dirty="0"/>
              <a:t>No late Submission allowed.</a:t>
            </a:r>
          </a:p>
          <a:p>
            <a:r>
              <a:rPr lang="en-US" dirty="0"/>
              <a:t>Plagiarism in project or midterm/ final  exam may result in F grade in the course.</a:t>
            </a:r>
          </a:p>
          <a:p>
            <a:r>
              <a:rPr lang="en-US" dirty="0"/>
              <a:t>Plagiarism in an assessment may result in  zero marks in the that particular  assessment.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7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48" y="451358"/>
            <a:ext cx="10168128" cy="1179576"/>
          </a:xfrm>
        </p:spPr>
        <p:txBody>
          <a:bodyPr/>
          <a:lstStyle/>
          <a:p>
            <a:r>
              <a:rPr lang="en-US" b="1" dirty="0"/>
              <a:t>Assessments &amp; Grading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AD427-A722-2F03-3BC5-F8C09EDCC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30933"/>
            <a:ext cx="11567160" cy="50905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Grading policy :  </a:t>
            </a:r>
            <a:r>
              <a:rPr lang="en-US" b="1" i="1" dirty="0"/>
              <a:t>Absolute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CCEB23-9CDB-8FD5-89FA-307609AEC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443538"/>
              </p:ext>
            </p:extLst>
          </p:nvPr>
        </p:nvGraphicFramePr>
        <p:xfrm>
          <a:off x="1245108" y="3256547"/>
          <a:ext cx="8922377" cy="2935706"/>
        </p:xfrm>
        <a:graphic>
          <a:graphicData uri="http://schemas.openxmlformats.org/drawingml/2006/table">
            <a:tbl>
              <a:tblPr/>
              <a:tblGrid>
                <a:gridCol w="3222000">
                  <a:extLst>
                    <a:ext uri="{9D8B030D-6E8A-4147-A177-3AD203B41FA5}">
                      <a16:colId xmlns:a16="http://schemas.microsoft.com/office/drawing/2014/main" val="1048418307"/>
                    </a:ext>
                  </a:extLst>
                </a:gridCol>
                <a:gridCol w="2379663">
                  <a:extLst>
                    <a:ext uri="{9D8B030D-6E8A-4147-A177-3AD203B41FA5}">
                      <a16:colId xmlns:a16="http://schemas.microsoft.com/office/drawing/2014/main" val="3583934015"/>
                    </a:ext>
                  </a:extLst>
                </a:gridCol>
                <a:gridCol w="3320714">
                  <a:extLst>
                    <a:ext uri="{9D8B030D-6E8A-4147-A177-3AD203B41FA5}">
                      <a16:colId xmlns:a16="http://schemas.microsoft.com/office/drawing/2014/main" val="1693007780"/>
                    </a:ext>
                  </a:extLst>
                </a:gridCol>
              </a:tblGrid>
              <a:tr h="811226"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Assessment Item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Number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Weight (%)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896609"/>
                  </a:ext>
                </a:extLst>
              </a:tr>
              <a:tr h="424896">
                <a:tc>
                  <a:txBody>
                    <a:bodyPr/>
                    <a:lstStyle/>
                    <a:p>
                      <a:pPr marL="0" marR="0" indent="-1270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Assignments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125464"/>
                  </a:ext>
                </a:extLst>
              </a:tr>
              <a:tr h="424896">
                <a:tc>
                  <a:txBody>
                    <a:bodyPr/>
                    <a:lstStyle/>
                    <a:p>
                      <a:pPr marL="0" marR="0" indent="-1270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Lab Task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988311"/>
                  </a:ext>
                </a:extLst>
              </a:tr>
              <a:tr h="424896">
                <a:tc>
                  <a:txBody>
                    <a:bodyPr/>
                    <a:lstStyle/>
                    <a:p>
                      <a:pPr marL="0" marR="0" indent="-1270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Presentation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840823"/>
                  </a:ext>
                </a:extLst>
              </a:tr>
              <a:tr h="424896">
                <a:tc>
                  <a:txBody>
                    <a:bodyPr/>
                    <a:lstStyle/>
                    <a:p>
                      <a:pPr marL="0" marR="0" indent="-1270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Project (Lab)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880032"/>
                  </a:ext>
                </a:extLst>
              </a:tr>
              <a:tr h="424896">
                <a:tc>
                  <a:txBody>
                    <a:bodyPr/>
                    <a:lstStyle/>
                    <a:p>
                      <a:pPr marL="0" marR="0" indent="-1270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Final Exam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270" algn="ctr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-1828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5143500" algn="l"/>
                          <a:tab pos="5326380" algn="l"/>
                          <a:tab pos="5486400" algn="l"/>
                        </a:tabLst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78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089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spc="-5" dirty="0"/>
              <a:t>What	is</a:t>
            </a:r>
            <a:r>
              <a:rPr lang="en-US" sz="5400" spc="-85" dirty="0"/>
              <a:t> </a:t>
            </a:r>
            <a:r>
              <a:rPr lang="en-US" sz="5400" dirty="0"/>
              <a:t>Computer?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544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US" sz="3200" b="1"/>
              <a:t>Basic Definition: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A00AD-BA03-72FD-32F4-538FF93F0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>
            <a:normAutofit/>
          </a:bodyPr>
          <a:lstStyle/>
          <a:p>
            <a:r>
              <a:rPr lang="en-US" sz="1800"/>
              <a:t>A computer is normally considered as </a:t>
            </a:r>
            <a:r>
              <a:rPr lang="en-US" sz="1800" b="1" i="1"/>
              <a:t>calculating machine </a:t>
            </a:r>
            <a:r>
              <a:rPr lang="en-US" sz="1800"/>
              <a:t>that  can perform arithmetic operation at a very high speed.</a:t>
            </a:r>
          </a:p>
          <a:p>
            <a:r>
              <a:rPr lang="en-US" sz="1800"/>
              <a:t>Computers are electronic devices that is programmed to</a:t>
            </a:r>
          </a:p>
          <a:p>
            <a:r>
              <a:rPr lang="en-US" sz="1800"/>
              <a:t>accept data (input),</a:t>
            </a:r>
          </a:p>
          <a:p>
            <a:r>
              <a:rPr lang="en-US" sz="1800"/>
              <a:t>(process) that data into useful information,</a:t>
            </a:r>
          </a:p>
          <a:p>
            <a:r>
              <a:rPr lang="en-US" sz="1800"/>
              <a:t>produce (output), and then</a:t>
            </a:r>
          </a:p>
          <a:p>
            <a:r>
              <a:rPr lang="en-US" sz="1800"/>
              <a:t>(store) for later use.</a:t>
            </a:r>
          </a:p>
          <a:p>
            <a:endParaRPr lang="en-US" sz="1800"/>
          </a:p>
        </p:txBody>
      </p:sp>
      <p:pic>
        <p:nvPicPr>
          <p:cNvPr id="14" name="Graphic 13" descr="Computer">
            <a:extLst>
              <a:ext uri="{FF2B5EF4-FFF2-40B4-BE49-F238E27FC236}">
                <a16:creationId xmlns:a16="http://schemas.microsoft.com/office/drawing/2014/main" id="{EC3B70B1-E337-8EB1-9B46-5F86297C6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814" y="1329879"/>
            <a:ext cx="4097657" cy="409765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742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>
                <a:solidFill>
                  <a:srgbClr val="FF0000"/>
                </a:solidFill>
              </a:rPr>
              <a:t>But….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2F5C3-209F-5406-B0D7-CCF50963E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08" y="2098920"/>
            <a:ext cx="11244648" cy="4622556"/>
          </a:xfrm>
        </p:spPr>
        <p:txBody>
          <a:bodyPr>
            <a:normAutofit/>
          </a:bodyPr>
          <a:lstStyle/>
          <a:p>
            <a:r>
              <a:rPr lang="en-US" dirty="0"/>
              <a:t>You may already know that you can use a computer </a:t>
            </a:r>
            <a:r>
              <a:rPr lang="en-US" b="1" i="1" dirty="0"/>
              <a:t>to type documents, send email, play games, </a:t>
            </a:r>
            <a:r>
              <a:rPr lang="en-US" dirty="0"/>
              <a:t>and</a:t>
            </a:r>
            <a:r>
              <a:rPr lang="en-US" b="1" i="1" dirty="0"/>
              <a:t> browse the Web.</a:t>
            </a:r>
            <a:endParaRPr lang="en-US" dirty="0"/>
          </a:p>
          <a:p>
            <a:r>
              <a:rPr lang="en-US" dirty="0"/>
              <a:t>You can also use it to edit or create spreadsheets, presentations,  and even </a:t>
            </a:r>
            <a:r>
              <a:rPr lang="en-US" b="1" i="1" dirty="0"/>
              <a:t>videos.</a:t>
            </a:r>
            <a:endParaRPr lang="en-US" dirty="0"/>
          </a:p>
          <a:p>
            <a:r>
              <a:rPr lang="en-US" dirty="0"/>
              <a:t>Computers come in many </a:t>
            </a:r>
            <a:r>
              <a:rPr lang="en-US" b="1" i="1" dirty="0"/>
              <a:t>shapes</a:t>
            </a:r>
            <a:r>
              <a:rPr lang="en-US" dirty="0"/>
              <a:t> and </a:t>
            </a:r>
            <a:r>
              <a:rPr lang="en-US" b="1" i="1" dirty="0"/>
              <a:t>sizes,</a:t>
            </a:r>
            <a:r>
              <a:rPr lang="en-US" dirty="0"/>
              <a:t> and they perform many  different functions in our daily lives. When you withdraw cash from an  ATM, scan groceries at the store, or use a calculator, </a:t>
            </a:r>
            <a:r>
              <a:rPr lang="en-US" b="1" i="1" dirty="0">
                <a:solidFill>
                  <a:srgbClr val="FF0000"/>
                </a:solidFill>
              </a:rPr>
              <a:t>you're using a  type of computer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6353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0D90EFC-E50C-A8D4-0DDD-32160E0B9838}"/>
              </a:ext>
            </a:extLst>
          </p:cNvPr>
          <p:cNvPicPr/>
          <p:nvPr/>
        </p:nvPicPr>
        <p:blipFill rotWithShape="1">
          <a:blip r:embed="rId2" cstate="print"/>
          <a:srcRect t="20606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EB919-4F65-4B5E-ADF3-272AD780E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/>
              <a:t>Someone</a:t>
            </a:r>
            <a:r>
              <a:rPr lang="en-US" sz="4400" spc="-30"/>
              <a:t> </a:t>
            </a:r>
            <a:r>
              <a:rPr lang="en-US" sz="4400"/>
              <a:t>who</a:t>
            </a:r>
            <a:r>
              <a:rPr lang="en-US" sz="4400" spc="-10"/>
              <a:t> </a:t>
            </a:r>
            <a:r>
              <a:rPr lang="en-US" sz="4400"/>
              <a:t>communicates</a:t>
            </a:r>
            <a:r>
              <a:rPr lang="en-US" sz="4400" spc="-50"/>
              <a:t> </a:t>
            </a:r>
            <a:r>
              <a:rPr lang="en-US" sz="4400"/>
              <a:t>/interacts</a:t>
            </a:r>
            <a:r>
              <a:rPr lang="en-US" sz="4400" spc="-35"/>
              <a:t> </a:t>
            </a:r>
            <a:r>
              <a:rPr lang="en-US" sz="4400"/>
              <a:t>with</a:t>
            </a:r>
            <a:r>
              <a:rPr lang="en-US" sz="4400" spc="-10"/>
              <a:t> </a:t>
            </a:r>
            <a:r>
              <a:rPr lang="en-US" sz="4400"/>
              <a:t>a</a:t>
            </a:r>
            <a:r>
              <a:rPr lang="en-US" sz="4400" spc="-15"/>
              <a:t> </a:t>
            </a:r>
            <a:r>
              <a:rPr lang="en-US" sz="4400"/>
              <a:t>computer.</a:t>
            </a:r>
            <a:br>
              <a:rPr lang="en-US" sz="4400"/>
            </a:br>
            <a:endParaRPr lang="en-US" sz="4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48DDF-62CA-455C-A7CB-AB86D3378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>
                <a:solidFill>
                  <a:schemeClr val="tx1"/>
                </a:solidFill>
              </a:rPr>
              <a:t>WHO IS USER?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FBF44-1F57-4664-8847-9214C41B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58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3B0FAD77-BC9B-4F5F-94D5-AA246F14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/>
              <a:t>DATA &amp; INFORMATION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CFE66B6-B6A8-4238-9AF9-89E257E29B3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41248" y="2252870"/>
            <a:ext cx="5993892" cy="356025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highlight>
                  <a:srgbClr val="FFFF00"/>
                </a:highlight>
              </a:rPr>
              <a:t>DATA</a:t>
            </a:r>
          </a:p>
          <a:p>
            <a:pPr marL="241300" indent="-228600" algn="l">
              <a:lnSpc>
                <a:spcPct val="110000"/>
              </a:lnSpc>
              <a:spcBef>
                <a:spcPts val="1600"/>
              </a:spcBef>
              <a:buFont typeface="Arial" panose="020B0604020202020204" pitchFamily="34" charset="0"/>
              <a:buChar char="•"/>
              <a:tabLst>
                <a:tab pos="240665" algn="l"/>
                <a:tab pos="241935" algn="l"/>
              </a:tabLst>
            </a:pPr>
            <a:r>
              <a:rPr lang="en-US" sz="1800"/>
              <a:t>A</a:t>
            </a:r>
            <a:r>
              <a:rPr lang="en-US" sz="1800" spc="-15"/>
              <a:t> </a:t>
            </a:r>
            <a:r>
              <a:rPr lang="en-US" sz="1800"/>
              <a:t>collection</a:t>
            </a:r>
            <a:r>
              <a:rPr lang="en-US" sz="1800" spc="-15"/>
              <a:t> </a:t>
            </a:r>
            <a:r>
              <a:rPr lang="en-US" sz="1800"/>
              <a:t>of</a:t>
            </a:r>
            <a:r>
              <a:rPr lang="en-US" sz="1800" spc="-25"/>
              <a:t> </a:t>
            </a:r>
            <a:r>
              <a:rPr lang="en-US" sz="1800"/>
              <a:t>raw</a:t>
            </a:r>
            <a:r>
              <a:rPr lang="en-US" sz="1800" spc="-15"/>
              <a:t> </a:t>
            </a:r>
            <a:r>
              <a:rPr lang="en-US" sz="1800"/>
              <a:t>facts</a:t>
            </a:r>
            <a:r>
              <a:rPr lang="en-US" sz="1800" spc="-25"/>
              <a:t> </a:t>
            </a:r>
            <a:r>
              <a:rPr lang="en-US" sz="1800"/>
              <a:t>and</a:t>
            </a:r>
            <a:r>
              <a:rPr lang="en-US" sz="1800" spc="-20"/>
              <a:t> </a:t>
            </a:r>
            <a:r>
              <a:rPr lang="en-US" sz="1800"/>
              <a:t>figures</a:t>
            </a:r>
            <a:r>
              <a:rPr lang="en-US" sz="1800" spc="-25"/>
              <a:t> </a:t>
            </a:r>
            <a:r>
              <a:rPr lang="en-US" sz="1800"/>
              <a:t>is</a:t>
            </a:r>
            <a:r>
              <a:rPr lang="en-US" sz="1800" spc="-15"/>
              <a:t> </a:t>
            </a:r>
            <a:r>
              <a:rPr lang="en-US" sz="1800"/>
              <a:t>called</a:t>
            </a:r>
            <a:r>
              <a:rPr lang="en-US" sz="1800" spc="-5"/>
              <a:t> </a:t>
            </a:r>
            <a:r>
              <a:rPr lang="en-US" sz="1800"/>
              <a:t>data.</a:t>
            </a:r>
          </a:p>
          <a:p>
            <a:pPr marL="241300" indent="-228600" algn="l">
              <a:lnSpc>
                <a:spcPct val="110000"/>
              </a:lnSpc>
              <a:spcBef>
                <a:spcPts val="1605"/>
              </a:spcBef>
              <a:buFont typeface="Arial" panose="020B0604020202020204" pitchFamily="34" charset="0"/>
              <a:buChar char="•"/>
              <a:tabLst>
                <a:tab pos="240665" algn="l"/>
                <a:tab pos="241935" algn="l"/>
              </a:tabLst>
            </a:pPr>
            <a:r>
              <a:rPr lang="en-US" sz="1800"/>
              <a:t>It</a:t>
            </a:r>
            <a:r>
              <a:rPr lang="en-US" sz="1800" spc="-35"/>
              <a:t> </a:t>
            </a:r>
            <a:r>
              <a:rPr lang="en-US" sz="1800"/>
              <a:t>may</a:t>
            </a:r>
            <a:r>
              <a:rPr lang="en-US" sz="1800" spc="-10"/>
              <a:t> </a:t>
            </a:r>
            <a:r>
              <a:rPr lang="en-US" sz="1800"/>
              <a:t>consist</a:t>
            </a:r>
            <a:r>
              <a:rPr lang="en-US" sz="1800" spc="-30"/>
              <a:t> </a:t>
            </a:r>
            <a:r>
              <a:rPr lang="en-US" sz="1800"/>
              <a:t>of</a:t>
            </a:r>
            <a:r>
              <a:rPr lang="en-US" sz="1800" spc="-20"/>
              <a:t> </a:t>
            </a:r>
            <a:r>
              <a:rPr lang="en-US" sz="1800"/>
              <a:t>numbers,</a:t>
            </a:r>
            <a:r>
              <a:rPr lang="en-US" sz="1800" spc="-55"/>
              <a:t> </a:t>
            </a:r>
            <a:r>
              <a:rPr lang="en-US" sz="1800"/>
              <a:t>characters,</a:t>
            </a:r>
            <a:r>
              <a:rPr lang="en-US" sz="1800" spc="-55"/>
              <a:t> </a:t>
            </a:r>
            <a:r>
              <a:rPr lang="en-US" sz="1800"/>
              <a:t>symbols</a:t>
            </a:r>
            <a:r>
              <a:rPr lang="en-US" sz="1800" spc="-15"/>
              <a:t> </a:t>
            </a:r>
            <a:r>
              <a:rPr lang="en-US" sz="1800"/>
              <a:t>etc.</a:t>
            </a:r>
          </a:p>
          <a:p>
            <a:pPr marL="12065" indent="-228600" algn="l">
              <a:lnSpc>
                <a:spcPct val="110000"/>
              </a:lnSpc>
              <a:spcBef>
                <a:spcPts val="1605"/>
              </a:spcBef>
              <a:buFont typeface="Arial" panose="020B0604020202020204" pitchFamily="34" charset="0"/>
              <a:buChar char="•"/>
              <a:tabLst>
                <a:tab pos="240665" algn="l"/>
                <a:tab pos="241935" algn="l"/>
              </a:tabLst>
            </a:pPr>
            <a:r>
              <a:rPr lang="en-US" sz="1800" b="1">
                <a:highlight>
                  <a:srgbClr val="FFFF00"/>
                </a:highlight>
              </a:rPr>
              <a:t>INFORMATION</a:t>
            </a:r>
          </a:p>
          <a:p>
            <a:pPr marL="241300" indent="-228600" algn="l">
              <a:lnSpc>
                <a:spcPct val="110000"/>
              </a:lnSpc>
              <a:spcBef>
                <a:spcPts val="1605"/>
              </a:spcBef>
              <a:buFont typeface="Arial" panose="020B0604020202020204" pitchFamily="34" charset="0"/>
              <a:buChar char="•"/>
              <a:tabLst>
                <a:tab pos="240665" algn="l"/>
                <a:tab pos="241935" algn="l"/>
              </a:tabLst>
            </a:pPr>
            <a:r>
              <a:rPr lang="en-US" sz="1800"/>
              <a:t>Processed</a:t>
            </a:r>
            <a:r>
              <a:rPr lang="en-US" sz="1800" spc="-60"/>
              <a:t> </a:t>
            </a:r>
            <a:r>
              <a:rPr lang="en-US" sz="1800"/>
              <a:t>data</a:t>
            </a:r>
            <a:r>
              <a:rPr lang="en-US" sz="1800" spc="-25"/>
              <a:t> </a:t>
            </a:r>
            <a:r>
              <a:rPr lang="en-US" sz="1800"/>
              <a:t>is</a:t>
            </a:r>
            <a:r>
              <a:rPr lang="en-US" sz="1800" spc="-5"/>
              <a:t> </a:t>
            </a:r>
            <a:r>
              <a:rPr lang="en-US" sz="1800"/>
              <a:t>called</a:t>
            </a:r>
            <a:r>
              <a:rPr lang="en-US" sz="1800" spc="-15"/>
              <a:t> </a:t>
            </a:r>
            <a:r>
              <a:rPr lang="en-US" sz="1800"/>
              <a:t>information.</a:t>
            </a:r>
          </a:p>
          <a:p>
            <a:pPr marL="241300" indent="-228600" algn="l">
              <a:lnSpc>
                <a:spcPct val="110000"/>
              </a:lnSpc>
              <a:spcBef>
                <a:spcPts val="1600"/>
              </a:spcBef>
              <a:buFont typeface="Arial" panose="020B0604020202020204" pitchFamily="34" charset="0"/>
              <a:buChar char="•"/>
              <a:tabLst>
                <a:tab pos="240665" algn="l"/>
                <a:tab pos="241935" algn="l"/>
              </a:tabLst>
            </a:pPr>
            <a:r>
              <a:rPr lang="en-US" sz="1800"/>
              <a:t>It</a:t>
            </a:r>
            <a:r>
              <a:rPr lang="en-US" sz="1800" spc="-40"/>
              <a:t> </a:t>
            </a:r>
            <a:r>
              <a:rPr lang="en-US" sz="1800"/>
              <a:t>is</a:t>
            </a:r>
            <a:r>
              <a:rPr lang="en-US" sz="1800" spc="-10"/>
              <a:t> </a:t>
            </a:r>
            <a:r>
              <a:rPr lang="en-US" sz="1800"/>
              <a:t>more</a:t>
            </a:r>
            <a:r>
              <a:rPr lang="en-US" sz="1800" spc="-35"/>
              <a:t> </a:t>
            </a:r>
            <a:r>
              <a:rPr lang="en-US" sz="1800"/>
              <a:t>meaningful</a:t>
            </a:r>
            <a:r>
              <a:rPr lang="en-US" sz="1800" spc="-30"/>
              <a:t> </a:t>
            </a:r>
            <a:r>
              <a:rPr lang="en-US" sz="1800"/>
              <a:t>than</a:t>
            </a:r>
            <a:r>
              <a:rPr lang="en-US" sz="1800" spc="-40"/>
              <a:t> </a:t>
            </a:r>
            <a:r>
              <a:rPr lang="en-US" sz="1800"/>
              <a:t>data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BB30B9FC-B918-F614-6967-95AAF4703EF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2"/>
          <a:srcRect t="5521" b="5521"/>
          <a:stretch>
            <a:fillRect/>
          </a:stretch>
        </p:blipFill>
        <p:spPr>
          <a:xfrm>
            <a:off x="7679814" y="2013519"/>
            <a:ext cx="4097657" cy="2730377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FF618EE-5A1C-450F-9B69-114AD205798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861364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130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1886-AA43-422E-B193-F1F3DF7D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95630"/>
            <a:ext cx="10168128" cy="1179576"/>
          </a:xfrm>
        </p:spPr>
        <p:txBody>
          <a:bodyPr/>
          <a:lstStyle/>
          <a:p>
            <a:r>
              <a:rPr lang="en-US" spc="-5" dirty="0"/>
              <a:t>Data</a:t>
            </a:r>
            <a:r>
              <a:rPr lang="en-US" spc="5" dirty="0"/>
              <a:t> </a:t>
            </a:r>
            <a:r>
              <a:rPr lang="en-US" spc="-5" dirty="0"/>
              <a:t>&amp;</a:t>
            </a:r>
            <a:r>
              <a:rPr lang="en-US" spc="10" dirty="0"/>
              <a:t> </a:t>
            </a:r>
            <a:r>
              <a:rPr lang="en-US" spc="-5" dirty="0"/>
              <a:t>Information</a:t>
            </a:r>
            <a:r>
              <a:rPr lang="en-US" spc="25" dirty="0"/>
              <a:t> </a:t>
            </a:r>
            <a:r>
              <a:rPr lang="en-US" spc="-5" dirty="0"/>
              <a:t>(Cont..)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BD4F9CE-26BB-4441-99A7-B6599E9C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B85E71C1-E0DC-7D42-4D5C-16E20EFAF33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7784" y="2382350"/>
            <a:ext cx="10616431" cy="388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30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507" y="646366"/>
            <a:ext cx="10168128" cy="1179576"/>
          </a:xfrm>
        </p:spPr>
        <p:txBody>
          <a:bodyPr/>
          <a:lstStyle/>
          <a:p>
            <a:r>
              <a:rPr lang="en-US" b="1" dirty="0"/>
              <a:t>Software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7F57BF9-5B99-4D8E-9855-18C6FD7BB0E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115568" y="2735438"/>
            <a:ext cx="4937760" cy="823912"/>
          </a:xfrm>
        </p:spPr>
        <p:txBody>
          <a:bodyPr>
            <a:normAutofit/>
          </a:bodyPr>
          <a:lstStyle/>
          <a:p>
            <a:r>
              <a:rPr lang="en-US" sz="2800" dirty="0"/>
              <a:t>Application Software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91D156-FB7C-4C78-B73A-E34105B8EEC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45936" y="2746002"/>
            <a:ext cx="4937760" cy="823912"/>
          </a:xfrm>
        </p:spPr>
        <p:txBody>
          <a:bodyPr>
            <a:normAutofit/>
          </a:bodyPr>
          <a:lstStyle/>
          <a:p>
            <a:r>
              <a:rPr lang="en-US" sz="2800" dirty="0"/>
              <a:t>System Software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D88E8B5-C20C-47A1-9C22-B545284DA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081" y="3750123"/>
            <a:ext cx="5435490" cy="2968512"/>
          </a:xfrm>
        </p:spPr>
        <p:txBody>
          <a:bodyPr>
            <a:normAutofit lnSpcReduction="10000"/>
          </a:bodyPr>
          <a:lstStyle/>
          <a:p>
            <a:pPr marL="12700">
              <a:lnSpc>
                <a:spcPct val="100000"/>
              </a:lnSpc>
            </a:pPr>
            <a:r>
              <a:rPr lang="en-US" sz="3200" dirty="0"/>
              <a:t>Uses</a:t>
            </a:r>
            <a:r>
              <a:rPr lang="en-US" sz="3200" spc="-15" dirty="0"/>
              <a:t> </a:t>
            </a:r>
            <a:r>
              <a:rPr lang="en-US" sz="3200" spc="-5" dirty="0"/>
              <a:t>the</a:t>
            </a:r>
            <a:r>
              <a:rPr lang="en-US" sz="3200" dirty="0"/>
              <a:t> computer</a:t>
            </a:r>
            <a:r>
              <a:rPr lang="en-US" sz="3200" spc="-20" dirty="0"/>
              <a:t> </a:t>
            </a:r>
            <a:r>
              <a:rPr lang="en-US" sz="3200" dirty="0"/>
              <a:t>system</a:t>
            </a:r>
            <a:r>
              <a:rPr lang="en-US" sz="3200" spc="-10" dirty="0"/>
              <a:t> </a:t>
            </a:r>
            <a:r>
              <a:rPr lang="en-US" sz="3200" dirty="0"/>
              <a:t>to perform</a:t>
            </a:r>
            <a:r>
              <a:rPr lang="en-US" sz="3200" spc="-30" dirty="0"/>
              <a:t> </a:t>
            </a:r>
            <a:r>
              <a:rPr lang="en-US" sz="3200" spc="-5" dirty="0"/>
              <a:t>special</a:t>
            </a:r>
            <a:r>
              <a:rPr lang="en-US" sz="3200" spc="-10" dirty="0"/>
              <a:t> </a:t>
            </a:r>
            <a:r>
              <a:rPr lang="en-US" sz="3200" dirty="0"/>
              <a:t>functions</a:t>
            </a:r>
            <a:r>
              <a:rPr lang="en-US" sz="3200" spc="-30" dirty="0"/>
              <a:t> </a:t>
            </a:r>
            <a:r>
              <a:rPr lang="en-US" sz="3200" dirty="0"/>
              <a:t>or provide </a:t>
            </a:r>
            <a:r>
              <a:rPr lang="en-US" sz="3200" spc="-5" dirty="0"/>
              <a:t>entertainment </a:t>
            </a:r>
            <a:r>
              <a:rPr lang="en-US" sz="3200" dirty="0"/>
              <a:t>functions beyond the basic </a:t>
            </a:r>
            <a:r>
              <a:rPr lang="en-US" sz="3200" spc="-5" dirty="0"/>
              <a:t>operation </a:t>
            </a:r>
            <a:r>
              <a:rPr lang="en-US" sz="3200" dirty="0"/>
              <a:t>of the </a:t>
            </a:r>
            <a:r>
              <a:rPr lang="en-US" sz="3200" spc="-5" dirty="0"/>
              <a:t>computer </a:t>
            </a:r>
            <a:r>
              <a:rPr lang="en-US" sz="3200" spc="-635" dirty="0"/>
              <a:t> </a:t>
            </a:r>
            <a:r>
              <a:rPr lang="en-US" sz="3200" spc="-5" dirty="0"/>
              <a:t>itself.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205B217-8183-4076-A009-A93B01FC3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8039" y="3661438"/>
            <a:ext cx="5287125" cy="2968511"/>
          </a:xfrm>
        </p:spPr>
        <p:txBody>
          <a:bodyPr>
            <a:normAutofit fontScale="92500" lnSpcReduction="10000"/>
          </a:bodyPr>
          <a:lstStyle/>
          <a:p>
            <a:pPr marL="12700" marR="234950">
              <a:lnSpc>
                <a:spcPct val="99200"/>
              </a:lnSpc>
              <a:spcBef>
                <a:spcPts val="30"/>
              </a:spcBef>
            </a:pPr>
            <a:r>
              <a:rPr lang="en-US" sz="3200" dirty="0"/>
              <a:t>It</a:t>
            </a:r>
            <a:r>
              <a:rPr lang="en-US" sz="3200" spc="-10" dirty="0"/>
              <a:t> </a:t>
            </a:r>
            <a:r>
              <a:rPr lang="en-US" sz="3200" spc="-5" dirty="0"/>
              <a:t>directly</a:t>
            </a:r>
            <a:r>
              <a:rPr lang="en-US" sz="3200" spc="5" dirty="0"/>
              <a:t> </a:t>
            </a:r>
            <a:r>
              <a:rPr lang="en-US" sz="3200" spc="-5" dirty="0"/>
              <a:t>operates</a:t>
            </a:r>
            <a:r>
              <a:rPr lang="en-US" sz="3200" spc="-15" dirty="0"/>
              <a:t> </a:t>
            </a:r>
            <a:r>
              <a:rPr lang="en-US" sz="3200" dirty="0"/>
              <a:t>the</a:t>
            </a:r>
            <a:r>
              <a:rPr lang="en-US" sz="3200" spc="5" dirty="0"/>
              <a:t> </a:t>
            </a:r>
            <a:r>
              <a:rPr lang="en-US" sz="3200" dirty="0"/>
              <a:t>Computer</a:t>
            </a:r>
            <a:r>
              <a:rPr lang="en-US" sz="3200" spc="-15" dirty="0"/>
              <a:t> </a:t>
            </a:r>
            <a:r>
              <a:rPr lang="en-US" sz="3200" dirty="0"/>
              <a:t>Hardware,</a:t>
            </a:r>
            <a:r>
              <a:rPr lang="en-US" sz="3200" spc="-50" dirty="0"/>
              <a:t> </a:t>
            </a:r>
            <a:r>
              <a:rPr lang="en-US" sz="3200" dirty="0"/>
              <a:t>to</a:t>
            </a:r>
            <a:r>
              <a:rPr lang="en-US" sz="3200" spc="5" dirty="0"/>
              <a:t> </a:t>
            </a:r>
            <a:r>
              <a:rPr lang="en-US" sz="3200" dirty="0"/>
              <a:t>provide</a:t>
            </a:r>
            <a:r>
              <a:rPr lang="en-US" sz="3200" spc="-25" dirty="0"/>
              <a:t> </a:t>
            </a:r>
            <a:r>
              <a:rPr lang="en-US" sz="3200" dirty="0"/>
              <a:t>basic</a:t>
            </a:r>
            <a:r>
              <a:rPr lang="en-US" sz="3200" spc="-5" dirty="0"/>
              <a:t> </a:t>
            </a:r>
            <a:r>
              <a:rPr lang="en-US" sz="3200" dirty="0"/>
              <a:t>functionality </a:t>
            </a:r>
            <a:r>
              <a:rPr lang="en-US" sz="3200" spc="-640" dirty="0"/>
              <a:t> </a:t>
            </a:r>
            <a:r>
              <a:rPr lang="en-US" sz="3200" dirty="0"/>
              <a:t>needed by </a:t>
            </a:r>
            <a:r>
              <a:rPr lang="en-US" sz="3200" spc="-5" dirty="0"/>
              <a:t>users </a:t>
            </a:r>
            <a:r>
              <a:rPr lang="en-US" sz="3200" dirty="0"/>
              <a:t>and other software, and to provide a </a:t>
            </a:r>
            <a:r>
              <a:rPr lang="en-US" sz="3200" spc="-5" dirty="0"/>
              <a:t>platform </a:t>
            </a:r>
            <a:r>
              <a:rPr lang="en-US" sz="3200" dirty="0"/>
              <a:t>for running </a:t>
            </a:r>
            <a:r>
              <a:rPr lang="en-US" sz="3200" spc="-635" dirty="0"/>
              <a:t> </a:t>
            </a:r>
            <a:r>
              <a:rPr lang="en-US" sz="3200" spc="-5" dirty="0"/>
              <a:t>application</a:t>
            </a:r>
            <a:r>
              <a:rPr lang="en-US" sz="3200" spc="-10" dirty="0"/>
              <a:t> </a:t>
            </a:r>
            <a:r>
              <a:rPr lang="en-US" sz="3200" spc="-5" dirty="0"/>
              <a:t>software.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A06BCBE-7F1D-4794-A964-0B03C617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88039" y="3661438"/>
            <a:ext cx="4795657" cy="3060037"/>
          </a:xfrm>
        </p:spPr>
        <p:txBody>
          <a:bodyPr/>
          <a:lstStyle/>
          <a:p>
            <a:fld id="{A65A5C87-DF58-40C8-B092-1DE63DB4547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1600B706-3169-6D8C-4A76-35FA99F037E2}"/>
              </a:ext>
            </a:extLst>
          </p:cNvPr>
          <p:cNvSpPr txBox="1">
            <a:spLocks/>
          </p:cNvSpPr>
          <p:nvPr/>
        </p:nvSpPr>
        <p:spPr>
          <a:xfrm>
            <a:off x="973465" y="2187700"/>
            <a:ext cx="10452334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/>
              <a:t>Its a collection of </a:t>
            </a:r>
            <a:r>
              <a:rPr lang="en-US" sz="2800" dirty="0"/>
              <a:t>computer instructions </a:t>
            </a:r>
            <a:r>
              <a:rPr lang="en-US" sz="2800" b="0" dirty="0"/>
              <a:t>that tell the computer how to  work.</a:t>
            </a:r>
          </a:p>
        </p:txBody>
      </p:sp>
    </p:spTree>
    <p:extLst>
      <p:ext uri="{BB962C8B-B14F-4D97-AF65-F5344CB8AC3E}">
        <p14:creationId xmlns:p14="http://schemas.microsoft.com/office/powerpoint/2010/main" val="2130665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spc="-5" dirty="0"/>
              <a:t>COTS vs Custom built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61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5" dirty="0"/>
              <a:t>COTS vs Custom built software</a:t>
            </a:r>
            <a:endParaRPr lang="en-US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A00AD-BA03-72FD-32F4-538FF93F0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304" y="2185945"/>
            <a:ext cx="10346436" cy="4251960"/>
          </a:xfrm>
        </p:spPr>
        <p:txBody>
          <a:bodyPr>
            <a:norm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r>
              <a:rPr lang="en-US" sz="2800" dirty="0">
                <a:latin typeface="Arial"/>
                <a:cs typeface="Arial"/>
              </a:rPr>
              <a:t>COTS software is designed to meet the generic needs of various business processes.</a:t>
            </a:r>
          </a:p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endParaRPr lang="en-US" dirty="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endParaRPr lang="en-US" sz="2800" dirty="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r>
              <a:rPr lang="en-US" dirty="0">
                <a:latin typeface="Arial MT"/>
                <a:cs typeface="Arial MT"/>
              </a:rPr>
              <a:t>C</a:t>
            </a:r>
            <a:r>
              <a:rPr lang="en-US" sz="2800" dirty="0">
                <a:latin typeface="Arial MT"/>
                <a:cs typeface="Arial MT"/>
              </a:rPr>
              <a:t>ustom built software applications are built to effectively cater to specific needs for your business—</a:t>
            </a:r>
            <a:r>
              <a:rPr lang="en-US" sz="2800" b="1" dirty="0">
                <a:latin typeface="Arial MT"/>
                <a:cs typeface="Arial MT"/>
              </a:rPr>
              <a:t>and as your business grows.</a:t>
            </a:r>
          </a:p>
        </p:txBody>
      </p:sp>
    </p:spTree>
    <p:extLst>
      <p:ext uri="{BB962C8B-B14F-4D97-AF65-F5344CB8AC3E}">
        <p14:creationId xmlns:p14="http://schemas.microsoft.com/office/powerpoint/2010/main" val="1911435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5" dirty="0"/>
              <a:t>Information</a:t>
            </a:r>
            <a:r>
              <a:rPr lang="en-US" b="1" spc="10" dirty="0"/>
              <a:t> </a:t>
            </a:r>
            <a:r>
              <a:rPr lang="en-US" b="1" spc="-5" dirty="0"/>
              <a:t>Technology</a:t>
            </a:r>
            <a:endParaRPr lang="en-US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A00AD-BA03-72FD-32F4-538FF93F0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304" y="2185945"/>
            <a:ext cx="10346436" cy="4251960"/>
          </a:xfrm>
        </p:spPr>
        <p:txBody>
          <a:bodyPr>
            <a:norm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r>
              <a:rPr lang="en-US" sz="2800" b="1" dirty="0">
                <a:latin typeface="Arial"/>
                <a:cs typeface="Arial"/>
              </a:rPr>
              <a:t>Information</a:t>
            </a:r>
            <a:r>
              <a:rPr lang="en-US" sz="2800" b="1" spc="-50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is data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that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is organized,</a:t>
            </a:r>
            <a:r>
              <a:rPr lang="en-US" sz="2800" spc="-5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meaningful,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and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useful.</a:t>
            </a:r>
          </a:p>
          <a:p>
            <a:pPr marL="241300" indent="-229235">
              <a:lnSpc>
                <a:spcPct val="100000"/>
              </a:lnSpc>
              <a:spcBef>
                <a:spcPts val="1800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r>
              <a:rPr lang="en-US" sz="2800" b="1" dirty="0">
                <a:latin typeface="Arial"/>
                <a:cs typeface="Arial"/>
              </a:rPr>
              <a:t>Information</a:t>
            </a:r>
            <a:r>
              <a:rPr lang="en-US" sz="2800" b="1" spc="-40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technology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is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 </a:t>
            </a:r>
            <a:r>
              <a:rPr lang="en-US" sz="2800" dirty="0">
                <a:latin typeface="Arial MT"/>
                <a:cs typeface="Arial MT"/>
              </a:rPr>
              <a:t>use</a:t>
            </a:r>
            <a:r>
              <a:rPr lang="en-US" sz="2800" spc="-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of</a:t>
            </a:r>
            <a:r>
              <a:rPr lang="en-US" sz="2800" spc="-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systems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(especially</a:t>
            </a:r>
            <a:r>
              <a:rPr lang="en-US" sz="2800" spc="-3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computers</a:t>
            </a:r>
            <a:r>
              <a:rPr lang="en-US" sz="2800" spc="-4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and</a:t>
            </a:r>
          </a:p>
          <a:p>
            <a:pPr marL="241300">
              <a:lnSpc>
                <a:spcPct val="100000"/>
              </a:lnSpc>
              <a:spcBef>
                <a:spcPts val="190"/>
              </a:spcBef>
            </a:pPr>
            <a:r>
              <a:rPr lang="en-US" sz="2800" dirty="0">
                <a:latin typeface="Arial MT"/>
                <a:cs typeface="Arial MT"/>
              </a:rPr>
              <a:t>telecommunications)</a:t>
            </a:r>
            <a:r>
              <a:rPr lang="en-US" sz="2800" spc="-5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for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storing,</a:t>
            </a:r>
            <a:r>
              <a:rPr lang="en-US" sz="2800" spc="-4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retrieving,</a:t>
            </a:r>
            <a:r>
              <a:rPr lang="en-US" sz="2800" spc="-3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and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sending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information.</a:t>
            </a:r>
          </a:p>
          <a:p>
            <a:pPr marL="241300" indent="-229235">
              <a:lnSpc>
                <a:spcPct val="100000"/>
              </a:lnSpc>
              <a:spcBef>
                <a:spcPts val="1695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r>
              <a:rPr lang="en-US" sz="2800" dirty="0">
                <a:latin typeface="Arial MT"/>
                <a:cs typeface="Arial MT"/>
              </a:rPr>
              <a:t>Computer</a:t>
            </a:r>
            <a:r>
              <a:rPr lang="en-US" sz="2800" spc="-4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is a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very</a:t>
            </a:r>
            <a:r>
              <a:rPr lang="en-US" sz="2800" spc="-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important</a:t>
            </a:r>
            <a:r>
              <a:rPr lang="en-US" sz="2800" spc="-4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component</a:t>
            </a:r>
            <a:r>
              <a:rPr lang="en-US" sz="2800" spc="-4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of</a:t>
            </a:r>
            <a:r>
              <a:rPr lang="en-US" sz="2800" spc="-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information</a:t>
            </a:r>
            <a:r>
              <a:rPr lang="en-US" sz="2800" spc="-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2983360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21FD0E8-41A8-251A-97FC-995A58E076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9473" y="892009"/>
            <a:ext cx="9420022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Mechanical Computers</a:t>
            </a:r>
            <a:r>
              <a:rPr b="1" spc="35" dirty="0"/>
              <a:t> </a:t>
            </a:r>
            <a:r>
              <a:rPr b="1" spc="-5" dirty="0"/>
              <a:t>(1600</a:t>
            </a:r>
            <a:r>
              <a:rPr b="1" spc="20" dirty="0"/>
              <a:t> </a:t>
            </a:r>
            <a:r>
              <a:rPr b="1" spc="-5" dirty="0"/>
              <a:t>–</a:t>
            </a:r>
            <a:r>
              <a:rPr b="1" dirty="0"/>
              <a:t> 1900)</a:t>
            </a: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B4138D18-E284-8240-52BB-E9FEF857B5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2422263"/>
            <a:ext cx="5003292" cy="2133982"/>
          </a:xfrm>
          <a:prstGeom prst="rect">
            <a:avLst/>
          </a:prstGeom>
        </p:spPr>
      </p:pic>
      <p:pic>
        <p:nvPicPr>
          <p:cNvPr id="13" name="object 4">
            <a:extLst>
              <a:ext uri="{FF2B5EF4-FFF2-40B4-BE49-F238E27FC236}">
                <a16:creationId xmlns:a16="http://schemas.microsoft.com/office/drawing/2014/main" id="{7161AC40-A26C-4770-769C-79A9ED24EE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694" y="2550953"/>
            <a:ext cx="4105146" cy="1797814"/>
          </a:xfrm>
          <a:prstGeom prst="rect">
            <a:avLst/>
          </a:prstGeom>
        </p:spPr>
      </p:pic>
      <p:pic>
        <p:nvPicPr>
          <p:cNvPr id="14" name="object 5">
            <a:extLst>
              <a:ext uri="{FF2B5EF4-FFF2-40B4-BE49-F238E27FC236}">
                <a16:creationId xmlns:a16="http://schemas.microsoft.com/office/drawing/2014/main" id="{20D34460-571B-5CAB-B13E-3482ED6A920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2920" y="4985353"/>
            <a:ext cx="4018787" cy="1132332"/>
          </a:xfrm>
          <a:prstGeom prst="rect">
            <a:avLst/>
          </a:prstGeom>
        </p:spPr>
      </p:pic>
      <p:sp>
        <p:nvSpPr>
          <p:cNvPr id="15" name="object 6">
            <a:extLst>
              <a:ext uri="{FF2B5EF4-FFF2-40B4-BE49-F238E27FC236}">
                <a16:creationId xmlns:a16="http://schemas.microsoft.com/office/drawing/2014/main" id="{969CA989-013F-8F99-DDE1-9115CE8F1B8D}"/>
              </a:ext>
            </a:extLst>
          </p:cNvPr>
          <p:cNvSpPr txBox="1"/>
          <p:nvPr/>
        </p:nvSpPr>
        <p:spPr>
          <a:xfrm>
            <a:off x="9668002" y="4526376"/>
            <a:ext cx="84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ba</a:t>
            </a:r>
            <a:r>
              <a:rPr sz="1800" b="1" spc="-15" dirty="0">
                <a:latin typeface="Arial"/>
                <a:cs typeface="Arial"/>
              </a:rPr>
              <a:t>c</a:t>
            </a:r>
            <a:r>
              <a:rPr sz="1800" b="1" spc="-5" dirty="0">
                <a:latin typeface="Arial"/>
                <a:cs typeface="Arial"/>
              </a:rPr>
              <a:t>us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64A98706-3ECC-9D06-F5D0-69086A58084B}"/>
              </a:ext>
            </a:extLst>
          </p:cNvPr>
          <p:cNvSpPr txBox="1"/>
          <p:nvPr/>
        </p:nvSpPr>
        <p:spPr>
          <a:xfrm>
            <a:off x="3160267" y="4251421"/>
            <a:ext cx="1143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Pascal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10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lculator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33146903-4F63-6E59-9C74-9DE10ACE624D}"/>
              </a:ext>
            </a:extLst>
          </p:cNvPr>
          <p:cNvSpPr txBox="1"/>
          <p:nvPr/>
        </p:nvSpPr>
        <p:spPr>
          <a:xfrm>
            <a:off x="7167118" y="6025738"/>
            <a:ext cx="1130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Rule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1578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2735D9B-4CFA-90E1-1F01-BEBB29A79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151" y="753021"/>
            <a:ext cx="9724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Electronic computers</a:t>
            </a:r>
            <a:r>
              <a:rPr b="1" spc="20" dirty="0"/>
              <a:t> </a:t>
            </a:r>
            <a:r>
              <a:rPr b="1" spc="-5" dirty="0"/>
              <a:t>(1937</a:t>
            </a:r>
            <a:r>
              <a:rPr b="1" spc="30" dirty="0"/>
              <a:t> </a:t>
            </a:r>
            <a:r>
              <a:rPr b="1" spc="-5" dirty="0"/>
              <a:t>-</a:t>
            </a:r>
            <a:r>
              <a:rPr b="1" dirty="0"/>
              <a:t> 1953)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2C7A0709-EFF2-385B-28F9-81E42DF0F6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" y="2782989"/>
            <a:ext cx="2525267" cy="1842516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A48B80B2-71D3-3BC0-D765-65D586FED7B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7385" y="2055158"/>
            <a:ext cx="2348615" cy="179463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E6D3DE1A-0577-8C3F-8E26-544F2D5601B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51393" y="2499524"/>
            <a:ext cx="2667000" cy="2125979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C6EBD978-039D-1750-9E32-F1F599AF3DE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2393" y="4968404"/>
            <a:ext cx="2631948" cy="1687067"/>
          </a:xfrm>
          <a:prstGeom prst="rect">
            <a:avLst/>
          </a:prstGeom>
        </p:spPr>
      </p:pic>
      <p:pic>
        <p:nvPicPr>
          <p:cNvPr id="9" name="object 7">
            <a:extLst>
              <a:ext uri="{FF2B5EF4-FFF2-40B4-BE49-F238E27FC236}">
                <a16:creationId xmlns:a16="http://schemas.microsoft.com/office/drawing/2014/main" id="{179B4365-323F-B34F-112B-67D905873CC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39428" y="5032412"/>
            <a:ext cx="2299716" cy="1591056"/>
          </a:xfrm>
          <a:prstGeom prst="rect">
            <a:avLst/>
          </a:prstGeom>
        </p:spPr>
      </p:pic>
      <p:pic>
        <p:nvPicPr>
          <p:cNvPr id="18" name="object 8">
            <a:extLst>
              <a:ext uri="{FF2B5EF4-FFF2-40B4-BE49-F238E27FC236}">
                <a16:creationId xmlns:a16="http://schemas.microsoft.com/office/drawing/2014/main" id="{76E4C33C-BB07-3B82-8D22-804A115F4A9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8188" y="2264829"/>
            <a:ext cx="1696211" cy="1461515"/>
          </a:xfrm>
          <a:prstGeom prst="rect">
            <a:avLst/>
          </a:prstGeom>
        </p:spPr>
      </p:pic>
      <p:pic>
        <p:nvPicPr>
          <p:cNvPr id="19" name="object 9">
            <a:extLst>
              <a:ext uri="{FF2B5EF4-FFF2-40B4-BE49-F238E27FC236}">
                <a16:creationId xmlns:a16="http://schemas.microsoft.com/office/drawing/2014/main" id="{AD2D0427-485A-57DE-4D4A-C91D3FECE978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19245" y="4355757"/>
            <a:ext cx="2150363" cy="1367028"/>
          </a:xfrm>
          <a:prstGeom prst="rect">
            <a:avLst/>
          </a:prstGeom>
        </p:spPr>
      </p:pic>
      <p:pic>
        <p:nvPicPr>
          <p:cNvPr id="20" name="object 10">
            <a:extLst>
              <a:ext uri="{FF2B5EF4-FFF2-40B4-BE49-F238E27FC236}">
                <a16:creationId xmlns:a16="http://schemas.microsoft.com/office/drawing/2014/main" id="{7285EAED-5261-A3C7-F1A8-F2363F8E6C9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51193" y="4444148"/>
            <a:ext cx="1423416" cy="222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47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6EA5-1EEF-4F8D-A202-227127F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5" dirty="0"/>
              <a:t>Evolution</a:t>
            </a:r>
            <a:r>
              <a:rPr lang="en-US" b="1" spc="-25" dirty="0"/>
              <a:t> </a:t>
            </a:r>
            <a:r>
              <a:rPr lang="en-US" b="1" spc="-5" dirty="0"/>
              <a:t>of</a:t>
            </a:r>
            <a:r>
              <a:rPr lang="en-US" b="1" spc="-10" dirty="0"/>
              <a:t> </a:t>
            </a:r>
            <a:r>
              <a:rPr lang="en-US" b="1" spc="-5" dirty="0"/>
              <a:t>Computers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B4767D-A79F-C842-996B-94F54C099619}"/>
              </a:ext>
            </a:extLst>
          </p:cNvPr>
          <p:cNvSpPr txBox="1"/>
          <p:nvPr/>
        </p:nvSpPr>
        <p:spPr>
          <a:xfrm>
            <a:off x="390267" y="1808128"/>
            <a:ext cx="11801733" cy="4501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605"/>
              </a:spcBef>
              <a:buFont typeface="Calibri"/>
              <a:buChar char="▪"/>
              <a:tabLst>
                <a:tab pos="241300" algn="l"/>
                <a:tab pos="6339205" algn="l"/>
              </a:tabLst>
            </a:pPr>
            <a:r>
              <a:rPr lang="en-US" sz="2800" spc="-5" dirty="0">
                <a:latin typeface="Arial MT"/>
                <a:cs typeface="Arial MT"/>
              </a:rPr>
              <a:t>First</a:t>
            </a:r>
            <a:r>
              <a:rPr lang="en-US" sz="2800" dirty="0">
                <a:latin typeface="Arial MT"/>
                <a:cs typeface="Arial MT"/>
              </a:rPr>
              <a:t> Generation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of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Computers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(1942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-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54) :	</a:t>
            </a:r>
            <a:r>
              <a:rPr lang="en-US" sz="2800" spc="-5" dirty="0">
                <a:solidFill>
                  <a:srgbClr val="00AFEF"/>
                </a:solidFill>
                <a:latin typeface="Arial MT"/>
                <a:cs typeface="Arial MT"/>
              </a:rPr>
              <a:t>Vacuum</a:t>
            </a:r>
            <a:r>
              <a:rPr lang="en-US" sz="2800" spc="-1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0AFEF"/>
                </a:solidFill>
                <a:latin typeface="Arial MT"/>
                <a:cs typeface="Arial MT"/>
              </a:rPr>
              <a:t>Tubes</a:t>
            </a:r>
            <a:endParaRPr lang="en-US" sz="2800" dirty="0">
              <a:latin typeface="Arial MT"/>
              <a:cs typeface="Arial MT"/>
            </a:endParaRPr>
          </a:p>
          <a:p>
            <a:pPr marL="240665" marR="576580" indent="-228600">
              <a:lnSpc>
                <a:spcPct val="100000"/>
              </a:lnSpc>
              <a:spcBef>
                <a:spcPts val="1500"/>
              </a:spcBef>
              <a:buFont typeface="Calibri"/>
              <a:buChar char="▪"/>
              <a:tabLst>
                <a:tab pos="241300" algn="l"/>
              </a:tabLst>
            </a:pPr>
            <a:r>
              <a:rPr lang="en-US" sz="2800" spc="-5" dirty="0">
                <a:latin typeface="Arial MT"/>
                <a:cs typeface="Arial MT"/>
              </a:rPr>
              <a:t>Second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Generation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Computers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(1952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- </a:t>
            </a:r>
            <a:r>
              <a:rPr lang="en-US" sz="2800" spc="-5" dirty="0">
                <a:latin typeface="Arial MT"/>
                <a:cs typeface="Arial MT"/>
              </a:rPr>
              <a:t>1964)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: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AFEF"/>
                </a:solidFill>
                <a:latin typeface="Arial MT"/>
                <a:cs typeface="Arial MT"/>
              </a:rPr>
              <a:t>Transistors</a:t>
            </a:r>
            <a:r>
              <a:rPr lang="en-US" sz="2800" dirty="0">
                <a:latin typeface="Arial MT"/>
                <a:cs typeface="Arial MT"/>
              </a:rPr>
              <a:t>,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Magnetic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core, </a:t>
            </a:r>
            <a:r>
              <a:rPr lang="en-US" sz="2800" spc="-65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Fortran</a:t>
            </a:r>
            <a:r>
              <a:rPr lang="en-US" sz="2800" spc="-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,COBOL</a:t>
            </a:r>
          </a:p>
          <a:p>
            <a:pPr marL="241300" indent="-228600">
              <a:lnSpc>
                <a:spcPct val="100000"/>
              </a:lnSpc>
              <a:spcBef>
                <a:spcPts val="1505"/>
              </a:spcBef>
              <a:buFont typeface="Calibri"/>
              <a:buChar char="▪"/>
              <a:tabLst>
                <a:tab pos="241300" algn="l"/>
              </a:tabLst>
            </a:pPr>
            <a:r>
              <a:rPr lang="en-US" sz="2800" spc="-5" dirty="0">
                <a:latin typeface="Arial MT"/>
                <a:cs typeface="Arial MT"/>
              </a:rPr>
              <a:t>Third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Generation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Computers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(1964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-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1972)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: </a:t>
            </a:r>
            <a:r>
              <a:rPr lang="en-US" sz="2800" spc="-5" dirty="0">
                <a:solidFill>
                  <a:srgbClr val="00AFEF"/>
                </a:solidFill>
                <a:latin typeface="Arial MT"/>
                <a:cs typeface="Arial MT"/>
              </a:rPr>
              <a:t>Integrated</a:t>
            </a:r>
            <a:r>
              <a:rPr lang="en-US" sz="2800" spc="1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0AFEF"/>
                </a:solidFill>
                <a:latin typeface="Arial MT"/>
                <a:cs typeface="Arial MT"/>
              </a:rPr>
              <a:t>Circuits,</a:t>
            </a:r>
            <a:r>
              <a:rPr lang="en-US" sz="2800" spc="2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 MT"/>
                <a:cs typeface="Arial MT"/>
              </a:rPr>
              <a:t>Fortran</a:t>
            </a:r>
            <a:r>
              <a:rPr lang="en-US" sz="2800" spc="-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 MT"/>
                <a:cs typeface="Arial MT"/>
              </a:rPr>
              <a:t>II</a:t>
            </a:r>
            <a:r>
              <a:rPr lang="en-US" sz="2800" spc="-2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 MT"/>
                <a:cs typeface="Arial MT"/>
              </a:rPr>
              <a:t>to</a:t>
            </a:r>
            <a:r>
              <a:rPr lang="en-US" sz="2800" spc="1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 MT"/>
                <a:cs typeface="Arial MT"/>
              </a:rPr>
              <a:t>IV</a:t>
            </a:r>
          </a:p>
          <a:p>
            <a:pPr marL="241300" indent="-228600">
              <a:lnSpc>
                <a:spcPct val="100000"/>
              </a:lnSpc>
              <a:spcBef>
                <a:spcPts val="1500"/>
              </a:spcBef>
              <a:buFont typeface="Calibri"/>
              <a:buChar char="▪"/>
              <a:tabLst>
                <a:tab pos="241300" algn="l"/>
              </a:tabLst>
            </a:pPr>
            <a:r>
              <a:rPr lang="en-US" sz="2800" spc="-5" dirty="0">
                <a:latin typeface="Arial MT"/>
                <a:cs typeface="Arial MT"/>
              </a:rPr>
              <a:t>Fourth Generation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Computers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(1972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–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1990)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: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0AFEF"/>
                </a:solidFill>
                <a:latin typeface="Arial MT"/>
                <a:cs typeface="Arial MT"/>
              </a:rPr>
              <a:t>VLSI,</a:t>
            </a:r>
            <a:r>
              <a:rPr lang="en-US" sz="280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C, C++</a:t>
            </a:r>
          </a:p>
          <a:p>
            <a:pPr marL="241300" indent="-228600">
              <a:lnSpc>
                <a:spcPct val="100000"/>
              </a:lnSpc>
              <a:spcBef>
                <a:spcPts val="1500"/>
              </a:spcBef>
              <a:buFont typeface="Calibri"/>
              <a:buChar char="▪"/>
              <a:tabLst>
                <a:tab pos="241300" algn="l"/>
                <a:tab pos="3658235" algn="l"/>
              </a:tabLst>
            </a:pPr>
            <a:r>
              <a:rPr lang="en-US" sz="2800" spc="-5" dirty="0">
                <a:latin typeface="Arial MT"/>
                <a:cs typeface="Arial MT"/>
              </a:rPr>
              <a:t>Fifth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Generation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(1990	- </a:t>
            </a:r>
            <a:r>
              <a:rPr lang="en-US" sz="2800" spc="-5" dirty="0">
                <a:latin typeface="Arial MT"/>
                <a:cs typeface="Arial MT"/>
              </a:rPr>
              <a:t>Present) </a:t>
            </a:r>
            <a:r>
              <a:rPr lang="en-US" sz="2800" dirty="0">
                <a:latin typeface="Arial MT"/>
                <a:cs typeface="Arial MT"/>
              </a:rPr>
              <a:t>: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Artificial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Intelligence+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0AFEF"/>
                </a:solidFill>
                <a:latin typeface="Arial MT"/>
                <a:cs typeface="Arial MT"/>
              </a:rPr>
              <a:t>ULSI</a:t>
            </a:r>
            <a:endParaRPr lang="en-US"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500"/>
              </a:spcBef>
              <a:buFont typeface="Calibri"/>
              <a:buChar char="▪"/>
              <a:tabLst>
                <a:tab pos="241300" algn="l"/>
              </a:tabLst>
            </a:pPr>
            <a:r>
              <a:rPr lang="en-US" sz="2800" spc="-10" dirty="0">
                <a:latin typeface="Arial MT"/>
                <a:cs typeface="Arial MT"/>
              </a:rPr>
              <a:t>Sixth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generation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(Future)</a:t>
            </a:r>
          </a:p>
        </p:txBody>
      </p:sp>
    </p:spTree>
    <p:extLst>
      <p:ext uri="{BB962C8B-B14F-4D97-AF65-F5344CB8AC3E}">
        <p14:creationId xmlns:p14="http://schemas.microsoft.com/office/powerpoint/2010/main" val="95548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9372-10C9-4FE2-AA18-D3757770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CB26-C7B5-4926-8F38-01AA28C00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r>
              <a:rPr lang="en-US" sz="2800" dirty="0">
                <a:latin typeface="Arial MT"/>
                <a:cs typeface="Arial MT"/>
              </a:rPr>
              <a:t>Analog</a:t>
            </a:r>
            <a:r>
              <a:rPr lang="en-US" sz="2800" spc="-7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Computers</a:t>
            </a:r>
          </a:p>
          <a:p>
            <a:pPr marL="241300" indent="-229235">
              <a:lnSpc>
                <a:spcPct val="100000"/>
              </a:lnSpc>
              <a:spcBef>
                <a:spcPts val="1600"/>
              </a:spcBef>
              <a:buFont typeface="Calibri"/>
              <a:buChar char="▪"/>
              <a:tabLst>
                <a:tab pos="240665" algn="l"/>
                <a:tab pos="241935" algn="l"/>
              </a:tabLst>
            </a:pPr>
            <a:r>
              <a:rPr lang="en-US" sz="2800" dirty="0">
                <a:latin typeface="Arial MT"/>
                <a:cs typeface="Arial MT"/>
              </a:rPr>
              <a:t>Digital</a:t>
            </a:r>
            <a:r>
              <a:rPr lang="en-US" sz="2800" spc="-7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Computers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003F3-F17A-4CAC-B7CA-4C498BA84E7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55EDF4B4-DF07-2E80-9674-830A0A8556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0854" y="936926"/>
            <a:ext cx="7521478" cy="592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92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5" dirty="0"/>
              <a:t>Classification</a:t>
            </a:r>
            <a:r>
              <a:rPr lang="en-US" b="1" spc="-10" dirty="0"/>
              <a:t> </a:t>
            </a:r>
            <a:r>
              <a:rPr lang="en-US" b="1" spc="-5" dirty="0"/>
              <a:t>of</a:t>
            </a:r>
            <a:r>
              <a:rPr lang="en-US" b="1" spc="5" dirty="0"/>
              <a:t> </a:t>
            </a:r>
            <a:r>
              <a:rPr lang="en-US" b="1" spc="-5" dirty="0"/>
              <a:t>Computers</a:t>
            </a:r>
            <a:endParaRPr lang="en-US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D1FEE57-827A-773A-6325-8C47F69337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4" y="2075688"/>
            <a:ext cx="9799320" cy="478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93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375575"/>
            <a:ext cx="10168128" cy="1179576"/>
          </a:xfrm>
        </p:spPr>
        <p:txBody>
          <a:bodyPr/>
          <a:lstStyle/>
          <a:p>
            <a:r>
              <a:rPr lang="en-US" b="1" spc="-5" dirty="0"/>
              <a:t>Classification</a:t>
            </a:r>
            <a:r>
              <a:rPr lang="en-US" b="1" spc="-10" dirty="0"/>
              <a:t> </a:t>
            </a:r>
            <a:r>
              <a:rPr lang="en-US" b="1" spc="-5" dirty="0"/>
              <a:t>of</a:t>
            </a:r>
            <a:r>
              <a:rPr lang="en-US" b="1" spc="5" dirty="0"/>
              <a:t> </a:t>
            </a:r>
            <a:r>
              <a:rPr lang="en-US" b="1" spc="-5" dirty="0"/>
              <a:t>Computers</a:t>
            </a:r>
            <a:endParaRPr lang="en-US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CAD7E27-81CD-1C76-B5BF-9A34AE006B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9831" y="1658111"/>
            <a:ext cx="3715512" cy="2010156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39CDE605-5523-1FC2-0185-FE793384AF4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5016" y="4600606"/>
            <a:ext cx="2133600" cy="1457643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EB10693B-DC69-7E2B-CF32-8C37216B2BE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33671" y="4152900"/>
            <a:ext cx="2142744" cy="2142744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02FFF7BD-B21F-18D9-1071-37D411F7BEF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22724" y="1836773"/>
            <a:ext cx="2544592" cy="1738974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CF3C8DC3-D08B-B616-4E15-729E47EC2FA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5248" y="1411224"/>
            <a:ext cx="1716332" cy="2490636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F32AB4AF-82A5-092A-0987-5B08591F0AD3}"/>
              </a:ext>
            </a:extLst>
          </p:cNvPr>
          <p:cNvSpPr txBox="1"/>
          <p:nvPr/>
        </p:nvSpPr>
        <p:spPr>
          <a:xfrm>
            <a:off x="1336928" y="3880484"/>
            <a:ext cx="194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Super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Computers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1D2C6873-C60E-61B1-2446-4F864B92E0A2}"/>
              </a:ext>
            </a:extLst>
          </p:cNvPr>
          <p:cNvSpPr txBox="1"/>
          <p:nvPr/>
        </p:nvSpPr>
        <p:spPr>
          <a:xfrm>
            <a:off x="4355338" y="3832097"/>
            <a:ext cx="243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Mainframe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Computers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107EC029-9527-61B9-F38B-760AF1DA7265}"/>
              </a:ext>
            </a:extLst>
          </p:cNvPr>
          <p:cNvSpPr txBox="1"/>
          <p:nvPr/>
        </p:nvSpPr>
        <p:spPr>
          <a:xfrm>
            <a:off x="9086468" y="3737864"/>
            <a:ext cx="1346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Workstation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8C1067A8-7EFB-36FA-7460-4CDCF6186267}"/>
              </a:ext>
            </a:extLst>
          </p:cNvPr>
          <p:cNvSpPr txBox="1"/>
          <p:nvPr/>
        </p:nvSpPr>
        <p:spPr>
          <a:xfrm>
            <a:off x="2023110" y="6429857"/>
            <a:ext cx="730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10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0" dirty="0">
                <a:latin typeface="Arial"/>
                <a:cs typeface="Arial"/>
              </a:rPr>
              <a:t>v</a:t>
            </a:r>
            <a:r>
              <a:rPr sz="1800" b="1" spc="-10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F552A24B-A433-A6AC-F18C-D989F471C16C}"/>
              </a:ext>
            </a:extLst>
          </p:cNvPr>
          <p:cNvSpPr txBox="1"/>
          <p:nvPr/>
        </p:nvSpPr>
        <p:spPr>
          <a:xfrm>
            <a:off x="4856734" y="6429857"/>
            <a:ext cx="925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spc="-10" dirty="0">
                <a:latin typeface="Arial"/>
                <a:cs typeface="Arial"/>
              </a:rPr>
              <a:t>sk</a:t>
            </a:r>
            <a:r>
              <a:rPr sz="1800" b="1" dirty="0">
                <a:latin typeface="Arial"/>
                <a:cs typeface="Arial"/>
              </a:rPr>
              <a:t>top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E8FD7AE1-FB36-B962-C913-B3E4162373C3}"/>
              </a:ext>
            </a:extLst>
          </p:cNvPr>
          <p:cNvSpPr txBox="1"/>
          <p:nvPr/>
        </p:nvSpPr>
        <p:spPr>
          <a:xfrm>
            <a:off x="7518654" y="6429857"/>
            <a:ext cx="788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Laptop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2590CB53-A944-37C0-6A1B-8204BD050F68}"/>
              </a:ext>
            </a:extLst>
          </p:cNvPr>
          <p:cNvSpPr txBox="1"/>
          <p:nvPr/>
        </p:nvSpPr>
        <p:spPr>
          <a:xfrm>
            <a:off x="9975850" y="6429857"/>
            <a:ext cx="699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Tablet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5">
            <a:extLst>
              <a:ext uri="{FF2B5EF4-FFF2-40B4-BE49-F238E27FC236}">
                <a16:creationId xmlns:a16="http://schemas.microsoft.com/office/drawing/2014/main" id="{A317212B-F1C6-7D56-92A0-9C923B1900D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400" y="4628806"/>
            <a:ext cx="2232659" cy="1521623"/>
          </a:xfrm>
          <a:prstGeom prst="rect">
            <a:avLst/>
          </a:prstGeom>
        </p:spPr>
      </p:pic>
      <p:pic>
        <p:nvPicPr>
          <p:cNvPr id="18" name="object 16">
            <a:extLst>
              <a:ext uri="{FF2B5EF4-FFF2-40B4-BE49-F238E27FC236}">
                <a16:creationId xmlns:a16="http://schemas.microsoft.com/office/drawing/2014/main" id="{575EAE2A-03CA-542E-4220-8DD017022863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600" y="4209288"/>
            <a:ext cx="2942844" cy="222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94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Types of Computers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A00AD-BA03-72FD-32F4-538FF93F0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54" y="1728216"/>
            <a:ext cx="11689491" cy="4993259"/>
          </a:xfrm>
        </p:spPr>
        <p:txBody>
          <a:bodyPr>
            <a:normAutofit lnSpcReduction="10000"/>
          </a:bodyPr>
          <a:lstStyle/>
          <a:p>
            <a:pPr marL="583565" indent="-571500">
              <a:lnSpc>
                <a:spcPct val="100000"/>
              </a:lnSpc>
              <a:spcBef>
                <a:spcPts val="105"/>
              </a:spcBef>
              <a:tabLst>
                <a:tab pos="240665" algn="l"/>
                <a:tab pos="241935" algn="l"/>
              </a:tabLst>
            </a:pPr>
            <a:r>
              <a:rPr lang="en-US" sz="3600" b="1" baseline="-25000" dirty="0">
                <a:cs typeface="Arial"/>
              </a:rPr>
              <a:t>Smartphones: </a:t>
            </a:r>
            <a:r>
              <a:rPr lang="en-US" sz="3600" baseline="-25000" dirty="0">
                <a:cs typeface="Arial"/>
              </a:rPr>
              <a:t>Many cell phones can do a lot of things computers can do, including  browsing the Internet and playing games. They are often called smartphones.</a:t>
            </a:r>
          </a:p>
          <a:p>
            <a:pPr marL="12065" indent="0">
              <a:lnSpc>
                <a:spcPct val="100000"/>
              </a:lnSpc>
              <a:spcBef>
                <a:spcPts val="105"/>
              </a:spcBef>
              <a:buNone/>
              <a:tabLst>
                <a:tab pos="240665" algn="l"/>
                <a:tab pos="241935" algn="l"/>
              </a:tabLst>
            </a:pPr>
            <a:endParaRPr lang="en-US" sz="3600" baseline="-25000" dirty="0">
              <a:cs typeface="Arial"/>
            </a:endParaRPr>
          </a:p>
          <a:p>
            <a:pPr marL="583565" indent="-571500">
              <a:lnSpc>
                <a:spcPct val="100000"/>
              </a:lnSpc>
              <a:spcBef>
                <a:spcPts val="105"/>
              </a:spcBef>
              <a:tabLst>
                <a:tab pos="240665" algn="l"/>
                <a:tab pos="241935" algn="l"/>
              </a:tabLst>
            </a:pPr>
            <a:r>
              <a:rPr lang="en-US" sz="3600" b="1" baseline="-25000" dirty="0">
                <a:cs typeface="Arial"/>
              </a:rPr>
              <a:t>Wearables: </a:t>
            </a:r>
            <a:r>
              <a:rPr lang="en-US" sz="3600" baseline="-25000" dirty="0">
                <a:cs typeface="Arial"/>
              </a:rPr>
              <a:t>Wearable technology is a general term for a group of devices—  including fitness trackers and smartwatches—that are designed to be worn  throughout the day. These devices are often called wearables for short.</a:t>
            </a:r>
          </a:p>
          <a:p>
            <a:pPr marL="12065" indent="0">
              <a:lnSpc>
                <a:spcPct val="100000"/>
              </a:lnSpc>
              <a:spcBef>
                <a:spcPts val="105"/>
              </a:spcBef>
              <a:buNone/>
              <a:tabLst>
                <a:tab pos="240665" algn="l"/>
                <a:tab pos="241935" algn="l"/>
              </a:tabLst>
            </a:pPr>
            <a:endParaRPr lang="en-US" sz="3600" baseline="-25000" dirty="0">
              <a:cs typeface="Arial"/>
            </a:endParaRPr>
          </a:p>
          <a:p>
            <a:pPr marL="583565" indent="-571500">
              <a:lnSpc>
                <a:spcPct val="100000"/>
              </a:lnSpc>
              <a:spcBef>
                <a:spcPts val="105"/>
              </a:spcBef>
              <a:tabLst>
                <a:tab pos="240665" algn="l"/>
                <a:tab pos="241935" algn="l"/>
              </a:tabLst>
            </a:pPr>
            <a:r>
              <a:rPr lang="en-US" sz="3600" b="1" baseline="-25000" dirty="0">
                <a:cs typeface="Arial"/>
              </a:rPr>
              <a:t>Game consoles: </a:t>
            </a:r>
            <a:r>
              <a:rPr lang="en-US" sz="3600" baseline="-25000" dirty="0">
                <a:cs typeface="Arial"/>
              </a:rPr>
              <a:t>A game console is a specialized type of computer that is used for playing video games on your TV.</a:t>
            </a:r>
          </a:p>
          <a:p>
            <a:pPr marL="12065" indent="0">
              <a:lnSpc>
                <a:spcPct val="100000"/>
              </a:lnSpc>
              <a:spcBef>
                <a:spcPts val="105"/>
              </a:spcBef>
              <a:buNone/>
              <a:tabLst>
                <a:tab pos="240665" algn="l"/>
                <a:tab pos="241935" algn="l"/>
              </a:tabLst>
            </a:pPr>
            <a:endParaRPr lang="en-US" sz="3600" baseline="-25000" dirty="0">
              <a:cs typeface="Arial"/>
            </a:endParaRPr>
          </a:p>
          <a:p>
            <a:pPr marL="583565" indent="-571500">
              <a:lnSpc>
                <a:spcPct val="100000"/>
              </a:lnSpc>
              <a:spcBef>
                <a:spcPts val="105"/>
              </a:spcBef>
              <a:tabLst>
                <a:tab pos="240665" algn="l"/>
                <a:tab pos="241935" algn="l"/>
              </a:tabLst>
            </a:pPr>
            <a:r>
              <a:rPr lang="en-US" sz="3600" b="1" baseline="-25000" dirty="0">
                <a:cs typeface="Arial"/>
              </a:rPr>
              <a:t>TVs</a:t>
            </a:r>
            <a:r>
              <a:rPr lang="en-US" sz="3600" baseline="-25000" dirty="0">
                <a:cs typeface="Arial"/>
              </a:rPr>
              <a:t>: Many TVs now include applications—or apps—that let you access various types  of online content. For example, you can stream video from the Internet directly onto your  TV.</a:t>
            </a:r>
          </a:p>
        </p:txBody>
      </p:sp>
    </p:spTree>
    <p:extLst>
      <p:ext uri="{BB962C8B-B14F-4D97-AF65-F5344CB8AC3E}">
        <p14:creationId xmlns:p14="http://schemas.microsoft.com/office/powerpoint/2010/main" val="376736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F8CD5C1-6D98-A887-F957-7940FCFE7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9114" y="826029"/>
            <a:ext cx="7023391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spc="-5" dirty="0"/>
              <a:t>Modern</a:t>
            </a:r>
            <a:r>
              <a:rPr lang="en-US" b="1" spc="-40" dirty="0"/>
              <a:t> </a:t>
            </a:r>
            <a:r>
              <a:rPr lang="en-US" b="1" spc="-5" dirty="0"/>
              <a:t>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4FA76-849B-A8BA-BB32-F3ED3A9E86D6}"/>
              </a:ext>
            </a:extLst>
          </p:cNvPr>
          <p:cNvSpPr txBox="1"/>
          <p:nvPr/>
        </p:nvSpPr>
        <p:spPr>
          <a:xfrm>
            <a:off x="424249" y="2188552"/>
            <a:ext cx="1134350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spcBef>
                <a:spcPts val="400"/>
              </a:spcBef>
              <a:tabLst>
                <a:tab pos="241935" algn="l"/>
              </a:tabLst>
            </a:pPr>
            <a:r>
              <a:rPr lang="en-US" sz="2800" spc="-5" dirty="0">
                <a:latin typeface="Arial MT"/>
                <a:cs typeface="Arial MT"/>
              </a:rPr>
              <a:t>Computers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have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been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used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over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years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in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following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areas:</a:t>
            </a:r>
            <a:endParaRPr lang="en-US" sz="2800" dirty="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3435" algn="l"/>
              </a:tabLst>
            </a:pPr>
            <a:r>
              <a:rPr lang="en-US" sz="2800" spc="-5" dirty="0">
                <a:latin typeface="Arial MT"/>
                <a:cs typeface="Arial MT"/>
              </a:rPr>
              <a:t>Business</a:t>
            </a:r>
            <a:endParaRPr lang="en-US" sz="2800" dirty="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3435" algn="l"/>
              </a:tabLst>
            </a:pPr>
            <a:r>
              <a:rPr lang="en-US" sz="2800" dirty="0">
                <a:latin typeface="Arial MT"/>
                <a:cs typeface="Arial MT"/>
              </a:rPr>
              <a:t>Education</a:t>
            </a:r>
          </a:p>
          <a:p>
            <a:pPr marL="812800" lvl="1" indent="-343535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3435" algn="l"/>
              </a:tabLst>
            </a:pPr>
            <a:r>
              <a:rPr lang="en-US" sz="2800" spc="-5" dirty="0">
                <a:latin typeface="Arial MT"/>
                <a:cs typeface="Arial MT"/>
              </a:rPr>
              <a:t>Entertainment</a:t>
            </a:r>
            <a:endParaRPr lang="en-US" sz="2800" dirty="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3435" algn="l"/>
              </a:tabLst>
            </a:pPr>
            <a:r>
              <a:rPr lang="en-US" sz="2800" spc="-5" dirty="0">
                <a:latin typeface="Arial MT"/>
                <a:cs typeface="Arial MT"/>
              </a:rPr>
              <a:t>Banks</a:t>
            </a:r>
            <a:endParaRPr lang="en-US" sz="2800" dirty="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305"/>
              </a:spcBef>
              <a:buFont typeface="Calibri"/>
              <a:buChar char="▪"/>
              <a:tabLst>
                <a:tab pos="812165" algn="l"/>
                <a:tab pos="813435" algn="l"/>
              </a:tabLst>
            </a:pPr>
            <a:r>
              <a:rPr lang="en-US" sz="2800" spc="-5" dirty="0">
                <a:latin typeface="Arial MT"/>
                <a:cs typeface="Arial MT"/>
              </a:rPr>
              <a:t>Hospitals</a:t>
            </a:r>
            <a:endParaRPr lang="en-US" sz="2800" dirty="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3435" algn="l"/>
              </a:tabLst>
            </a:pPr>
            <a:r>
              <a:rPr lang="en-US" sz="2800" spc="-5" dirty="0">
                <a:latin typeface="Arial MT"/>
                <a:cs typeface="Arial MT"/>
              </a:rPr>
              <a:t>Information</a:t>
            </a:r>
            <a:endParaRPr lang="en-US" sz="2800" dirty="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3435" algn="l"/>
              </a:tabLst>
            </a:pPr>
            <a:r>
              <a:rPr lang="en-US" sz="2800" spc="-5" dirty="0">
                <a:latin typeface="Arial MT"/>
                <a:cs typeface="Arial MT"/>
              </a:rPr>
              <a:t>Communication</a:t>
            </a:r>
            <a:endParaRPr lang="en-US" sz="2800" dirty="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3435" algn="l"/>
              </a:tabLst>
            </a:pPr>
            <a:r>
              <a:rPr lang="en-US" sz="2800" spc="-5" dirty="0" err="1">
                <a:latin typeface="Arial MT"/>
                <a:cs typeface="Arial MT"/>
              </a:rPr>
              <a:t>Etc</a:t>
            </a:r>
            <a:r>
              <a:rPr lang="en-US" sz="2800" spc="-5" dirty="0">
                <a:latin typeface="Arial MT"/>
                <a:cs typeface="Arial MT"/>
              </a:rPr>
              <a:t>….</a:t>
            </a:r>
            <a:endParaRPr lang="en-US"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31011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F8CD5C1-6D98-A887-F957-7940FCFE7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9114" y="826029"/>
            <a:ext cx="7023391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spc="-5" dirty="0"/>
              <a:t>Modern</a:t>
            </a:r>
            <a:r>
              <a:rPr lang="en-US" b="1" spc="-40" dirty="0"/>
              <a:t> </a:t>
            </a:r>
            <a:r>
              <a:rPr lang="en-US" b="1" spc="-5" dirty="0"/>
              <a:t>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4FA76-849B-A8BA-BB32-F3ED3A9E86D6}"/>
              </a:ext>
            </a:extLst>
          </p:cNvPr>
          <p:cNvSpPr txBox="1"/>
          <p:nvPr/>
        </p:nvSpPr>
        <p:spPr>
          <a:xfrm>
            <a:off x="424249" y="2188552"/>
            <a:ext cx="11343502" cy="293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lang="en-US" sz="2800" spc="-5" dirty="0">
                <a:latin typeface="Arial MT"/>
                <a:cs typeface="Arial MT"/>
              </a:rPr>
              <a:t>In almost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every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second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of our </a:t>
            </a:r>
            <a:r>
              <a:rPr lang="en-US" sz="2800" dirty="0">
                <a:latin typeface="Arial MT"/>
                <a:cs typeface="Arial MT"/>
              </a:rPr>
              <a:t>lives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we </a:t>
            </a:r>
            <a:r>
              <a:rPr lang="en-US" sz="2800" dirty="0">
                <a:latin typeface="Arial MT"/>
                <a:cs typeface="Arial MT"/>
              </a:rPr>
              <a:t>are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interacting</a:t>
            </a:r>
            <a:r>
              <a:rPr lang="en-US" sz="2800" spc="-5" dirty="0">
                <a:latin typeface="Arial MT"/>
                <a:cs typeface="Arial MT"/>
              </a:rPr>
              <a:t> with </a:t>
            </a:r>
            <a:r>
              <a:rPr lang="en-US" sz="2800" spc="-76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computers </a:t>
            </a:r>
            <a:r>
              <a:rPr lang="en-US" sz="2800" spc="-5" dirty="0">
                <a:latin typeface="Arial MT"/>
                <a:cs typeface="Arial MT"/>
              </a:rPr>
              <a:t>:</a:t>
            </a:r>
            <a:endParaRPr lang="en-US" sz="2800" dirty="0">
              <a:latin typeface="Arial MT"/>
              <a:cs typeface="Arial MT"/>
            </a:endParaRPr>
          </a:p>
          <a:p>
            <a:pPr marL="812800" indent="-457200">
              <a:lnSpc>
                <a:spcPct val="100000"/>
              </a:lnSpc>
              <a:spcBef>
                <a:spcPts val="470"/>
              </a:spcBef>
              <a:buFont typeface="Calibri"/>
              <a:buChar char="▪"/>
              <a:tabLst>
                <a:tab pos="812165" algn="l"/>
                <a:tab pos="812800" algn="l"/>
              </a:tabLst>
            </a:pPr>
            <a:r>
              <a:rPr lang="en-US" sz="2800" spc="-5" dirty="0">
                <a:latin typeface="Arial MT"/>
                <a:cs typeface="Arial MT"/>
              </a:rPr>
              <a:t>Amazon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Alexa</a:t>
            </a:r>
            <a:endParaRPr lang="en-US" sz="2800" dirty="0">
              <a:latin typeface="Arial MT"/>
              <a:cs typeface="Arial MT"/>
            </a:endParaRPr>
          </a:p>
          <a:p>
            <a:pPr marL="812800" indent="-457200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2800" algn="l"/>
              </a:tabLst>
            </a:pPr>
            <a:r>
              <a:rPr lang="en-US" sz="2800" spc="-5" dirty="0">
                <a:latin typeface="Arial MT"/>
                <a:cs typeface="Arial MT"/>
              </a:rPr>
              <a:t>Humanoid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Robots(Sophia)</a:t>
            </a:r>
            <a:endParaRPr lang="en-US" sz="2800" dirty="0">
              <a:latin typeface="Arial MT"/>
              <a:cs typeface="Arial MT"/>
            </a:endParaRPr>
          </a:p>
          <a:p>
            <a:pPr marL="812800" indent="-457200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2800" algn="l"/>
              </a:tabLst>
            </a:pPr>
            <a:r>
              <a:rPr lang="en-US" sz="2800" spc="-5" dirty="0">
                <a:latin typeface="Arial MT"/>
                <a:cs typeface="Arial MT"/>
              </a:rPr>
              <a:t>Augmented R</a:t>
            </a:r>
            <a:r>
              <a:rPr lang="en-US" sz="2800" dirty="0">
                <a:latin typeface="Arial MT"/>
                <a:cs typeface="Arial MT"/>
              </a:rPr>
              <a:t>eality</a:t>
            </a:r>
          </a:p>
          <a:p>
            <a:pPr marL="812800" indent="-457200">
              <a:lnSpc>
                <a:spcPct val="100000"/>
              </a:lnSpc>
              <a:spcBef>
                <a:spcPts val="305"/>
              </a:spcBef>
              <a:buFont typeface="Calibri"/>
              <a:buChar char="▪"/>
              <a:tabLst>
                <a:tab pos="812165" algn="l"/>
                <a:tab pos="812800" algn="l"/>
              </a:tabLst>
            </a:pPr>
            <a:r>
              <a:rPr lang="en-US" sz="2800" spc="-5" dirty="0">
                <a:latin typeface="Arial MT"/>
                <a:cs typeface="Arial MT"/>
              </a:rPr>
              <a:t>Driver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less cars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+ Navigations</a:t>
            </a:r>
            <a:endParaRPr lang="en-US" sz="2800" dirty="0">
              <a:latin typeface="Arial MT"/>
              <a:cs typeface="Arial MT"/>
            </a:endParaRPr>
          </a:p>
          <a:p>
            <a:pPr marL="812800" indent="-457200">
              <a:lnSpc>
                <a:spcPct val="100000"/>
              </a:lnSpc>
              <a:spcBef>
                <a:spcPts val="300"/>
              </a:spcBef>
              <a:buFont typeface="Calibri"/>
              <a:buChar char="▪"/>
              <a:tabLst>
                <a:tab pos="812165" algn="l"/>
                <a:tab pos="812800" algn="l"/>
              </a:tabLst>
            </a:pPr>
            <a:r>
              <a:rPr lang="en-US" sz="2800" spc="-5" dirty="0">
                <a:latin typeface="Arial MT"/>
                <a:cs typeface="Arial MT"/>
              </a:rPr>
              <a:t>Wars</a:t>
            </a:r>
            <a:r>
              <a:rPr lang="en-US" sz="2800" spc="-3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(Drone)</a:t>
            </a:r>
            <a:endParaRPr lang="en-US"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17815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presentation</Template>
  <TotalTime>411</TotalTime>
  <Words>883</Words>
  <Application>Microsoft Office PowerPoint</Application>
  <PresentationFormat>Widescreen</PresentationFormat>
  <Paragraphs>154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MT</vt:lpstr>
      <vt:lpstr>Avenir Next LT Pro</vt:lpstr>
      <vt:lpstr>Calibri</vt:lpstr>
      <vt:lpstr>Segoe UI</vt:lpstr>
      <vt:lpstr>Times New Roman</vt:lpstr>
      <vt:lpstr>AccentBoxVTI</vt:lpstr>
      <vt:lpstr>Introduction To Information  And Communication Technologies</vt:lpstr>
      <vt:lpstr>About Course</vt:lpstr>
      <vt:lpstr>About Instructor</vt:lpstr>
      <vt:lpstr>Class Rules</vt:lpstr>
      <vt:lpstr>Assessments &amp; Grading</vt:lpstr>
      <vt:lpstr>What is Computer?</vt:lpstr>
      <vt:lpstr>Basic Definition:</vt:lpstr>
      <vt:lpstr>But….</vt:lpstr>
      <vt:lpstr>Someone who communicates /interacts with a computer. </vt:lpstr>
      <vt:lpstr>DATA &amp; INFORMATION</vt:lpstr>
      <vt:lpstr>Data &amp; Information (Cont..)</vt:lpstr>
      <vt:lpstr>Software</vt:lpstr>
      <vt:lpstr>COTS vs Custom built software</vt:lpstr>
      <vt:lpstr>COTS vs Custom built software</vt:lpstr>
      <vt:lpstr>Information Technology</vt:lpstr>
      <vt:lpstr>Mechanical Computers (1600 – 1900)</vt:lpstr>
      <vt:lpstr>Electronic computers (1937 - 1953)</vt:lpstr>
      <vt:lpstr>Evolution of Computers</vt:lpstr>
      <vt:lpstr>Types of Computers</vt:lpstr>
      <vt:lpstr>Classification of Computers</vt:lpstr>
      <vt:lpstr>Classification of Computers</vt:lpstr>
      <vt:lpstr>Other Types of Computers</vt:lpstr>
      <vt:lpstr>Modern Applications</vt:lpstr>
      <vt:lpstr>Modern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Information  And Communication Technologies</dc:title>
  <dc:creator>Qurratulain Shabbir</dc:creator>
  <cp:lastModifiedBy>Muhammad Moiz Ansari</cp:lastModifiedBy>
  <cp:revision>5</cp:revision>
  <dcterms:created xsi:type="dcterms:W3CDTF">2023-08-22T20:08:21Z</dcterms:created>
  <dcterms:modified xsi:type="dcterms:W3CDTF">2023-12-28T07:18:08Z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